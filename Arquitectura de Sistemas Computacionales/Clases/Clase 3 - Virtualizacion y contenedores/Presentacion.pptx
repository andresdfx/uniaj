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Contenerizar un stub del servicio principal de CloudLite</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Razonar el ciclo build → run → verify: qué imprime cada comando y por qué.</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ciclo justificado.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Comprobar en un lab: recomendado, no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se entrega hoy es el </a:t>
            </a:r>
            <a:r>
              <a:rPr sz="2000" b="1" i="0">
                <a:solidFill>
                  <a:srgbClr val="333333"/>
                </a:solidFill>
                <a:latin typeface="Calibri"/>
              </a:rPr>
              <a:t>Dockerfile</a:t>
            </a:r>
            <a:r>
              <a:rPr sz="2000" b="0" i="0">
                <a:solidFill>
                  <a:srgbClr val="333333"/>
                </a:solidFill>
                <a:latin typeface="Calibri"/>
              </a:rPr>
              <a:t> y el </a:t>
            </a:r>
            <a:r>
              <a:rPr sz="2000" b="1" i="0">
                <a:solidFill>
                  <a:srgbClr val="333333"/>
                </a:solidFill>
                <a:latin typeface="Calibri"/>
              </a:rPr>
              <a:t>ciclo justificado</a:t>
            </a:r>
            <a:r>
              <a:rPr sz="2000" b="0" i="0">
                <a:solidFill>
                  <a:srgbClr val="333333"/>
                </a:solidFill>
                <a:latin typeface="Calibri"/>
              </a:rPr>
              <a:t>: se escribe y se razona, no hace falta ejecutarlo para entregar.</a:t>
            </a:r>
          </a:p>
          <a:p>
            <a:pPr>
              <a:spcAft>
                <a:spcPts val="800"/>
              </a:spcAft>
            </a:pPr>
            <a:r>
              <a:rPr sz="2000" b="0" i="0">
                <a:solidFill>
                  <a:srgbClr val="333333"/>
                </a:solidFill>
                <a:latin typeface="Calibri"/>
              </a:rPr>
              <a:t>–   Si quieres comprobarlo —y vale la pena— hay laboratorios de contenedores gratuitos en el navegador, sin instalar nada y sin tarjeta.</a:t>
            </a:r>
          </a:p>
          <a:p>
            <a:pPr>
              <a:spcAft>
                <a:spcPts val="800"/>
              </a:spcAft>
            </a:pPr>
            <a:r>
              <a:rPr sz="2000" b="0" i="0">
                <a:solidFill>
                  <a:srgbClr val="333333"/>
                </a:solidFill>
                <a:latin typeface="Calibri"/>
              </a:rPr>
              <a:t>–   </a:t>
            </a:r>
            <a:r>
              <a:rPr sz="2000" b="1" i="0">
                <a:solidFill>
                  <a:srgbClr val="333333"/>
                </a:solidFill>
                <a:latin typeface="Calibri"/>
              </a:rPr>
              <a:t>Ojo con hacerlos obligatorios:</a:t>
            </a:r>
            <a:r>
              <a:rPr sz="2000" b="0" i="0">
                <a:solidFill>
                  <a:srgbClr val="333333"/>
                </a:solidFill>
                <a:latin typeface="Calibri"/>
              </a:rPr>
              <a:t> la sesión caduca en torno a la hora y el plan gratuito limita cuántas abres al día. Por eso tu nota no depende de que carguen.</a:t>
            </a:r>
          </a:p>
          <a:p>
            <a:pPr>
              <a:spcAft>
                <a:spcPts val="800"/>
              </a:spcAft>
            </a:pP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lo que se cierra con la sesión no es tu entregable.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El entregable es un Dockerfile con su ciclo de construccion razonado: se escribe y se justifica, sin depender de ejecutarlo en ningun laboratorio externo para poder entregar.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que hay que decir mientras esta proyectado, porque vale cinco puntos de la actividad: copia TODO lo que haya en la carpeta, incluido el archivo.env con las credenciales</a:t>
            </a:r>
          </a:p>
          <a:p>
            <a:pPr>
              <a:spcAft>
                <a:spcPts val="800"/>
              </a:spcAft>
            </a:pPr>
            <a:r>
              <a:rPr sz="2000" b="0" i="0">
                <a:solidFill>
                  <a:srgbClr val="333333"/>
                </a:solidFill>
                <a:latin typeface="Calibri"/>
              </a:rPr>
              <a:t>–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el Dockerfile escrito faltan tres comandos, y los tres se califican por separado, asi que hay que dictarlos con la precision con la que se van a corregir.</a:t>
            </a:r>
          </a:p>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a:t>
            </a:r>
          </a:p>
          <a:p>
            <a:pPr>
              <a:spcAft>
                <a:spcPts val="800"/>
              </a:spcAft>
            </a:pPr>
            <a:r>
              <a:rPr sz="2000" b="0" i="0">
                <a:solidFill>
                  <a:srgbClr val="333333"/>
                </a:solidFill>
                <a:latin typeface="Calibri"/>
              </a:rPr>
              <a:t>–   Y leerlas es parte del entregable: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grupo que solo copio comandos consigue la captura del entregable, pero en la Clase 8, cuando el pipeline de integracion continua deba construir una imagen automaticamente, no sabra que esta construyendo ni por que su build tarda cinco minutos</a:t>
            </a:r>
          </a:p>
          <a:p>
            <a:pPr>
              <a:spcAft>
                <a:spcPts val="800"/>
              </a:spcAft>
            </a:pPr>
            <a:r>
              <a:rPr sz="2000" b="0" i="0">
                <a:solidFill>
                  <a:srgbClr val="333333"/>
                </a:solidFill>
                <a:latin typeface="Calibri"/>
              </a:rPr>
              <a:t>–   Y en la sustentacion de la Clase 15 describira su arquitectura diciendo que lo metieron en Docker, que no es una decision arquitectonica sino una herramienta sin justificar.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Dockerfile minimo, capa por capa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instruccion es UNA CAPA. El orden decide que se reconstruye.</a:t>
            </a:r>
          </a:p>
          <a:p>
            <a:pPr>
              <a:spcAft>
                <a:spcPts val="400"/>
              </a:spcAft>
            </a:pPr>
            <a:r>
              <a:rPr sz="1400" b="0" i="0">
                <a:solidFill>
                  <a:srgbClr val="FFFFFF"/>
                </a:solidFill>
                <a:latin typeface="Calibri"/>
              </a:rPr>
              <a:t>FROM node:20-alpine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Primero las dependencias: si el codigo cambia y package.json no,</a:t>
            </a:r>
          </a:p>
          <a:p>
            <a:pPr>
              <a:spcAft>
                <a:spcPts val="400"/>
              </a:spcAft>
            </a:pPr>
            <a:r>
              <a:rPr sz="1400" b="0" i="0">
                <a:solidFill>
                  <a:srgbClr val="FFFFFF"/>
                </a:solidFill>
                <a:latin typeface="Calibri"/>
              </a:rPr>
              <a:t># esta capa se reutiliza de la cache y el build tarda segundos.</a:t>
            </a:r>
          </a:p>
          <a:p>
            <a:pPr>
              <a:spcAft>
                <a:spcPts val="400"/>
              </a:spcAft>
            </a:pPr>
            <a:r>
              <a:rPr sz="1400" b="0" i="0">
                <a:solidFill>
                  <a:srgbClr val="FFFFFF"/>
                </a:solidFill>
                <a:latin typeface="Calibri"/>
              </a:rPr>
              <a:t>COPY package*.json ./</a:t>
            </a:r>
          </a:p>
          <a:p>
            <a:pPr>
              <a:spcAft>
                <a:spcPts val="400"/>
              </a:spcAft>
            </a:pPr>
            <a:r>
              <a:rPr sz="1400" b="0" i="0">
                <a:solidFill>
                  <a:srgbClr val="FFFFFF"/>
                </a:solidFill>
                <a:latin typeface="Calibri"/>
              </a:rPr>
              <a:t>RUN npm ci --omit=dev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Despues el codigo, que es lo que cambia en cada commit.</a:t>
            </a:r>
          </a:p>
          <a:p>
            <a:pPr>
              <a:spcAft>
                <a:spcPts val="400"/>
              </a:spcAft>
            </a:pPr>
            <a:r>
              <a:rPr sz="1400" b="0" i="0">
                <a:solidFill>
                  <a:srgbClr val="FFFFFF"/>
                </a:solidFill>
                <a:latin typeface="Calibri"/>
              </a:rPr>
              <a:t>COPY..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EXPOSE 3000</a:t>
            </a:r>
          </a:p>
          <a:p>
            <a:pPr>
              <a:spcAft>
                <a:spcPts val="400"/>
              </a:spcAft>
            </a:pPr>
            <a:r>
              <a:rPr sz="1400" b="0" i="0">
                <a:solidFill>
                  <a:srgbClr val="FFFFFF"/>
                </a:solidFill>
                <a:latin typeface="Calibri"/>
              </a:rPr>
              <a:t>CMD ["node", "server.js"]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ciclo completo: construir, ejecutar, verificar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1. construir la imagen y etiquetarla con version</a:t>
            </a:r>
          </a:p>
          <a:p>
            <a:pPr>
              <a:spcAft>
                <a:spcPts val="400"/>
              </a:spcAft>
            </a:pPr>
            <a:r>
              <a:rPr sz="1400" b="0" i="0">
                <a:solidFill>
                  <a:srgbClr val="FFFFFF"/>
                </a:solidFill>
                <a:latin typeface="Calibri"/>
              </a:rPr>
              <a:t>$ docker build -t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ejecutarla publicando el puerto (host:contenedor)</a:t>
            </a:r>
          </a:p>
          <a:p>
            <a:pPr>
              <a:spcAft>
                <a:spcPts val="400"/>
              </a:spcAft>
            </a:pPr>
            <a:r>
              <a:rPr sz="1400" b="0" i="0">
                <a:solidFill>
                  <a:srgbClr val="FFFFFF"/>
                </a:solidFill>
                <a:latin typeface="Calibri"/>
              </a:rPr>
              <a:t>$ docker run -d --name cloudlite -p 8080:3000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3. verificar que responde DE VERDAD, no que el contenedor existe</a:t>
            </a:r>
          </a:p>
          <a:p>
            <a:pPr>
              <a:spcAft>
                <a:spcPts val="400"/>
              </a:spcAft>
            </a:pPr>
            <a:r>
              <a:rPr sz="1400" b="0" i="0">
                <a:solidFill>
                  <a:srgbClr val="FFFFFF"/>
                </a:solidFill>
                <a:latin typeface="Calibri"/>
              </a:rPr>
              <a:t>$ curl -i http://localhost:8080/health</a:t>
            </a:r>
          </a:p>
          <a:p>
            <a:pPr>
              <a:spcAft>
                <a:spcPts val="400"/>
              </a:spcAft>
            </a:pPr>
            <a:r>
              <a:rPr sz="1400" b="0" i="0">
                <a:solidFill>
                  <a:srgbClr val="FFFFFF"/>
                </a:solidFill>
                <a:latin typeface="Calibri"/>
              </a:rPr>
              <a:t>HTTP/1.1 200 OK</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4. si no responde, el log es el primer sitio, no el ultimo</a:t>
            </a:r>
          </a:p>
          <a:p>
            <a:pPr>
              <a:spcAft>
                <a:spcPts val="400"/>
              </a:spcAft>
            </a:pPr>
            <a:r>
              <a:rPr sz="1400" b="0" i="0">
                <a:solidFill>
                  <a:srgbClr val="FFFFFF"/>
                </a:solidFill>
                <a:latin typeface="Calibri"/>
              </a:rPr>
              <a:t>$ docker logs cloudlite --tail 20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Imagen, contenedor y capas: los comandos que lo demuestran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IMAGEN es la plantilla; el CONTENEDOR es una instancia en ejecucion.</a:t>
            </a:r>
          </a:p>
          <a:p>
            <a:pPr>
              <a:spcAft>
                <a:spcPts val="400"/>
              </a:spcAft>
            </a:pPr>
            <a:r>
              <a:rPr sz="1400" b="0" i="0">
                <a:solidFill>
                  <a:srgbClr val="FFFFFF"/>
                </a:solidFill>
                <a:latin typeface="Calibri"/>
              </a:rPr>
              <a:t>$ docker images cloudlite-api</a:t>
            </a:r>
          </a:p>
          <a:p>
            <a:pPr>
              <a:spcAft>
                <a:spcPts val="400"/>
              </a:spcAft>
            </a:pPr>
            <a:r>
              <a:rPr sz="1400" b="0" i="0">
                <a:solidFill>
                  <a:srgbClr val="FFFFFF"/>
                </a:solidFill>
                <a:latin typeface="Calibri"/>
              </a:rPr>
              <a:t>REPOSITORY      TAG     IMAGE ID       SIZE</a:t>
            </a:r>
          </a:p>
          <a:p>
            <a:pPr>
              <a:spcAft>
                <a:spcPts val="400"/>
              </a:spcAft>
            </a:pPr>
            <a:r>
              <a:rPr sz="1400" b="0" i="0">
                <a:solidFill>
                  <a:srgbClr val="FFFFFF"/>
                </a:solidFill>
                <a:latin typeface="Calibri"/>
              </a:rPr>
              <a:t>cloudlite-api   0.1.0   a1b2c3d4e5f6   142MB</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 ps</a:t>
            </a:r>
          </a:p>
          <a:p>
            <a:pPr>
              <a:spcAft>
                <a:spcPts val="400"/>
              </a:spcAft>
            </a:pPr>
            <a:r>
              <a:rPr sz="1400" b="0" i="0">
                <a:solidFill>
                  <a:srgbClr val="FFFFFF"/>
                </a:solidFill>
                <a:latin typeface="Calibri"/>
              </a:rPr>
              <a:t>CONTAINER ID   IMAGE                 STATUS         PORTS</a:t>
            </a:r>
          </a:p>
          <a:p>
            <a:pPr>
              <a:spcAft>
                <a:spcPts val="400"/>
              </a:spcAft>
            </a:pPr>
            <a:r>
              <a:rPr sz="1400" b="0" i="0">
                <a:solidFill>
                  <a:srgbClr val="FFFFFF"/>
                </a:solidFill>
                <a:latin typeface="Calibri"/>
              </a:rPr>
              <a:t>9f8e7d6c5b4a   cloudlite-api:0.1.0   Up 2 minutes   0.0.0.0:8080-&gt;3000/tcp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 una imagen salen N contenedores: eso es lo que hace escalar barato.</a:t>
            </a:r>
          </a:p>
          <a:p>
            <a:pPr>
              <a:spcAft>
                <a:spcPts val="400"/>
              </a:spcAft>
            </a:pPr>
            <a:r>
              <a:rPr sz="1400" b="0" i="0">
                <a:solidFill>
                  <a:srgbClr val="FFFFFF"/>
                </a:solidFill>
                <a:latin typeface="Calibri"/>
              </a:rPr>
              <a:t>$ docker run -d -p 8081:3000 cloudlite-api:0.1.0</a:t>
            </a:r>
          </a:p>
          <a:p>
            <a:pPr>
              <a:spcAft>
                <a:spcPts val="400"/>
              </a:spcAft>
            </a:pPr>
            <a:r>
              <a:rPr sz="1400" b="0" i="0">
                <a:solidFill>
                  <a:srgbClr val="FFFFFF"/>
                </a:solidFill>
                <a:latin typeface="Calibri"/>
              </a:rPr>
              <a:t>$ docker run -d -p 8082:3000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Limpiar, y la prueba de que el contenedor no guarda estado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docker stop cloudlite &amp;&amp; docker rm cloudlite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escrito DENTRO del contenedor se va con el:</a:t>
            </a:r>
          </a:p>
          <a:p>
            <a:pPr>
              <a:spcAft>
                <a:spcPts val="400"/>
              </a:spcAft>
            </a:pPr>
            <a:r>
              <a:rPr sz="1400" b="0" i="0">
                <a:solidFill>
                  <a:srgbClr val="FFFFFF"/>
                </a:solidFill>
                <a:latin typeface="Calibri"/>
              </a:rPr>
              <a:t>$ docker run -d --name c1 cloudlite-api:0.1.0</a:t>
            </a:r>
          </a:p>
          <a:p>
            <a:pPr>
              <a:spcAft>
                <a:spcPts val="400"/>
              </a:spcAft>
            </a:pPr>
            <a:r>
              <a:rPr sz="1400" b="0" i="0">
                <a:solidFill>
                  <a:srgbClr val="FFFFFF"/>
                </a:solidFill>
                <a:latin typeface="Calibri"/>
              </a:rPr>
              <a:t>$ docker exec c1 sh -c 'echo hola &gt; /tmp/dato.txt'</a:t>
            </a:r>
          </a:p>
          <a:p>
            <a:pPr>
              <a:spcAft>
                <a:spcPts val="400"/>
              </a:spcAft>
            </a:pPr>
            <a:r>
              <a:rPr sz="1400" b="0" i="0">
                <a:solidFill>
                  <a:srgbClr val="FFFFFF"/>
                </a:solidFill>
                <a:latin typeface="Calibri"/>
              </a:rPr>
              <a:t>$ docker rm -f c1</a:t>
            </a:r>
          </a:p>
          <a:p>
            <a:pPr>
              <a:spcAft>
                <a:spcPts val="400"/>
              </a:spcAft>
            </a:pPr>
            <a:r>
              <a:rPr sz="1400" b="0" i="0">
                <a:solidFill>
                  <a:srgbClr val="FFFFFF"/>
                </a:solidFill>
                <a:latin typeface="Calibri"/>
              </a:rPr>
              <a:t>$ docker run --rm cloudlite-api:0.1.0 cat /tmp/dato.txt</a:t>
            </a:r>
          </a:p>
          <a:p>
            <a:pPr>
              <a:spcAft>
                <a:spcPts val="400"/>
              </a:spcAft>
            </a:pPr>
            <a:r>
              <a:rPr sz="1400" b="0" i="0">
                <a:solidFill>
                  <a:srgbClr val="FFFFFF"/>
                </a:solidFill>
                <a:latin typeface="Calibri"/>
              </a:rPr>
              <a:t>cat: can't open '/tmp/dato.txt': No such file or directory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Por eso el estado vive fuera: volumen o base de datos gestionada.</a:t>
            </a:r>
          </a:p>
          <a:p>
            <a:pPr>
              <a:spcAft>
                <a:spcPts val="400"/>
              </a:spcAft>
            </a:pPr>
            <a:r>
              <a:rPr sz="1400" b="0" i="0">
                <a:solidFill>
                  <a:srgbClr val="FFFFFF"/>
                </a:solidFill>
                <a:latin typeface="Calibri"/>
              </a:rPr>
              <a:t>$ docker run -d -v cloudlite_datos:/app/data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killercoda.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Killercoda</a:t>
            </a:r>
          </a:p>
          <a:p>
            <a:pPr algn="ctr">
              <a:spcBef>
                <a:spcPts val="200"/>
              </a:spcBef>
            </a:pPr>
            <a:r>
              <a:rPr sz="1000" b="0" i="0">
                <a:solidFill>
                  <a:srgbClr val="666666"/>
                </a:solidFill>
                <a:latin typeface="Calibri"/>
              </a:rPr>
              <a:t>Lab del dia · sesion 1 h</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ex.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LabEx Docker Playground</a:t>
            </a:r>
          </a:p>
          <a:p>
            <a:pPr algn="ctr">
              <a:spcBef>
                <a:spcPts val="200"/>
              </a:spcBef>
            </a:pPr>
            <a:r>
              <a:rPr sz="1000" b="0" i="0">
                <a:solidFill>
                  <a:srgbClr val="666666"/>
                </a:solidFill>
                <a:latin typeface="Calibri"/>
              </a:rPr>
              <a:t>Alterna · 3 al dia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Dockerfile del stub + .dockerignore + ciclo de 5 comandos con la salida esperada y su justificación</a:t>
            </a:r>
          </a:p>
          <a:p>
            <a:pPr>
              <a:spcAft>
                <a:spcPts val="800"/>
              </a:spcAft>
            </a:pPr>
            <a:r>
              <a:rPr sz="2000" b="0" i="0">
                <a:solidFill>
                  <a:srgbClr val="333333"/>
                </a:solidFill>
                <a:latin typeface="Calibri"/>
              </a:rPr>
              <a:t>–   Herramienta: </a:t>
            </a:r>
            <a:r>
              <a:rPr sz="2000" b="1" i="0">
                <a:solidFill>
                  <a:srgbClr val="333333"/>
                </a:solidFill>
                <a:latin typeface="Calibri"/>
              </a:rPr>
              <a:t>Navegador · editor de código del curso · lab de contenedores recomendado (no obligatorio)</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elija en la pregunta 8 cual servicio de su C4 Context va a contenedorizar y justifiquelo en 2 o 3 frases; escriba a continuacion el Dockerfile completo con la imagen base ligera y con etiqueta fija, el COPY de dependencias antes del COPY del codigo, el EXPOSE y el CMD, verificando que no copie el .env ni ninguna clave.</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9, sobre su propio Dockerfile, la diferencia entre imagen y contenedor, que instrucciones de SU archivo crean capa, por que el orden aprovecha el cache y en que se diferencia su contenedor de una maquina virtual; verifique que no escribio que un contenedor es una VM ligera.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describa en la pregunta 10 el ciclo completo con los comandos exactos de build y de run, explicando que lado del mapeo de puertos es el anfitrion y que lado el contenedor, y cierre con el contrato del endpoint de salud (ruta, codigo de estado y cuerpo); verifique que el puerto sea el mismo que puso en el EXPOSE.</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complete en la pregunta 11 la tabla de 5 filas con el fragmento CONCRETO que espera leer en cada comando y con el sintoma que delataria su fallo, y desarrolle abajo un caso que falla sobre su propio Dockerfile, con el comando de diagnostico y la correccion; verifique que no escribio «sale bien» en ninguna fila, porque es justo lo que la pregunta no acepta.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Dockerfile del stub + .dockerignore + ciclo de 5 comandos con la salida esperada y su justificación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Contenerizar un stub del servicio principal de CloudLite</a:t>
            </a:r>
          </a:p>
          <a:p>
            <a:pPr algn="ctr">
              <a:spcAft>
                <a:spcPts val="600"/>
              </a:spcAft>
            </a:pPr>
            <a:r>
              <a:rPr sz="1600" b="0" i="0">
                <a:solidFill>
                  <a:srgbClr val="333333"/>
                </a:solidFill>
                <a:latin typeface="Calibri"/>
              </a:rPr>
              <a:t>Evidencia: Dockerfile del stub + .dockerignore + ciclo de 5 comandos con la salida esperada y su justificación</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