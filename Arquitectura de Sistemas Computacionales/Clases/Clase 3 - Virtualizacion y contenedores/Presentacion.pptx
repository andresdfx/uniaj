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notesMaster" Target="notesMasters/notesMaster1.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dos clases anteriores decidieron QUE se va a construir (dominio, capacidades, actores, diagrama de contexto) y BAJO QUE modelo de servicio se va a operar, con su registro de decision.</a:t>
            </a:r>
          </a:p>
          <a:p/>
          <a:p>
            <a:r>
              <a:t>Conviene decir desde el minuto uno por que esto importa para la arquitectura y no solo para la operacion: el contenedor es la unidad de despliegue con la que se razona en todos los diagramas siguientes, y sin entender que es exactamente, el nivel de contenedores del modelo C4 que se dibuja en la Clase 4 queda en pura metafora.</a:t>
            </a:r>
          </a:p>
          <a:p/>
          <a:p>
            <a:r>
              <a:t>(Sobre la actividad, no se proyecta) El entregable es un Dockerfile con su ciclo de construccion razonado: se escribe y se justifica, sin depender de ejecutarlo en ningun laboratorio externo para poder entregar.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virtualizacion resolvio eso con una pieza de software llamada hipervisor, que se interpone entre el hardware y los sistemas operativos y presenta a cada uno la ilusion de tener una maquina completa para si.</a:t>
            </a:r>
          </a:p>
          <a:p/>
          <a:p>
            <a:r>
              <a:t>Los ordenes de magnitud que el docente debe poder citar: una maquina virtual ocupa varios gigabytes en disco y tarda entre 30 segundos y unos minutos en arrancar, porque debe iniciar un sistema operativo completo.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Conviene cerrar con lo que el dibujo NO muestra y la seccion anterior si dijo: en la nube las dos pilas se apilan, con los contenedores corriendo DENTRO de maquinas virtuales.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Todos los contenedores de una maquina comparten el kernel del anfitrion, y el aislamiento se consigue con dos mecanismos del propio Linux.</a:t>
            </a:r>
          </a:p>
          <a:p/>
          <a:p>
            <a:r>
              <a:t>Los cgroups, o grupos de control, limitan cuanta CPU y cuanta memoria puede consumir.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Cuatro terminos se confunden de forma sistematica y conviene fijarlos con una sola analogia.</a:t>
            </a:r>
          </a:p>
          <a:p/>
          <a:p>
            <a:r>
              <a:t>De ahi la unica optimizacion que hay que ensenar hoy: copiar primero el archivo de dependencias e instalarlas, y solo despues copiar el codigo fuente, porque el codigo cambia en cada commit y las dependencias casi nunca.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Primer ejemplo concreto en CloudLite.</a:t>
            </a:r>
          </a:p>
          <a:p/>
          <a:p>
            <a:r>
              <a:t>Su Dockerfile tiene siete instrucciones, y el docente debe poder explicar cada una.</a:t>
            </a:r>
          </a:p>
          <a:p/>
          <a:p>
            <a:r>
              <a:t>WORKDIR /app fija el directorio dentro del contenedor donde ocurrira todo lo demas.</a:t>
            </a:r>
          </a:p>
          <a:p/>
          <a:p>
            <a:r>
              <a:t>COPY package*.json./ trae solo la lista de dependencias.</a:t>
            </a:r>
          </a:p>
          <a:p/>
          <a:p>
            <a:r>
              <a:t>COPY.. trae el resto del codigo, y va DESPUES por la razon de cache de la seccion anterior.</a:t>
            </a:r>
          </a:p>
          <a:p/>
          <a:p>
            <a:r>
              <a:t>Y CMD indica que comando ejecutar cuando el contenedor arranque, uno solo y en primer plano.</a:t>
            </a:r>
          </a:p>
          <a:p/>
          <a:p>
            <a:r>
              <a:t>Por eso al lado del Dockerfile va un segundo archivo, el.dockerignore, con al menos.env, node_modules y.git.</a:t>
            </a:r>
          </a:p>
          <a:p/>
          <a:p>
            <a:r>
              <a:t>Lo que realmente publica el puerto es la opcion -p al ejecutar, y ese es el tema de la diapositiva siguiente.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el Dockerfile escrito faltan tres comandos, cada uno con su sintaxis precisa.</a:t>
            </a:r>
          </a:p>
          <a:p/>
          <a:p>
            <a:r>
              <a:t>El -d lo manda a segundo plano y el --name le da un nombre estable para no andar copiando identificadores.</a:t>
            </a:r>
          </a:p>
          <a:p/>
          <a:p>
            <a:r>
              <a:t>Y hay que anunciar el sintoma de invertirlos, que es lo que hace perder la tarde: docker ps sigue reportando el contenedor como Up y la peticion simplemente no obtiene respuesta o muere con una conexion reiniciada.</a:t>
            </a:r>
          </a:p>
          <a:p/>
          <a:p>
            <a:r>
              <a:t>El sintoma no senala la causa, y el estudiante busca el error en el codigo cuando esta en una linea del comando.</a:t>
            </a:r>
          </a:p>
          <a:p/>
          <a:p>
            <a:r>
              <a:t>Por eso el cuerpo lleva al menos un campo verificable, por ejemplo un estado y el nombre del servicio en JSON.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Segundo ejemplo concreto.</a:t>
            </a:r>
          </a:p>
          <a:p/>
          <a:p>
            <a:r>
              <a:t>La columna de estado es la que hay que mirar: si dice Up seguido de un tiempo, el contenedor vive; si dice Exited con un codigo entre parentesis, murio, y ese codigo es la primera pista del problema.</a:t>
            </a:r>
          </a:p>
          <a:p/>
          <a:p>
            <a:r>
              <a:t>De ahi sale la regla operativa del dia, y hay que decirla como consecuencia del limite y no como consejo suelto: el Dockerfile se escribe en la carpeta del proyecto y se PEGA en el laboratorio, nunca al contrario, y las capturas se guardan antes de cerrar.</a:t>
            </a:r>
          </a:p>
          <a:p/>
          <a:p>
            <a:r>
              <a:t>Por eso la alterna es alterna y no la primera opcion.</a:t>
            </a:r>
          </a:p>
          <a:p/>
          <a:p>
            <a:r>
              <a:t>(Sobre la actividad, no se proyecta) Hay dos limites que conviene anunciar ANTES de empezar y no despues, porque cambian como se planifica la hora de taller.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Tres preguntas se repiten en esta clase.</a:t>
            </a:r>
          </a:p>
          <a:p/>
          <a:p>
            <a:r>
              <a:t>La respuesta, dicha desde ya, es no.</a:t>
            </a:r>
          </a:p>
          <a:p/>
          <a:p>
            <a:r>
              <a:t>(Sobre la actividad, no se proyecta) Un grupo que solo copio comandos consigue la captura del entregable, pero en la Clase 8, cuando el pipeline de integracion continua deba construir una imagen automaticamente, no sabra que esta construyendo ni por que su build tarda cinco minutos, y en la sustentacion de la Clase 15 describira su arquitectura diciendo que lo metieron en Docker, que no es una decision arquitectonica sino una herramienta sin justificar.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274320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7315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_uniajc_blanco.png"/>
          <p:cNvPicPr>
            <a:picLocks noChangeAspect="1"/>
          </p:cNvPicPr>
          <p:nvPr/>
        </p:nvPicPr>
        <p:blipFill>
          <a:blip r:embed="rId2"/>
          <a:stretch>
            <a:fillRect/>
          </a:stretch>
        </p:blipFill>
        <p:spPr>
          <a:xfrm>
            <a:off x="457200" y="274320"/>
            <a:ext cx="1828800" cy="797105"/>
          </a:xfrm>
          <a:prstGeom prst="rect">
            <a:avLst/>
          </a:prstGeom>
        </p:spPr>
      </p:pic>
      <p:sp>
        <p:nvSpPr>
          <p:cNvPr id="5" name="TextBox 4"/>
          <p:cNvSpPr txBox="1"/>
          <p:nvPr/>
        </p:nvSpPr>
        <p:spPr>
          <a:xfrm>
            <a:off x="10180015" y="320040"/>
            <a:ext cx="1645920" cy="365760"/>
          </a:xfrm>
          <a:prstGeom prst="rect">
            <a:avLst/>
          </a:prstGeom>
          <a:noFill/>
        </p:spPr>
        <p:txBody>
          <a:bodyPr wrap="square">
            <a:spAutoFit/>
          </a:bodyPr>
          <a:lstStyle/>
          <a:p>
            <a:pPr algn="r"/>
            <a:r>
              <a:rPr sz="1200" b="1" i="0">
                <a:solidFill>
                  <a:srgbClr val="269CCB"/>
                </a:solidFill>
                <a:latin typeface="Calibri"/>
              </a:rPr>
              <a:t>Clase 3</a:t>
            </a:r>
          </a:p>
        </p:txBody>
      </p:sp>
      <p:sp>
        <p:nvSpPr>
          <p:cNvPr id="6" name="TextBox 5"/>
          <p:cNvSpPr txBox="1"/>
          <p:nvPr/>
        </p:nvSpPr>
        <p:spPr>
          <a:xfrm>
            <a:off x="457200" y="914400"/>
            <a:ext cx="11277295" cy="1371600"/>
          </a:xfrm>
          <a:prstGeom prst="rect">
            <a:avLst/>
          </a:prstGeom>
          <a:noFill/>
        </p:spPr>
        <p:txBody>
          <a:bodyPr wrap="square" anchor="ctr"/>
          <a:lstStyle/>
          <a:p>
            <a:pPr algn="ctr"/>
            <a:r>
              <a:rPr sz="2800" b="1" i="0">
                <a:solidFill>
                  <a:srgbClr val="FFFFFF"/>
                </a:solidFill>
                <a:latin typeface="Calibri"/>
              </a:rPr>
              <a:t>Virtualización y contenedores</a:t>
            </a:r>
          </a:p>
          <a:p>
            <a:pPr algn="ctr">
              <a:spcBef>
                <a:spcPts val="800"/>
              </a:spcBef>
            </a:pPr>
            <a:r>
              <a:rPr sz="1500" b="0" i="0">
                <a:solidFill>
                  <a:srgbClr val="269CCB"/>
                </a:solidFill>
                <a:latin typeface="Calibri"/>
              </a:rPr>
              <a:t>Lab Killercoda → stub CloudLite</a:t>
            </a:r>
          </a:p>
        </p:txBody>
      </p:sp>
      <p:sp>
        <p:nvSpPr>
          <p:cNvPr id="7" name="TextBox 6"/>
          <p:cNvSpPr txBox="1"/>
          <p:nvPr/>
        </p:nvSpPr>
        <p:spPr>
          <a:xfrm>
            <a:off x="457200" y="3200400"/>
            <a:ext cx="11277295" cy="2560320"/>
          </a:xfrm>
          <a:prstGeom prst="rect">
            <a:avLst/>
          </a:prstGeom>
          <a:noFill/>
        </p:spPr>
        <p:txBody>
          <a:bodyPr wrap="square">
            <a:spAutoFit/>
          </a:bodyPr>
          <a:lstStyle/>
          <a:p>
            <a:pPr>
              <a:spcAft>
                <a:spcPts val="800"/>
              </a:spcAft>
            </a:pPr>
            <a:r>
              <a:rPr sz="1500" b="0" i="0">
                <a:solidFill>
                  <a:srgbClr val="333333"/>
                </a:solidFill>
                <a:latin typeface="Calibri"/>
              </a:rPr>
              <a:t>Bloque </a:t>
            </a:r>
            <a:r>
              <a:rPr sz="1500" b="1" i="0">
                <a:solidFill>
                  <a:srgbClr val="333333"/>
                </a:solidFill>
                <a:latin typeface="Calibri"/>
              </a:rPr>
              <a:t>120 min</a:t>
            </a:r>
            <a:r>
              <a:rPr sz="1500" b="0" i="0">
                <a:solidFill>
                  <a:srgbClr val="333333"/>
                </a:solidFill>
                <a:latin typeface="Calibri"/>
              </a:rPr>
              <a:t> · sesión </a:t>
            </a:r>
            <a:r>
              <a:rPr sz="1500" b="1" i="0">
                <a:solidFill>
                  <a:srgbClr val="333333"/>
                </a:solidFill>
                <a:latin typeface="Calibri"/>
              </a:rPr>
              <a:t>virtual síncrona</a:t>
            </a:r>
            <a:r>
              <a:rPr sz="1500" b="0" i="0">
                <a:solidFill>
                  <a:srgbClr val="333333"/>
                </a:solidFill>
                <a:latin typeface="Calibri"/>
              </a:rPr>
              <a:t> por Google Meet.</a:t>
            </a:r>
          </a:p>
          <a:p>
            <a:pPr>
              <a:spcAft>
                <a:spcPts val="800"/>
              </a:spcAft>
            </a:pPr>
            <a:r>
              <a:rPr sz="1500" b="0" i="0">
                <a:solidFill>
                  <a:srgbClr val="333333"/>
                </a:solidFill>
                <a:latin typeface="Calibri"/>
              </a:rPr>
              <a:t>Conceptos del tema, ejemplos resueltos sobre CloudLite y cierre conceptual.</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Agenda de hoy (120 min)</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0–10</a:t>
            </a:r>
            <a:r>
              <a:rPr sz="2000" b="0" i="0">
                <a:solidFill>
                  <a:srgbClr val="333333"/>
                </a:solidFill>
                <a:latin typeface="Calibri"/>
              </a:rPr>
              <a:t> Encuadre del tema y objetivos de la clase.</a:t>
            </a:r>
          </a:p>
          <a:p>
            <a:pPr>
              <a:spcAft>
                <a:spcPts val="800"/>
              </a:spcAft>
            </a:pPr>
            <a:r>
              <a:rPr sz="2000" b="1" i="0">
                <a:solidFill>
                  <a:srgbClr val="333333"/>
                </a:solidFill>
                <a:latin typeface="Calibri"/>
              </a:rPr>
              <a:t>10–70</a:t>
            </a:r>
            <a:r>
              <a:rPr sz="2000" b="0" i="0">
                <a:solidFill>
                  <a:srgbClr val="333333"/>
                </a:solidFill>
                <a:latin typeface="Calibri"/>
              </a:rPr>
              <a:t> Conceptos del tema, uno por lámina, con ejemplos sobre CloudLite.</a:t>
            </a:r>
          </a:p>
          <a:p>
            <a:pPr>
              <a:spcAft>
                <a:spcPts val="800"/>
              </a:spcAft>
            </a:pPr>
            <a:r>
              <a:rPr sz="2000" b="0" i="0">
                <a:solidFill>
                  <a:srgbClr val="333333"/>
                </a:solidFill>
                <a:latin typeface="Calibri"/>
              </a:rPr>
              <a:t>–   </a:t>
            </a:r>
            <a:r>
              <a:rPr sz="2000" b="1" i="0">
                <a:solidFill>
                  <a:srgbClr val="333333"/>
                </a:solidFill>
                <a:latin typeface="Calibri"/>
              </a:rPr>
              <a:t>70–100</a:t>
            </a:r>
            <a:r>
              <a:rPr sz="2000" b="0" i="0">
                <a:solidFill>
                  <a:srgbClr val="333333"/>
                </a:solidFill>
                <a:latin typeface="Calibri"/>
              </a:rPr>
              <a:t> Ejemplos resueltos y demo del docente sobre el tema.</a:t>
            </a:r>
          </a:p>
          <a:p>
            <a:pPr>
              <a:spcAft>
                <a:spcPts val="800"/>
              </a:spcAft>
            </a:pPr>
            <a:r>
              <a:rPr sz="2000" b="1" i="0">
                <a:solidFill>
                  <a:srgbClr val="333333"/>
                </a:solidFill>
                <a:latin typeface="Calibri"/>
              </a:rPr>
              <a:t>100–115</a:t>
            </a:r>
            <a:r>
              <a:rPr sz="2000" b="0" i="0">
                <a:solidFill>
                  <a:srgbClr val="333333"/>
                </a:solidFill>
                <a:latin typeface="Calibri"/>
              </a:rPr>
              <a:t> Práctica (opcional, guía en la carpeta de la clase).</a:t>
            </a:r>
          </a:p>
          <a:p>
            <a:pPr>
              <a:spcAft>
                <a:spcPts val="800"/>
              </a:spcAft>
            </a:pPr>
            <a:r>
              <a:rPr sz="2000" b="1" i="0">
                <a:solidFill>
                  <a:srgbClr val="333333"/>
                </a:solidFill>
                <a:latin typeface="Calibri"/>
              </a:rPr>
              <a:t>115–120</a:t>
            </a:r>
            <a:r>
              <a:rPr sz="2000" b="0" i="0">
                <a:solidFill>
                  <a:srgbClr val="333333"/>
                </a:solidFill>
                <a:latin typeface="Calibri"/>
              </a:rPr>
              <a:t> Preguntas y cierre conceptual.</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Objetivos de la clase</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Diferenciar VM vs contenedor y el rol de la imagen.</a:t>
            </a:r>
          </a:p>
          <a:p>
            <a:pPr>
              <a:spcAft>
                <a:spcPts val="800"/>
              </a:spcAft>
            </a:pPr>
            <a:r>
              <a:rPr sz="2000" b="0" i="0">
                <a:solidFill>
                  <a:srgbClr val="333333"/>
                </a:solidFill>
                <a:latin typeface="Calibri"/>
              </a:rPr>
              <a:t>–   Razonar el ciclo build → run → verify: qué imprime cada comando y por qué.</a:t>
            </a:r>
          </a:p>
          <a:p>
            <a:pPr>
              <a:spcAft>
                <a:spcPts val="800"/>
              </a:spcAft>
            </a:pPr>
            <a:r>
              <a:rPr sz="2000" b="0" i="0">
                <a:solidFill>
                  <a:srgbClr val="333333"/>
                </a:solidFill>
                <a:latin typeface="Calibri"/>
              </a:rPr>
              <a:t>–   Publicar el puerto y verificar el servicio con un </a:t>
            </a:r>
            <a:r>
              <a:rPr sz="2000" b="1" i="0">
                <a:solidFill>
                  <a:srgbClr val="333333"/>
                </a:solidFill>
                <a:latin typeface="Calibri"/>
              </a:rPr>
              <a:t>endpoint de salud</a:t>
            </a:r>
            <a:r>
              <a:rPr sz="2000" b="0" i="0">
                <a:solidFill>
                  <a:srgbClr val="333333"/>
                </a:solidFill>
                <a:latin typeface="Calibri"/>
              </a:rPr>
              <a:t> (ruta, código, cuerpo).</a:t>
            </a:r>
          </a:p>
          <a:p>
            <a:pPr>
              <a:spcAft>
                <a:spcPts val="800"/>
              </a:spcAft>
            </a:pPr>
            <a:r>
              <a:rPr sz="2000" b="0" i="0">
                <a:solidFill>
                  <a:srgbClr val="333333"/>
                </a:solidFill>
                <a:latin typeface="Calibri"/>
              </a:rPr>
              <a:t>–   Dejar evidencia PI: Dockerfile del stub CloudLite + ciclo justificado.</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VM vs contenedor</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VM: hipervisor + SO completo → aislamiento fuerte, más pesado.</a:t>
            </a:r>
          </a:p>
          <a:p>
            <a:pPr>
              <a:spcAft>
                <a:spcPts val="800"/>
              </a:spcAft>
            </a:pPr>
            <a:r>
              <a:rPr sz="2000" b="0" i="0">
                <a:solidFill>
                  <a:srgbClr val="333333"/>
                </a:solidFill>
                <a:latin typeface="Calibri"/>
              </a:rPr>
              <a:t>–   Contenedor: comparte kernel del host → portable y rápido para demos.</a:t>
            </a:r>
          </a:p>
          <a:p>
            <a:pPr>
              <a:spcAft>
                <a:spcPts val="800"/>
              </a:spcAft>
            </a:pPr>
            <a:r>
              <a:rPr sz="2000" b="0" i="0">
                <a:solidFill>
                  <a:srgbClr val="333333"/>
                </a:solidFill>
                <a:latin typeface="Calibri"/>
              </a:rPr>
              <a:t>–   Imagen = capas inmutables; contenedor = instancia en ejecución.</a:t>
            </a:r>
          </a:p>
          <a:p>
            <a:pPr>
              <a:spcAft>
                <a:spcPts val="800"/>
              </a:spcAft>
            </a:pPr>
            <a:r>
              <a:rPr sz="2000" b="0" i="0">
                <a:solidFill>
                  <a:srgbClr val="333333"/>
                </a:solidFill>
                <a:latin typeface="Calibri"/>
              </a:rPr>
              <a:t>–   CloudLite: contenerizamos al menos </a:t>
            </a:r>
            <a:r>
              <a:rPr sz="2000" b="1" i="0">
                <a:solidFill>
                  <a:srgbClr val="333333"/>
                </a:solidFill>
                <a:latin typeface="Calibri"/>
              </a:rPr>
              <a:t>un</a:t>
            </a:r>
            <a:r>
              <a:rPr sz="2000" b="0" i="0">
                <a:solidFill>
                  <a:srgbClr val="333333"/>
                </a:solidFill>
                <a:latin typeface="Calibri"/>
              </a:rPr>
              <a:t> servicio (API stub o front estático).</a:t>
            </a:r>
          </a:p>
          <a:p>
            <a:pPr>
              <a:spcAft>
                <a:spcPts val="800"/>
              </a:spcAft>
            </a:pPr>
            <a:r>
              <a:rPr sz="2000" b="0" i="0">
                <a:solidFill>
                  <a:srgbClr val="333333"/>
                </a:solidFill>
                <a:latin typeface="Calibri"/>
              </a:rPr>
              <a:t>–   Error común: creer que el contenedor «no tiene sistema operativo»: usa el kernel del anfitrión, por eso una imagen Linux necesita un kernel Linux debajo.</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Comprobar en un lab: recomendado, no obligatorio</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Lo que se entrega hoy es el </a:t>
            </a:r>
            <a:r>
              <a:rPr sz="2000" b="1" i="0">
                <a:solidFill>
                  <a:srgbClr val="333333"/>
                </a:solidFill>
                <a:latin typeface="Calibri"/>
              </a:rPr>
              <a:t>Dockerfile</a:t>
            </a:r>
            <a:r>
              <a:rPr sz="2000" b="0" i="0">
                <a:solidFill>
                  <a:srgbClr val="333333"/>
                </a:solidFill>
                <a:latin typeface="Calibri"/>
              </a:rPr>
              <a:t> y el </a:t>
            </a:r>
            <a:r>
              <a:rPr sz="2000" b="1" i="0">
                <a:solidFill>
                  <a:srgbClr val="333333"/>
                </a:solidFill>
                <a:latin typeface="Calibri"/>
              </a:rPr>
              <a:t>ciclo justificado</a:t>
            </a:r>
            <a:r>
              <a:rPr sz="2000" b="0" i="0">
                <a:solidFill>
                  <a:srgbClr val="333333"/>
                </a:solidFill>
                <a:latin typeface="Calibri"/>
              </a:rPr>
              <a:t>: se escribe y se razona, no hace falta ejecutarlo para entregar.</a:t>
            </a:r>
          </a:p>
          <a:p>
            <a:pPr>
              <a:spcAft>
                <a:spcPts val="800"/>
              </a:spcAft>
            </a:pPr>
            <a:r>
              <a:rPr sz="2000" b="0" i="0">
                <a:solidFill>
                  <a:srgbClr val="333333"/>
                </a:solidFill>
                <a:latin typeface="Calibri"/>
              </a:rPr>
              <a:t>–   Si quieres comprobarlo —y vale la pena— hay laboratorios de contenedores gratuitos en el navegador, sin instalar nada y sin tarjeta.</a:t>
            </a:r>
          </a:p>
          <a:p>
            <a:pPr>
              <a:spcAft>
                <a:spcPts val="800"/>
              </a:spcAft>
            </a:pPr>
            <a:r>
              <a:rPr sz="2000" b="0" i="0">
                <a:solidFill>
                  <a:srgbClr val="333333"/>
                </a:solidFill>
                <a:latin typeface="Calibri"/>
              </a:rPr>
              <a:t>–   </a:t>
            </a:r>
            <a:r>
              <a:rPr sz="2000" b="1" i="0">
                <a:solidFill>
                  <a:srgbClr val="333333"/>
                </a:solidFill>
                <a:latin typeface="Calibri"/>
              </a:rPr>
              <a:t>Ojo con hacerlos obligatorios:</a:t>
            </a:r>
            <a:r>
              <a:rPr sz="2000" b="0" i="0">
                <a:solidFill>
                  <a:srgbClr val="333333"/>
                </a:solidFill>
                <a:latin typeface="Calibri"/>
              </a:rPr>
              <a:t> la sesión caduca en torno a la hora y el plan gratuito limita cuántas abres al día. Por eso tu nota no depende de que carguen.</a:t>
            </a:r>
          </a:p>
          <a:p>
            <a:pPr>
              <a:spcAft>
                <a:spcPts val="800"/>
              </a:spcAft>
            </a:pPr>
            <a:r>
              <a:rPr sz="2000" b="0" i="0">
                <a:solidFill>
                  <a:srgbClr val="333333"/>
                </a:solidFill>
                <a:latin typeface="Calibri"/>
              </a:rPr>
              <a:t>–   El Dockerfile se escribe en </a:t>
            </a:r>
            <a:r>
              <a:rPr sz="2000" b="1" i="0">
                <a:solidFill>
                  <a:srgbClr val="333333"/>
                </a:solidFill>
                <a:latin typeface="Calibri"/>
              </a:rPr>
              <a:t>tu</a:t>
            </a:r>
            <a:r>
              <a:rPr sz="2000" b="0" i="0">
                <a:solidFill>
                  <a:srgbClr val="333333"/>
                </a:solidFill>
                <a:latin typeface="Calibri"/>
              </a:rPr>
              <a:t> carpeta del PI y se pega en el lab, nunca al contrario: lo que se cierra con la sesión del lab se pierde.</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Dockerfile mínimo para el stub</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Siete instrucciones: </a:t>
            </a:r>
            <a:r>
              <a:rPr sz="2000" b="1" i="0">
                <a:solidFill>
                  <a:srgbClr val="333333"/>
                </a:solidFill>
                <a:latin typeface="Calibri"/>
              </a:rPr>
              <a:t>FROM · WORKDIR · COPY</a:t>
            </a:r>
            <a:r>
              <a:rPr sz="2000" b="0" i="0">
                <a:solidFill>
                  <a:srgbClr val="333333"/>
                </a:solidFill>
                <a:latin typeface="Calibri"/>
              </a:rPr>
              <a:t> de dependencias </a:t>
            </a:r>
            <a:r>
              <a:rPr sz="2000" b="1" i="0">
                <a:solidFill>
                  <a:srgbClr val="333333"/>
                </a:solidFill>
                <a:latin typeface="Calibri"/>
              </a:rPr>
              <a:t>· RUN · COPY</a:t>
            </a:r>
            <a:r>
              <a:rPr sz="2000" b="0" i="0">
                <a:solidFill>
                  <a:srgbClr val="333333"/>
                </a:solidFill>
                <a:latin typeface="Calibri"/>
              </a:rPr>
              <a:t> del código </a:t>
            </a:r>
            <a:r>
              <a:rPr sz="2000" b="1" i="0">
                <a:solidFill>
                  <a:srgbClr val="333333"/>
                </a:solidFill>
                <a:latin typeface="Calibri"/>
              </a:rPr>
              <a:t>· EXPOSE · CMD</a:t>
            </a:r>
            <a:r>
              <a:rPr sz="2000" b="0" i="0">
                <a:solidFill>
                  <a:srgbClr val="333333"/>
                </a:solidFill>
                <a:latin typeface="Calibri"/>
              </a:rPr>
              <a:t>.</a:t>
            </a:r>
          </a:p>
          <a:p>
            <a:pPr>
              <a:spcAft>
                <a:spcPts val="800"/>
              </a:spcAft>
            </a:pPr>
            <a:r>
              <a:rPr sz="2000" b="0" i="0">
                <a:solidFill>
                  <a:srgbClr val="333333"/>
                </a:solidFill>
                <a:latin typeface="Calibri"/>
              </a:rPr>
              <a:t>–   «FROM» con </a:t>
            </a:r>
            <a:r>
              <a:rPr sz="2000" b="1" i="0">
                <a:solidFill>
                  <a:srgbClr val="333333"/>
                </a:solidFill>
                <a:latin typeface="Calibri"/>
              </a:rPr>
              <a:t>etiqueta fija</a:t>
            </a:r>
            <a:r>
              <a:rPr sz="2000" b="0" i="0">
                <a:solidFill>
                  <a:srgbClr val="333333"/>
                </a:solidFill>
                <a:latin typeface="Calibri"/>
              </a:rPr>
              <a:t> («node:20-alpine», «python:3.12-slim»): con «latest», la imagen de hoy no es la de mañana.</a:t>
            </a:r>
          </a:p>
          <a:p>
            <a:pPr>
              <a:spcAft>
                <a:spcPts val="800"/>
              </a:spcAft>
            </a:pPr>
            <a:r>
              <a:rPr sz="2000" b="0" i="0">
                <a:solidFill>
                  <a:srgbClr val="333333"/>
                </a:solidFill>
                <a:latin typeface="Calibri"/>
              </a:rPr>
              <a:t>–   Dependencias </a:t>
            </a:r>
            <a:r>
              <a:rPr sz="2000" b="1" i="0">
                <a:solidFill>
                  <a:srgbClr val="333333"/>
                </a:solidFill>
                <a:latin typeface="Calibri"/>
              </a:rPr>
              <a:t>antes</a:t>
            </a:r>
            <a:r>
              <a:rPr sz="2000" b="0" i="0">
                <a:solidFill>
                  <a:srgbClr val="333333"/>
                </a:solidFill>
                <a:latin typeface="Calibri"/>
              </a:rPr>
              <a:t> que el código: así cambiar una línea no reinstala nada (es la caché por capas).</a:t>
            </a:r>
          </a:p>
          <a:p>
            <a:pPr>
              <a:spcAft>
                <a:spcPts val="800"/>
              </a:spcAft>
            </a:pPr>
            <a:r>
              <a:rPr sz="2000" b="0" i="0">
                <a:solidFill>
                  <a:srgbClr val="333333"/>
                </a:solidFill>
                <a:latin typeface="Calibri"/>
              </a:rPr>
              <a:t>–   </a:t>
            </a:r>
            <a:r>
              <a:rPr sz="2000" b="1" i="0">
                <a:solidFill>
                  <a:srgbClr val="333333"/>
                </a:solidFill>
                <a:latin typeface="Calibri"/>
              </a:rPr>
              <a:t>Nunca un secreto en la imagen:</a:t>
            </a:r>
            <a:r>
              <a:rPr sz="2000" b="0" i="0">
                <a:solidFill>
                  <a:srgbClr val="333333"/>
                </a:solidFill>
                <a:latin typeface="Calibri"/>
              </a:rPr>
              <a:t> las capas se acumulan y «docker history» las lee aunque el archivo se borre después.</a:t>
            </a:r>
          </a:p>
          <a:p>
            <a:pPr>
              <a:spcAft>
                <a:spcPts val="800"/>
              </a:spcAft>
            </a:pPr>
            <a:r>
              <a:rPr sz="2000" b="0" i="0">
                <a:solidFill>
                  <a:srgbClr val="333333"/>
                </a:solidFill>
                <a:latin typeface="Calibri"/>
              </a:rPr>
              <a:t>–   Si haces «COPY. .», va con un </a:t>
            </a:r>
            <a:r>
              <a:rPr sz="2000" b="1" i="0">
                <a:solidFill>
                  <a:srgbClr val="333333"/>
                </a:solidFill>
                <a:latin typeface="Calibri"/>
              </a:rPr>
              <a:t>«.dockerignore»</a:t>
            </a:r>
            <a:r>
              <a:rPr sz="2000" b="0" i="0">
                <a:solidFill>
                  <a:srgbClr val="333333"/>
                </a:solidFill>
                <a:latin typeface="Calibri"/>
              </a:rPr>
              <a:t> al lado («.env», «node_modules», «.git») — y se menciona en la entrega.</a:t>
            </a:r>
          </a:p>
          <a:p>
            <a:pPr>
              <a:spcAft>
                <a:spcPts val="800"/>
              </a:spcAft>
            </a:pPr>
            <a:r>
              <a:rPr sz="2000" b="0" i="0">
                <a:solidFill>
                  <a:srgbClr val="333333"/>
                </a:solidFill>
                <a:latin typeface="Calibri"/>
              </a:rPr>
              <a:t>–   «EXPOSE» </a:t>
            </a:r>
            <a:r>
              <a:rPr sz="2000" b="1" i="0">
                <a:solidFill>
                  <a:srgbClr val="333333"/>
                </a:solidFill>
                <a:latin typeface="Calibri"/>
              </a:rPr>
              <a:t>documenta</a:t>
            </a:r>
            <a:r>
              <a:rPr sz="2000" b="0" i="0">
                <a:solidFill>
                  <a:srgbClr val="333333"/>
                </a:solidFill>
                <a:latin typeface="Calibri"/>
              </a:rPr>
              <a:t>, no publica. Publicar es el «-p» del «docker run».</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Construir, correr y verificar el contenedor</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Construir:</a:t>
            </a:r>
            <a:r>
              <a:rPr sz="2000" b="0" i="0">
                <a:solidFill>
                  <a:srgbClr val="333333"/>
                </a:solidFill>
                <a:latin typeface="Calibri"/>
              </a:rPr>
              <a:t> «docker build -t cloudlite-api:0.1.0 .» — nombre </a:t>
            </a:r>
            <a:r>
              <a:rPr sz="2000" b="1" i="0">
                <a:solidFill>
                  <a:srgbClr val="333333"/>
                </a:solidFill>
                <a:latin typeface="Calibri"/>
              </a:rPr>
              <a:t>y</a:t>
            </a:r>
            <a:r>
              <a:rPr sz="2000" b="0" i="0">
                <a:solidFill>
                  <a:srgbClr val="333333"/>
                </a:solidFill>
                <a:latin typeface="Calibri"/>
              </a:rPr>
              <a:t> etiqueta; sin etiqueta vale la mitad.</a:t>
            </a:r>
          </a:p>
          <a:p>
            <a:pPr>
              <a:spcAft>
                <a:spcPts val="800"/>
              </a:spcAft>
            </a:pPr>
            <a:r>
              <a:rPr sz="2000" b="0" i="0">
                <a:solidFill>
                  <a:srgbClr val="333333"/>
                </a:solidFill>
                <a:latin typeface="Calibri"/>
              </a:rPr>
              <a:t>–   </a:t>
            </a:r>
            <a:r>
              <a:rPr sz="2000" b="1" i="0">
                <a:solidFill>
                  <a:srgbClr val="333333"/>
                </a:solidFill>
                <a:latin typeface="Calibri"/>
              </a:rPr>
              <a:t>Correr:</a:t>
            </a:r>
            <a:r>
              <a:rPr sz="2000" b="0" i="0">
                <a:solidFill>
                  <a:srgbClr val="333333"/>
                </a:solidFill>
                <a:latin typeface="Calibri"/>
              </a:rPr>
              <a:t> «docker run -d -p 8081:8080 --name api cloudlite-api:0.1.0».</a:t>
            </a:r>
          </a:p>
          <a:p>
            <a:pPr>
              <a:spcAft>
                <a:spcPts val="800"/>
              </a:spcAft>
            </a:pPr>
            <a:r>
              <a:rPr sz="2000" b="0" i="0">
                <a:solidFill>
                  <a:srgbClr val="333333"/>
                </a:solidFill>
                <a:latin typeface="Calibri"/>
              </a:rPr>
              <a:t>–   En «-p 8081:8080» la </a:t>
            </a:r>
            <a:r>
              <a:rPr sz="2000" b="1" i="0">
                <a:solidFill>
                  <a:srgbClr val="333333"/>
                </a:solidFill>
                <a:latin typeface="Calibri"/>
              </a:rPr>
              <a:t>izquierda es el anfitrión</a:t>
            </a:r>
            <a:r>
              <a:rPr sz="2000" b="0" i="0">
                <a:solidFill>
                  <a:srgbClr val="333333"/>
                </a:solidFill>
                <a:latin typeface="Calibri"/>
              </a:rPr>
              <a:t> (por donde entras tú) y la </a:t>
            </a:r>
            <a:r>
              <a:rPr sz="2000" b="1" i="0">
                <a:solidFill>
                  <a:srgbClr val="333333"/>
                </a:solidFill>
                <a:latin typeface="Calibri"/>
              </a:rPr>
              <a:t>derecha es el contenedor</a:t>
            </a:r>
            <a:r>
              <a:rPr sz="2000" b="0" i="0">
                <a:solidFill>
                  <a:srgbClr val="333333"/>
                </a:solidFill>
                <a:latin typeface="Calibri"/>
              </a:rPr>
              <a:t> (la del «EXPOSE»).</a:t>
            </a:r>
          </a:p>
          <a:p>
            <a:pPr>
              <a:spcAft>
                <a:spcPts val="800"/>
              </a:spcAft>
            </a:pPr>
            <a:r>
              <a:rPr sz="2000" b="0" i="0">
                <a:solidFill>
                  <a:srgbClr val="333333"/>
                </a:solidFill>
                <a:latin typeface="Calibri"/>
              </a:rPr>
              <a:t>–   </a:t>
            </a:r>
            <a:r>
              <a:rPr sz="2000" b="1" i="0">
                <a:solidFill>
                  <a:srgbClr val="333333"/>
                </a:solidFill>
                <a:latin typeface="Calibri"/>
              </a:rPr>
              <a:t>Si los inviertes,</a:t>
            </a:r>
            <a:r>
              <a:rPr sz="2000" b="0" i="0">
                <a:solidFill>
                  <a:srgbClr val="333333"/>
                </a:solidFill>
                <a:latin typeface="Calibri"/>
              </a:rPr>
              <a:t> «docker ps» muestra el contenedor </a:t>
            </a:r>
            <a:r>
              <a:rPr sz="2000" b="1" i="0">
                <a:solidFill>
                  <a:srgbClr val="333333"/>
                </a:solidFill>
                <a:latin typeface="Calibri"/>
              </a:rPr>
              <a:t>Up</a:t>
            </a:r>
            <a:r>
              <a:rPr sz="2000" b="0" i="0">
                <a:solidFill>
                  <a:srgbClr val="333333"/>
                </a:solidFill>
                <a:latin typeface="Calibri"/>
              </a:rPr>
              <a:t> y la petición muere sin respuesta: el síntoma no dice la causa.</a:t>
            </a:r>
          </a:p>
          <a:p>
            <a:pPr>
              <a:spcAft>
                <a:spcPts val="800"/>
              </a:spcAft>
            </a:pPr>
            <a:r>
              <a:rPr sz="2000" b="0" i="0">
                <a:solidFill>
                  <a:srgbClr val="333333"/>
                </a:solidFill>
                <a:latin typeface="Calibri"/>
              </a:rPr>
              <a:t>–   </a:t>
            </a:r>
            <a:r>
              <a:rPr sz="2000" b="1" i="0">
                <a:solidFill>
                  <a:srgbClr val="333333"/>
                </a:solidFill>
                <a:latin typeface="Calibri"/>
              </a:rPr>
              <a:t>Verificar:</a:t>
            </a:r>
            <a:r>
              <a:rPr sz="2000" b="0" i="0">
                <a:solidFill>
                  <a:srgbClr val="333333"/>
                </a:solidFill>
                <a:latin typeface="Calibri"/>
              </a:rPr>
              <a:t> el contrato de salud son </a:t>
            </a:r>
            <a:r>
              <a:rPr sz="2000" b="1" i="0">
                <a:solidFill>
                  <a:srgbClr val="333333"/>
                </a:solidFill>
                <a:latin typeface="Calibri"/>
              </a:rPr>
              <a:t>tres</a:t>
            </a:r>
            <a:r>
              <a:rPr sz="2000" b="0" i="0">
                <a:solidFill>
                  <a:srgbClr val="333333"/>
                </a:solidFill>
                <a:latin typeface="Calibri"/>
              </a:rPr>
              <a:t> datos — </a:t>
            </a:r>
            <a:r>
              <a:rPr sz="2000" b="1" i="0">
                <a:solidFill>
                  <a:srgbClr val="333333"/>
                </a:solidFill>
                <a:latin typeface="Calibri"/>
              </a:rPr>
              <a:t>ruta</a:t>
            </a:r>
            <a:r>
              <a:rPr sz="2000" b="0" i="0">
                <a:solidFill>
                  <a:srgbClr val="333333"/>
                </a:solidFill>
                <a:latin typeface="Calibri"/>
              </a:rPr>
              <a:t> («GET /health»), </a:t>
            </a:r>
            <a:r>
              <a:rPr sz="2000" b="1" i="0">
                <a:solidFill>
                  <a:srgbClr val="333333"/>
                </a:solidFill>
                <a:latin typeface="Calibri"/>
              </a:rPr>
              <a:t>código</a:t>
            </a:r>
            <a:r>
              <a:rPr sz="2000" b="0" i="0">
                <a:solidFill>
                  <a:srgbClr val="333333"/>
                </a:solidFill>
                <a:latin typeface="Calibri"/>
              </a:rPr>
              <a:t> («200» vivo · «503» sin base) y </a:t>
            </a:r>
            <a:r>
              <a:rPr sz="2000" b="1" i="0">
                <a:solidFill>
                  <a:srgbClr val="333333"/>
                </a:solidFill>
                <a:latin typeface="Calibri"/>
              </a:rPr>
              <a:t>cuerpo</a:t>
            </a:r>
            <a:r>
              <a:rPr sz="2000" b="0" i="0">
                <a:solidFill>
                  <a:srgbClr val="333333"/>
                </a:solidFill>
                <a:latin typeface="Calibri"/>
              </a:rPr>
              <a:t> con su formato.</a:t>
            </a:r>
          </a:p>
          <a:p>
            <a:pPr>
              <a:spcAft>
                <a:spcPts val="800"/>
              </a:spcAft>
            </a:pPr>
            <a:r>
              <a:rPr sz="2000" b="0" i="0">
                <a:solidFill>
                  <a:srgbClr val="333333"/>
                </a:solidFill>
                <a:latin typeface="Calibri"/>
              </a:rPr>
              <a:t>–   Un «200» con cuerpo vacío no distingue «vivo» de «vivo pero roto»: el cuerpo lleva al menos un campo verificable.</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De donde viene la clase: virtualizacion y contenedores (1/2)</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Hoy se abre la caja de la maquinaria que hace posible todo eso: la virtualizacion y su descendiente directo, los contenedores.</a:t>
            </a:r>
          </a:p>
          <a:p>
            <a:pPr>
              <a:spcAft>
                <a:spcPts val="800"/>
              </a:spcAft>
            </a:pPr>
            <a:r>
              <a:rPr sz="2000" b="0" i="0">
                <a:solidFill>
                  <a:srgbClr val="333333"/>
                </a:solidFill>
                <a:latin typeface="Calibri"/>
              </a:rPr>
              <a:t>–   Es la primera clase francamente tecnica del curso y la primera en la que el estudiante escribe algo que una maquina ejecuta.</a:t>
            </a:r>
          </a:p>
          <a:p>
            <a:pPr>
              <a:spcAft>
                <a:spcPts val="800"/>
              </a:spcAft>
            </a:pPr>
            <a:r>
              <a:rPr sz="2000" b="0" i="0">
                <a:solidFill>
                  <a:srgbClr val="333333"/>
                </a:solidFill>
                <a:latin typeface="Calibri"/>
              </a:rPr>
              <a:t>–   La virtualizacion es la tecnica que permite ejecutar varias maquinas logicas sobre un mismo hardware fisico, y el hipervisor es el software que la hace posible.</a:t>
            </a:r>
          </a:p>
          <a:p>
            <a:pPr>
              <a:spcAft>
                <a:spcPts val="800"/>
              </a:spcAft>
            </a:pPr>
            <a:r>
              <a:rPr sz="2000" b="0" i="0">
                <a:solidFill>
                  <a:srgbClr val="333333"/>
                </a:solidFill>
                <a:latin typeface="Calibri"/>
              </a:rPr>
              <a:t>–   Un contenedor es un proceso aislado que comparte el kernel del anfitrion: no trae sistema operativo propio.</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De donde viene la clase: virtualizacion y contenedores (2/2)</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Las dos tecnicas resuelven el mismo problema, aprovechar mejor un servidor, con costos distintos: la maquina virtual aisla mas y pesa gigabytes; el contenedor arranca en segundos y pesa megabytes.</a:t>
            </a:r>
          </a:p>
          <a:p>
            <a:pPr>
              <a:spcAft>
                <a:spcPts val="800"/>
              </a:spcAft>
            </a:pPr>
            <a:r>
              <a:rPr sz="2000" b="0" i="0">
                <a:solidFill>
                  <a:srgbClr val="333333"/>
                </a:solidFill>
                <a:latin typeface="Calibri"/>
              </a:rPr>
              <a:t>–   En CloudLite el stub de la API se empaqueta como contenedor porque es un solo servicio que se despliega muchas veces.</a:t>
            </a:r>
          </a:p>
          <a:p>
            <a:pPr>
              <a:spcAft>
                <a:spcPts val="800"/>
              </a:spcAft>
            </a:pPr>
            <a:r>
              <a:rPr sz="2000" b="0" i="0">
                <a:solidFill>
                  <a:srgbClr val="333333"/>
                </a:solidFill>
                <a:latin typeface="Calibri"/>
              </a:rPr>
              <a:t>–   Un error comun es tratar el contenedor como una maquina virtual pequena, entrando a configurarlo a mano: un contenedor se reconstruye desde su imagen, no se repara por dentro.</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Antes de la virtualizacion: un servidor por aplicacion</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Antes de la virtualizacion, cada aplicacion importante vivia en su propio servidor fisico, por una razon sencilla: si dos aplicaciones compartian maquina, una podia tumbar a la otra.</a:t>
            </a:r>
          </a:p>
          <a:p>
            <a:pPr>
              <a:spcAft>
                <a:spcPts val="800"/>
              </a:spcAft>
            </a:pPr>
            <a:r>
              <a:rPr sz="2000" b="0" i="0">
                <a:solidFill>
                  <a:srgbClr val="333333"/>
                </a:solidFill>
                <a:latin typeface="Calibri"/>
              </a:rPr>
              <a:t>–   El resultado era un desperdicio enorme, con servidores trabajando tipicamente entre el 5 % y el 15 % de su capacidad la mayor parte del tiempo.</a:t>
            </a:r>
          </a:p>
          <a:p>
            <a:pPr>
              <a:spcAft>
                <a:spcPts val="800"/>
              </a:spcAft>
            </a:pPr>
            <a:r>
              <a:rPr sz="2000" b="0" i="0">
                <a:solidFill>
                  <a:srgbClr val="333333"/>
                </a:solidFill>
                <a:latin typeface="Calibri"/>
              </a:rPr>
              <a:t>–   Cada una de esas maquinas se llama maquina virtual y contiene un sistema operativo entero, kernel incluido, donde kernel es el nucleo del sistema operativo, la parte que administra memoria, procesos y acceso al hardware.</a:t>
            </a:r>
          </a:p>
          <a:p>
            <a:pPr>
              <a:spcAft>
                <a:spcPts val="800"/>
              </a:spcAft>
            </a:pPr>
            <a:r>
              <a:rPr sz="2000" b="0" i="0">
                <a:solidFill>
                  <a:srgbClr val="333333"/>
                </a:solidFill>
                <a:latin typeface="Calibri"/>
              </a:rPr>
              <a:t>–   En contraparte, su aislamiento es fuerte, ya que dos maquinas virtuales no comparten kernel y un problema en el nucleo de una no alcanza a la otra.</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Recorrer el diagrama de las dos pilas, de abajo hacia arriba (1/2)</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Esta diapositiva es la misma comparacion de la seccion anterior, ya dibujada, y conviene recorrerla con el puntero en vez de leerla.</a:t>
            </a:r>
          </a:p>
          <a:p>
            <a:pPr>
              <a:spcAft>
                <a:spcPts val="800"/>
              </a:spcAft>
            </a:pPr>
            <a:r>
              <a:rPr sz="2000" b="0" i="0">
                <a:solidFill>
                  <a:srgbClr val="333333"/>
                </a:solidFill>
                <a:latin typeface="Calibri"/>
              </a:rPr>
              <a:t>–   Se sube por la columna izquierda: hardware fisico, hipervisor, y encima DOS sistemas operativos invitados completos, uno por aplicacion.</a:t>
            </a:r>
          </a:p>
          <a:p>
            <a:pPr>
              <a:spcAft>
                <a:spcPts val="800"/>
              </a:spcAft>
            </a:pPr>
            <a:r>
              <a:rPr sz="2000" b="0" i="0">
                <a:solidFill>
                  <a:srgbClr val="333333"/>
                </a:solidFill>
                <a:latin typeface="Calibri"/>
              </a:rPr>
              <a:t>–   Luego por la derecha: el mismo hardware, un solo sistema operativo anfitrion con el motor de contenedores, y encima los contenedores, que ya no traen sistema operativo propio.</a:t>
            </a:r>
          </a:p>
          <a:p>
            <a:pPr>
              <a:spcAft>
                <a:spcPts val="800"/>
              </a:spcAft>
            </a:pPr>
            <a:r>
              <a:rPr sz="2000" b="0" i="0">
                <a:solidFill>
                  <a:srgbClr val="333333"/>
                </a:solidFill>
                <a:latin typeface="Calibri"/>
              </a:rPr>
              <a:t>–   La caja que desaparece al pasar de la pila de la maquina virtual a la del contenedor es el segundo sistema operativo.</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Recorrer el diagrama de las dos pilas, de abajo hacia arriba (2/2)</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Todo lo demas —arranque en segundos y no en minutos, megabytes y no gigabytes— es consecuencia de esa caja que ya no esta.</a:t>
            </a:r>
          </a:p>
          <a:p>
            <a:pPr>
              <a:spcAft>
                <a:spcPts val="800"/>
              </a:spcAft>
            </a:pPr>
            <a:r>
              <a:rPr sz="2000" b="0" i="0">
                <a:solidFill>
                  <a:srgbClr val="333333"/>
                </a:solidFill>
                <a:latin typeface="Calibri"/>
              </a:rPr>
              <a:t>–   Leida de abajo hacia arriba, la pila de la maquina virtual es: hardware, hipervisor, sistema operativo invitado, librerias y aplicacion.</a:t>
            </a:r>
          </a:p>
          <a:p>
            <a:pPr>
              <a:spcAft>
                <a:spcPts val="800"/>
              </a:spcAft>
            </a:pPr>
            <a:r>
              <a:rPr sz="2000" b="0" i="0">
                <a:solidFill>
                  <a:srgbClr val="333333"/>
                </a:solidFill>
                <a:latin typeface="Calibri"/>
              </a:rPr>
              <a:t>–   La del contenedor es: hardware, sistema operativo del anfitrion, motor de contenedores, librerias y aplicacion.</a:t>
            </a:r>
          </a:p>
          <a:p>
            <a:pPr>
              <a:spcAft>
                <a:spcPts val="800"/>
              </a:spcAft>
            </a:pPr>
            <a:r>
              <a:rPr sz="2000" b="0" i="0">
                <a:solidFill>
                  <a:srgbClr val="333333"/>
                </a:solidFill>
                <a:latin typeface="Calibri"/>
              </a:rPr>
              <a:t>–   Un error comun es creer que el contenedor no usa sistema operativo: usa el del anfitrion, y por eso una imagen Linux necesita un kernel Linux debajo.</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contenedor: aislamiento sin otro sistema operativo (1/2)</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Un contenedor parte de una observacion distinta: casi nunca se necesita otro sistema operativo, solo un espacio aislado dentro del que ya existe.</a:t>
            </a:r>
          </a:p>
          <a:p>
            <a:pPr>
              <a:spcAft>
                <a:spcPts val="800"/>
              </a:spcAft>
            </a:pPr>
            <a:r>
              <a:rPr sz="2000" b="0" i="0">
                <a:solidFill>
                  <a:srgbClr val="333333"/>
                </a:solidFill>
                <a:latin typeface="Calibri"/>
              </a:rPr>
              <a:t>–   Los namespaces le dan a cada contenedor su propia vista de procesos, red, usuarios y sistema de archivos, de modo que dentro del contenedor su proceso principal se ve con el numero 1 y no ve los procesos vecinos.</a:t>
            </a:r>
          </a:p>
          <a:p>
            <a:pPr>
              <a:spcAft>
                <a:spcPts val="800"/>
              </a:spcAft>
            </a:pPr>
            <a:r>
              <a:rPr sz="2000" b="0" i="0">
                <a:solidFill>
                  <a:srgbClr val="333333"/>
                </a:solidFill>
                <a:latin typeface="Calibri"/>
              </a:rPr>
              <a:t>–   Sin sistema operativo propio, los numeros cambian de escala: una imagen basada en Alpine Linux pesa del orden de 5 a 10 MB</a:t>
            </a:r>
          </a:p>
          <a:p>
            <a:pPr>
              <a:spcAft>
                <a:spcPts val="800"/>
              </a:spcAft>
            </a:pPr>
            <a:r>
              <a:rPr sz="2000" b="0" i="0">
                <a:solidFill>
                  <a:srgbClr val="333333"/>
                </a:solidFill>
                <a:latin typeface="Calibri"/>
              </a:rPr>
              <a:t>–   Una imagen slim de un runtime como Node ronda los 150 a 250 MB frente a cerca de 1 GB de la version completa, y el arranque es de decimas de segundo.</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contenedor: aislamiento sin otro sistema operativo (2/2)</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Aqui esta la respuesta a la frase que hay que evitar: un contenedor no es «una maquina virtual ligera».</a:t>
            </a:r>
          </a:p>
          <a:p>
            <a:pPr>
              <a:spcAft>
                <a:spcPts val="800"/>
              </a:spcAft>
            </a:pPr>
            <a:r>
              <a:rPr sz="2000" b="0" i="0">
                <a:solidFill>
                  <a:srgbClr val="333333"/>
                </a:solidFill>
                <a:latin typeface="Calibri"/>
              </a:rPr>
              <a:t>–   La diferencia no es el peso sino el aislamiento; como el kernel es compartido, una vulnerabilidad del kernel puede afectar a todos los contenedores de esa maquina</a:t>
            </a:r>
          </a:p>
          <a:p>
            <a:pPr>
              <a:spcAft>
                <a:spcPts val="800"/>
              </a:spcAft>
            </a:pPr>
            <a:r>
              <a:rPr sz="2000" b="0" i="0">
                <a:solidFill>
                  <a:srgbClr val="333333"/>
                </a:solidFill>
                <a:latin typeface="Calibri"/>
              </a:rPr>
              <a:t>–   Y por eso los proveedores de nube siguen usando maquinas virtuales para separar clientes distintos y ejecutan los contenedores DENTRO de ellas.</a:t>
            </a:r>
          </a:p>
          <a:p>
            <a:pPr>
              <a:spcAft>
                <a:spcPts val="800"/>
              </a:spcAft>
            </a:pPr>
            <a:r>
              <a:rPr sz="2000" b="0" i="0">
                <a:solidFill>
                  <a:srgbClr val="333333"/>
                </a:solidFill>
                <a:latin typeface="Calibri"/>
              </a:rPr>
              <a:t>–   Contenedores y maquinas virtuales no compiten: se apilan.</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Dockerfile, imagen, contenedor y registro: los cuatro terminos (1/2)</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El Dockerfile es la receta: un archivo de texto con instrucciones.</a:t>
            </a:r>
          </a:p>
          <a:p>
            <a:pPr>
              <a:spcAft>
                <a:spcPts val="800"/>
              </a:spcAft>
            </a:pPr>
            <a:r>
              <a:rPr sz="2000" b="0" i="0">
                <a:solidFill>
                  <a:srgbClr val="333333"/>
                </a:solidFill>
                <a:latin typeface="Calibri"/>
              </a:rPr>
              <a:t>–   La imagen es el resultado de ejecutar esa receta, un paquete inmutable y de solo lectura con el codigo, las dependencias y la configuracion.</a:t>
            </a:r>
          </a:p>
          <a:p>
            <a:pPr>
              <a:spcAft>
                <a:spcPts val="800"/>
              </a:spcAft>
            </a:pPr>
            <a:r>
              <a:rPr sz="2000" b="0" i="0">
                <a:solidFill>
                  <a:srgbClr val="333333"/>
                </a:solidFill>
                <a:latin typeface="Calibri"/>
              </a:rPr>
              <a:t>–   El contenedor es una instancia en ejecucion de esa imagen, y de una misma imagen se pueden lanzar diez contenedores identicos, igual que de una clase se instancian muchos objetos</a:t>
            </a:r>
          </a:p>
          <a:p>
            <a:pPr>
              <a:spcAft>
                <a:spcPts val="800"/>
              </a:spcAft>
            </a:pPr>
            <a:r>
              <a:rPr sz="2000" b="0" i="0">
                <a:solidFill>
                  <a:srgbClr val="333333"/>
                </a:solidFill>
                <a:latin typeface="Calibri"/>
              </a:rPr>
              <a:t>–   Esa comparacion funciona bien con estudiantes que ya vieron programacion orientada a objetos.</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Dockerfile, imagen, contenedor y registro: los cuatro terminos (2/2)</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Y el registro, o registry, es el repositorio donde las imagenes se publican y se descargan.</a:t>
            </a:r>
          </a:p>
          <a:p>
            <a:pPr>
              <a:spcAft>
                <a:spcPts val="800"/>
              </a:spcAft>
            </a:pPr>
            <a:r>
              <a:rPr sz="2000" b="0" i="0">
                <a:solidFill>
                  <a:srgbClr val="333333"/>
                </a:solidFill>
                <a:latin typeface="Calibri"/>
              </a:rPr>
              <a:t>–   Un detalle que explica el comportamiento diario: la imagen se construye por capas, una por instruccion, y esas capas quedan en cache; si una instruccion no cambio, la reconstruccion la reutiliza en lugar de volver a ejecutarla.</a:t>
            </a:r>
          </a:p>
          <a:p>
            <a:pPr>
              <a:spcAft>
                <a:spcPts val="800"/>
              </a:spcAft>
            </a:pPr>
            <a:r>
              <a:rPr sz="2000" b="0" i="0">
                <a:solidFill>
                  <a:srgbClr val="333333"/>
                </a:solidFill>
                <a:latin typeface="Calibri"/>
              </a:rPr>
              <a:t>–   Hacerlo al reves obliga a reinstalar todo en cada construccion y convierte una build de 10 segundos en una de varios minutos.</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Primer ejemplo: el stub de la API de CloudLite (1/2)</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En CloudLite Turnos el estudiante contenerizara un stub de su API, es decir una version minima que responde algo verificable: el endpoint GET /health, que devuelve un cuerpo en formato JSON con al menos un campo que se pueda comprobar.</a:t>
            </a:r>
          </a:p>
          <a:p>
            <a:pPr>
              <a:spcAft>
                <a:spcPts val="800"/>
              </a:spcAft>
            </a:pPr>
            <a:r>
              <a:rPr sz="2000" b="0" i="0">
                <a:solidFill>
                  <a:srgbClr val="333333"/>
                </a:solidFill>
                <a:latin typeface="Calibri"/>
              </a:rPr>
              <a:t>–   FROM node:20-alpine elige la imagen base, o sea el punto de partida ya construido por otros, en este caso un Linux minimo con Node instalado; la etiqueta 20-alpine es FIJA y eso importa</a:t>
            </a:r>
          </a:p>
          <a:p>
            <a:pPr>
              <a:spcAft>
                <a:spcPts val="800"/>
              </a:spcAft>
            </a:pPr>
            <a:r>
              <a:rPr sz="2000" b="0" i="0">
                <a:solidFill>
                  <a:srgbClr val="333333"/>
                </a:solidFill>
                <a:latin typeface="Calibri"/>
              </a:rPr>
              <a:t>–   Porque con latest la imagen de hoy no es la de manana y la reconstruccion deja de ser reproducible.</a:t>
            </a:r>
          </a:p>
          <a:p>
            <a:pPr>
              <a:spcAft>
                <a:spcPts val="800"/>
              </a:spcAft>
            </a:pPr>
            <a:r>
              <a:rPr sz="2000" b="0" i="0">
                <a:solidFill>
                  <a:srgbClr val="333333"/>
                </a:solidFill>
                <a:latin typeface="Calibri"/>
              </a:rPr>
              <a:t>–   RUN npm ci --omit=dev las instala dentro de la imagen y no en la maquina del estudiante, lo cual es el punto entero del ejercicio</a:t>
            </a:r>
          </a:p>
          <a:p>
            <a:pPr>
              <a:spcAft>
                <a:spcPts val="800"/>
              </a:spcAft>
            </a:pPr>
            <a:r>
              <a:rPr sz="2000" b="0" i="0">
                <a:solidFill>
                  <a:srgbClr val="333333"/>
                </a:solidFill>
                <a:latin typeface="Calibri"/>
              </a:rPr>
              <a:t>–   Porque la dependencia viaja con el artefacto; se usa npm ci y no npm install porque respeta el archivo de bloqueo y por tanto instala exactamente las mismas versiones en cada construccion.</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Primer ejemplo: el stub de la API de CloudLite (2/2)</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EXPOSE 8080 documenta en que puerto escucha el proceso.</a:t>
            </a:r>
          </a:p>
          <a:p>
            <a:pPr>
              <a:spcAft>
                <a:spcPts val="800"/>
              </a:spcAft>
            </a:pPr>
            <a:r>
              <a:rPr sz="2000" b="0" i="0">
                <a:solidFill>
                  <a:srgbClr val="333333"/>
                </a:solidFill>
                <a:latin typeface="Calibri"/>
              </a:rPr>
              <a:t>–   Ese COPY.. tiene una consecuencia seria: copia TODO lo que haya en la carpeta, incluido el archivo.env con las credenciales, y una vez dentro de una capa ya no sale, ni siquiera borrandolo en una instruccion posterior.</a:t>
            </a:r>
          </a:p>
          <a:p>
            <a:pPr>
              <a:spcAft>
                <a:spcPts val="800"/>
              </a:spcAft>
            </a:pPr>
            <a:r>
              <a:rPr sz="2000" b="0" i="0">
                <a:solidFill>
                  <a:srgbClr val="333333"/>
                </a:solidFill>
                <a:latin typeface="Calibri"/>
              </a:rPr>
              <a:t>–   La diapositiva lo proyecta junto al Dockerfile y no como nota al pie a proposito: son dos archivos hermanos en la misma carpeta, y el estudiante que entrega el primero sin el segundo entrega un artefacto que filtra secretos.</a:t>
            </a:r>
          </a:p>
          <a:p>
            <a:pPr>
              <a:spcAft>
                <a:spcPts val="800"/>
              </a:spcAft>
            </a:pPr>
            <a:r>
              <a:rPr sz="2000" b="0" i="0">
                <a:solidFill>
                  <a:srgbClr val="333333"/>
                </a:solidFill>
                <a:latin typeface="Calibri"/>
              </a:rPr>
              <a:t>–   La regla se enuncia en una linea: si haces COPY.., el.dockerignore va al lado y se menciona en la entrega.</a:t>
            </a:r>
          </a:p>
          <a:p>
            <a:pPr>
              <a:spcAft>
                <a:spcPts val="800"/>
              </a:spcAft>
            </a:pPr>
            <a:r>
              <a:rPr sz="2000" b="0" i="0">
                <a:solidFill>
                  <a:srgbClr val="333333"/>
                </a:solidFill>
                <a:latin typeface="Calibri"/>
              </a:rPr>
              <a:t>–   Un ultimo detalle del que depende media clase: EXPOSE no abre nada, solo documenta.</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Construir, correr y verificar: los tres comandos y el contrato de salud (1/3)</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El primero es la construccion: docker build -t cloudlite-api:0.1.0.</a:t>
            </a:r>
          </a:p>
          <a:p>
            <a:pPr>
              <a:spcAft>
                <a:spcPts val="800"/>
              </a:spcAft>
            </a:pPr>
            <a:r>
              <a:rPr sz="2000" b="0" i="0">
                <a:solidFill>
                  <a:srgbClr val="333333"/>
                </a:solidFill>
                <a:latin typeface="Calibri"/>
              </a:rPr>
              <a:t>–   El -t asigna nombre y etiqueta, y el punto final no es adorno sino el contexto de construccion, es decir la carpeta cuyo contenido se le entrega al motor.</a:t>
            </a:r>
          </a:p>
          <a:p>
            <a:pPr>
              <a:spcAft>
                <a:spcPts val="800"/>
              </a:spcAft>
            </a:pPr>
            <a:r>
              <a:rPr sz="2000" b="0" i="0">
                <a:solidFill>
                  <a:srgbClr val="333333"/>
                </a:solidFill>
                <a:latin typeface="Calibri"/>
              </a:rPr>
              <a:t>–   Un build sin etiqueta funciona y por eso el estudiante no nota el problema: Docker le pone latest en silencio, y a partir de ahi nadie puede decir que version esta corriendo.</a:t>
            </a:r>
          </a:p>
          <a:p>
            <a:pPr>
              <a:spcAft>
                <a:spcPts val="800"/>
              </a:spcAft>
            </a:pPr>
            <a:r>
              <a:rPr sz="2000" b="0" i="0">
                <a:solidFill>
                  <a:srgbClr val="333333"/>
                </a:solidFill>
                <a:latin typeface="Calibri"/>
              </a:rPr>
              <a:t>–   Nombre Y etiqueta, siempre; la etiqueta suelta no basta y el nombre solo tampoco.</a:t>
            </a:r>
          </a:p>
          <a:p>
            <a:pPr>
              <a:spcAft>
                <a:spcPts val="800"/>
              </a:spcAft>
            </a:pPr>
            <a:r>
              <a:rPr sz="2000" b="0" i="0">
                <a:solidFill>
                  <a:srgbClr val="333333"/>
                </a:solidFill>
                <a:latin typeface="Calibri"/>
              </a:rPr>
              <a:t>–   El segundo es la ejecucion: docker run -d -p 8081:8080 --name api cloudlite-api:0.1.0.</a:t>
            </a:r>
          </a:p>
          <a:p>
            <a:pPr>
              <a:spcAft>
                <a:spcPts val="800"/>
              </a:spcAft>
            </a:pPr>
            <a:r>
              <a:rPr sz="2000" b="0" i="0">
                <a:solidFill>
                  <a:srgbClr val="333333"/>
                </a:solidFill>
                <a:latin typeface="Calibri"/>
              </a:rPr>
              <a:t>–   El corazon de la instruccion es el -p, y conviene escribirlo en el tablero con las dos etiquetas encima: el numero de la IZQUIERDA es el del anfitrion, la maquina desde la que uno abre el navegador, y el de la DERECHA es el del contenedor, el mismo del EXPOSE.</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Construir, correr y verificar: los tres comandos y el contrato de salud (2/3)</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Se lee de derecha a izquierda: el puerto 8080 de dentro queda accesible como 8081 desde fuera.</a:t>
            </a:r>
          </a:p>
          <a:p>
            <a:pPr>
              <a:spcAft>
                <a:spcPts val="800"/>
              </a:spcAft>
            </a:pPr>
            <a:r>
              <a:rPr sz="2000" b="0" i="0">
                <a:solidFill>
                  <a:srgbClr val="333333"/>
                </a:solidFill>
                <a:latin typeface="Calibri"/>
              </a:rPr>
              <a:t>–   En el ejemplo estan a proposito DISTINTOS, porque cuando se escribe -p 8080:8080 los dos lados se confunden y el estudiante no puede decir cual es cual; en la actividad se le pide justamente explicar la diferencia.</a:t>
            </a:r>
          </a:p>
          <a:p>
            <a:pPr>
              <a:spcAft>
                <a:spcPts val="800"/>
              </a:spcAft>
            </a:pPr>
            <a:r>
              <a:rPr sz="2000" b="0" i="0">
                <a:solidFill>
                  <a:srgbClr val="333333"/>
                </a:solidFill>
                <a:latin typeface="Calibri"/>
              </a:rPr>
              <a:t>–   El tercero es la verificacion, y aqui hay un concepto y no solo un comando.</a:t>
            </a:r>
          </a:p>
          <a:p>
            <a:pPr>
              <a:spcAft>
                <a:spcPts val="800"/>
              </a:spcAft>
            </a:pPr>
            <a:r>
              <a:rPr sz="2000" b="0" i="0">
                <a:solidFill>
                  <a:srgbClr val="333333"/>
                </a:solidFill>
                <a:latin typeface="Calibri"/>
              </a:rPr>
              <a:t>–   Un endpoint de salud es una ruta cuyo unico proposito es que alguien de afuera pueda preguntar si el servicio esta en condiciones de atender</a:t>
            </a:r>
          </a:p>
          <a:p>
            <a:pPr>
              <a:spcAft>
                <a:spcPts val="800"/>
              </a:spcAft>
            </a:pPr>
            <a:r>
              <a:rPr sz="2000" b="0" i="0">
                <a:solidFill>
                  <a:srgbClr val="333333"/>
                </a:solidFill>
                <a:latin typeface="Calibri"/>
              </a:rPr>
              <a:t>–   Y su contrato tiene TRES datos, los tres exigibles: la ruta (GET /health), el codigo de estado (200 cuando el servicio puede atender, 503 cuando esta arriba pero sin su dependencia, tipicamente la base de datos) y el cuerpo con su formato declarado.</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Construir, correr y verificar: los tres comandos y el contrato de salud (3/3)</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El tercero es el que se olvida y el que hace util al endpoint: un 200 con el cuerpo vacio no distingue «vivo» de «vivo pero roto», porque el proceso puede estar respondiendo mientras su conexion a datos esta caida.</a:t>
            </a:r>
          </a:p>
          <a:p>
            <a:pPr>
              <a:spcAft>
                <a:spcPts val="800"/>
              </a:spcAft>
            </a:pPr>
            <a:r>
              <a:rPr sz="2000" b="0" i="0">
                <a:solidFill>
                  <a:srgbClr val="333333"/>
                </a:solidFill>
                <a:latin typeface="Calibri"/>
              </a:rPr>
              <a:t>–   Se comprueba con curl -i http://localhost:8081/health, y el -i importa: sin el, curl imprime el cuerpo pero esconde el codigo de estado, que es un tercio del contrato.</a:t>
            </a:r>
          </a:p>
          <a:p>
            <a:pPr>
              <a:spcAft>
                <a:spcPts val="800"/>
              </a:spcAft>
            </a:pPr>
            <a:r>
              <a:rPr sz="2000" b="0" i="0">
                <a:solidFill>
                  <a:srgbClr val="333333"/>
                </a:solidFill>
                <a:latin typeface="Calibri"/>
              </a:rPr>
              <a:t>–   Este mismo endpoint reaparece en la Clase 7, donde el balanceador lo consulta para decidir si sigue enviandole trafico a una instancia, y en la Clase 8, donde el pipeline lo usa como prueba de humo despues de construir la imagen.</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Segundo ejemplo: leer las siete columnas de docker ps (1/2)</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Tras ejecutar el contenedor, el comando docker ps lista lo que esta corriendo con siete columnas: identificador del contenedor, imagen de la que proviene, comando en ejecucion, tiempo desde su creacion, estado, puertos publicados y nombre asignado.</a:t>
            </a:r>
          </a:p>
          <a:p>
            <a:pPr>
              <a:spcAft>
                <a:spcPts val="800"/>
              </a:spcAft>
            </a:pPr>
            <a:r>
              <a:rPr sz="2000" b="0" i="0">
                <a:solidFill>
                  <a:srgbClr val="333333"/>
                </a:solidFill>
                <a:latin typeface="Calibri"/>
              </a:rPr>
              <a:t>–   Un estudiante mas adelantado puede levantar dos contenedores, la API y un stub de notificaciones</a:t>
            </a:r>
          </a:p>
          <a:p>
            <a:pPr>
              <a:spcAft>
                <a:spcPts val="800"/>
              </a:spcAft>
            </a:pPr>
            <a:r>
              <a:rPr sz="2000" b="0" i="0">
                <a:solidFill>
                  <a:srgbClr val="333333"/>
                </a:solidFill>
                <a:latin typeface="Calibri"/>
              </a:rPr>
              <a:t>–   Y comprobar algo que sera central en la Clase 4: desde el contenedor de la API, la direccion localhost NO es la maquina anfitriona ni el otro contenedor, es el propio contenedor</a:t>
            </a:r>
          </a:p>
          <a:p>
            <a:pPr>
              <a:spcAft>
                <a:spcPts val="800"/>
              </a:spcAft>
            </a:pPr>
            <a:r>
              <a:rPr sz="2000" b="0" i="0">
                <a:solidFill>
                  <a:srgbClr val="333333"/>
                </a:solidFill>
                <a:latin typeface="Calibri"/>
              </a:rPr>
              <a:t>–   Y para que dos contenedores se hablen hay que ponerlos en una misma red y llamarse por nombre.</a:t>
            </a:r>
          </a:p>
          <a:p>
            <a:pPr>
              <a:spcAft>
                <a:spcPts val="800"/>
              </a:spcAft>
            </a:pPr>
            <a:r>
              <a:rPr sz="2000" b="0" i="0">
                <a:solidFill>
                  <a:srgbClr val="333333"/>
                </a:solidFill>
                <a:latin typeface="Calibri"/>
              </a:rPr>
              <a:t>–   Todo esto ocurre en Killercoda (killercoda.com, cuenta gratuita y sin tarjeta, escenario Ubuntu), que entrega una terminal Linux real con Docker ya instalado dentro del navegador, sin instalar Docker Desktop</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Segundo ejemplo: leer las siete columnas de docker ps (2/2)</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Que en equipos institucionales suele estar bloqueado y tiene condiciones de licencia para organizaciones grandes.</a:t>
            </a:r>
          </a:p>
          <a:p>
            <a:pPr>
              <a:spcAft>
                <a:spcPts val="800"/>
              </a:spcAft>
            </a:pPr>
            <a:r>
              <a:rPr sz="2000" b="0" i="0">
                <a:solidFill>
                  <a:srgbClr val="333333"/>
                </a:solidFill>
                <a:latin typeface="Calibri"/>
              </a:rPr>
              <a:t>–   El primero: la sesion caduca a una hora y al cerrarse se pierde lo que exista solo alli.</a:t>
            </a:r>
          </a:p>
          <a:p>
            <a:pPr>
              <a:spcAft>
                <a:spcPts val="800"/>
              </a:spcAft>
            </a:pPr>
            <a:r>
              <a:rPr sz="2000" b="0" i="0">
                <a:solidFill>
                  <a:srgbClr val="333333"/>
                </a:solidFill>
                <a:latin typeface="Calibri"/>
              </a:rPr>
              <a:t>–   El segundo: en el plan gratuito solo se trabaja un escenario a la vez, asi que no sirve dejar dos labs abiertos.</a:t>
            </a:r>
          </a:p>
          <a:p>
            <a:pPr>
              <a:spcAft>
                <a:spcPts val="800"/>
              </a:spcAft>
            </a:pPr>
            <a:r>
              <a:rPr sz="2000" b="0" i="0">
                <a:solidFill>
                  <a:srgbClr val="333333"/>
                </a:solidFill>
                <a:latin typeface="Calibri"/>
              </a:rPr>
              <a:t>–   La alterna, si Killercoda no carga, es LabEx Docker Playground, que cumple la misma funcion tambien gratis y en el navegador</a:t>
            </a:r>
          </a:p>
          <a:p>
            <a:pPr>
              <a:spcAft>
                <a:spcPts val="800"/>
              </a:spcAft>
            </a:pPr>
            <a:r>
              <a:rPr sz="2000" b="0" i="0">
                <a:solidFill>
                  <a:srgbClr val="333333"/>
                </a:solidFill>
                <a:latin typeface="Calibri"/>
              </a:rPr>
              <a:t>–   Pero con una restriccion mas dura que conviene mencionar: su plan gratuito da solo tres sesiones al dia, de modo que quien la use para depurar puede quedarse sin intentos justo el dia de la entrega.</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Preguntas frecuentes y cierre conceptual () (1/4)</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Por que mi contenedor arranca y se muere de inmediato: porque un contenedor vive exactamente lo que vive su proceso principal, y si el comando termina, el contenedor termina.</a:t>
            </a:r>
          </a:p>
          <a:p>
            <a:pPr>
              <a:spcAft>
                <a:spcPts val="800"/>
              </a:spcAft>
            </a:pPr>
            <a:r>
              <a:rPr sz="2000" b="0" i="0">
                <a:solidFill>
                  <a:srgbClr val="333333"/>
                </a:solidFill>
                <a:latin typeface="Calibri"/>
              </a:rPr>
              <a:t>–   No es un error, es el diseno; un contenedor no es una maquina encendida esperando ordenes, es un proceso envuelto en aislamiento, y la solucion es que el comando quede corriendo en primer plano.</a:t>
            </a:r>
          </a:p>
          <a:p>
            <a:pPr>
              <a:spcAft>
                <a:spcPts val="800"/>
              </a:spcAft>
            </a:pPr>
            <a:r>
              <a:rPr sz="2000" b="0" i="0">
                <a:solidFill>
                  <a:srgbClr val="333333"/>
                </a:solidFill>
                <a:latin typeface="Calibri"/>
              </a:rPr>
              <a:t>–   Segunda: donde quedan mis datos si borro el contenedor.</a:t>
            </a:r>
          </a:p>
          <a:p>
            <a:pPr>
              <a:spcAft>
                <a:spcPts val="800"/>
              </a:spcAft>
            </a:pPr>
            <a:r>
              <a:rPr sz="2000" b="0" i="0">
                <a:solidFill>
                  <a:srgbClr val="333333"/>
                </a:solidFill>
                <a:latin typeface="Calibri"/>
              </a:rPr>
              <a:t>–   Se pierden, porque el sistema de archivos del contenedor es efimero; para persistir hay que montar un volumen, es decir un almacenamiento cuyo ciclo de vida es independiente del contenedor</a:t>
            </a:r>
          </a:p>
          <a:p>
            <a:pPr>
              <a:spcAft>
                <a:spcPts val="800"/>
              </a:spcAft>
            </a:pPr>
            <a:r>
              <a:rPr sz="2000" b="0" i="0">
                <a:solidFill>
                  <a:srgbClr val="333333"/>
                </a:solidFill>
                <a:latin typeface="Calibri"/>
              </a:rPr>
              <a:t>–   Y esa es la razon por la cual una base de datos no se trata igual que una API, tema que reaparece en la Clase 7 con almacenamiento y en la Clase 13 al discutir que piezas se pueden replicar.</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Preguntas frecuentes y cierre conceptual () (2/4)</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Tercera: entonces la base de datos tambien va en un contenedor.</a:t>
            </a:r>
          </a:p>
          <a:p>
            <a:pPr>
              <a:spcAft>
                <a:spcPts val="800"/>
              </a:spcAft>
            </a:pPr>
            <a:r>
              <a:rPr sz="2000" b="0" i="0">
                <a:solidFill>
                  <a:srgbClr val="333333"/>
                </a:solidFill>
                <a:latin typeface="Calibri"/>
              </a:rPr>
              <a:t>–   Para desarrollo y para este curso si, y es la practica normal; en produccion la respuesta honesta es que muchas organizaciones prefieren un servicio de datos gestionado, que es precisamente la decision registrada en el ADR de la Clase 2.</a:t>
            </a:r>
          </a:p>
          <a:p>
            <a:pPr>
              <a:spcAft>
                <a:spcPts val="800"/>
              </a:spcAft>
            </a:pPr>
            <a:r>
              <a:rPr sz="2000" b="0" i="0">
                <a:solidFill>
                  <a:srgbClr val="333333"/>
                </a:solidFill>
                <a:latin typeface="Calibri"/>
              </a:rPr>
              <a:t>–   Antes de cerrar hay que desactivar una colision de vocabulario que arruina la Clase 4 si no se advierte hoy.</a:t>
            </a:r>
          </a:p>
          <a:p>
            <a:pPr>
              <a:spcAft>
                <a:spcPts val="800"/>
              </a:spcAft>
            </a:pPr>
            <a:r>
              <a:rPr sz="2000" b="0" i="0">
                <a:solidFill>
                  <a:srgbClr val="333333"/>
                </a:solidFill>
                <a:latin typeface="Calibri"/>
              </a:rPr>
              <a:t>–   En el modelo C4, la palabra contenedor significa cualquier cosa que se ejecuta o almacena de forma independiente, como una aplicacion web, una API o una base de datos, y es un concepto de diagrama anterior a Docker.</a:t>
            </a:r>
          </a:p>
          <a:p>
            <a:pPr>
              <a:spcAft>
                <a:spcPts val="800"/>
              </a:spcAft>
            </a:pPr>
            <a:r>
              <a:rPr sz="2000" b="0" i="0">
                <a:solidFill>
                  <a:srgbClr val="333333"/>
                </a:solidFill>
                <a:latin typeface="Calibri"/>
              </a:rPr>
              <a:t>–   El contenedor de Docker, en cambio, es un mecanismo concreto de empaquetado y ejecucion.</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Preguntas frecuentes y cierre conceptual () (3/4)</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Se parecen y a menudo coinciden uno a uno, pero no son sinonimos: una base de datos gestionada que nadie contenerizo sigue siendo un contenedor en el sentido de C4.</a:t>
            </a:r>
          </a:p>
          <a:p>
            <a:pPr>
              <a:spcAft>
                <a:spcPts val="800"/>
              </a:spcAft>
            </a:pPr>
            <a:r>
              <a:rPr sz="2000" b="0" i="0">
                <a:solidFill>
                  <a:srgbClr val="333333"/>
                </a:solidFill>
                <a:latin typeface="Calibri"/>
              </a:rPr>
              <a:t>–   Decirlo hoy, mientras el estudiante tiene un docker ps en la pantalla, cuesta dos minutos</a:t>
            </a:r>
          </a:p>
          <a:p>
            <a:pPr>
              <a:spcAft>
                <a:spcPts val="800"/>
              </a:spcAft>
            </a:pPr>
            <a:r>
              <a:rPr sz="2000" b="0" i="0">
                <a:solidFill>
                  <a:srgbClr val="333333"/>
                </a:solidFill>
                <a:latin typeface="Calibri"/>
              </a:rPr>
              <a:t>–   No decirlo cuesta media clase de confusion la semana siguiente, cuando se dibuje el C4 Containers de CloudLite y alguien pregunte si debe dockerizar cada caja del diagrama.</a:t>
            </a:r>
          </a:p>
          <a:p>
            <a:pPr>
              <a:spcAft>
                <a:spcPts val="800"/>
              </a:spcAft>
            </a:pPr>
            <a:r>
              <a:rPr sz="2000" b="0" i="0">
                <a:solidFill>
                  <a:srgbClr val="333333"/>
                </a:solidFill>
                <a:latin typeface="Calibri"/>
              </a:rPr>
              <a:t>–   Error tipico del docente que no domina el tema: repetir que un contenedor es una maquina virtual liviana y dejarlo ahi.</a:t>
            </a:r>
          </a:p>
          <a:p>
            <a:pPr>
              <a:spcAft>
                <a:spcPts val="800"/>
              </a:spcAft>
            </a:pPr>
            <a:r>
              <a:rPr sz="2000" b="0" i="0">
                <a:solidFill>
                  <a:srgbClr val="333333"/>
                </a:solidFill>
                <a:latin typeface="Calibri"/>
              </a:rPr>
              <a:t>–   El estudiante que aprende eso concluye que puede correr cualquier cosa en cualquier parte con aislamiento total</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Preguntas frecuentes y cierre conceptual () (4/4)</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Y en la Clase 6 no entendera por que el kernel compartido es un asunto de seguridad, ni por que existe la recomendacion de no ejecutar el proceso como usuario root dentro del contenedor.</a:t>
            </a:r>
          </a:p>
          <a:p>
            <a:pPr>
              <a:spcAft>
                <a:spcPts val="800"/>
              </a:spcAft>
            </a:pPr>
            <a:r>
              <a:rPr sz="2000" b="0" i="0">
                <a:solidFill>
                  <a:srgbClr val="333333"/>
                </a:solidFill>
                <a:latin typeface="Calibri"/>
              </a:rPr>
              <a:t>–   El segundo error es convertir la clase en un recetario de comandos: dictar docker build, docker run y docker ps al tablero para que todos copien, sin explicar la distincion entre imagen y contenedor ni el modelo de capas.</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Dockerfile minimo, capa por capa</a:t>
            </a:r>
          </a:p>
        </p:txBody>
      </p:sp>
      <p:sp>
        <p:nvSpPr>
          <p:cNvPr id="5" name="Rounded Rectangle 4"/>
          <p:cNvSpPr/>
          <p:nvPr/>
        </p:nvSpPr>
        <p:spPr>
          <a:xfrm>
            <a:off x="457200" y="1261872"/>
            <a:ext cx="11277295" cy="5093208"/>
          </a:xfrm>
          <a:prstGeom prst="roundRect">
            <a:avLst>
              <a:gd name="adj" fmla="val 12000"/>
            </a:avLst>
          </a:prstGeom>
          <a:solidFill>
            <a:srgbClr val="1E2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200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307592"/>
            <a:ext cx="10820095" cy="256032"/>
          </a:xfrm>
          <a:prstGeom prst="rect">
            <a:avLst/>
          </a:prstGeom>
          <a:noFill/>
        </p:spPr>
        <p:txBody>
          <a:bodyPr wrap="square" anchor="ctr"/>
          <a:lstStyle/>
          <a:p>
            <a:r>
              <a:rPr sz="1000" b="1" i="0">
                <a:solidFill>
                  <a:srgbClr val="269CCB"/>
                </a:solidFill>
                <a:latin typeface="Calibri"/>
              </a:rPr>
              <a:t>● ● ●</a:t>
            </a:r>
          </a:p>
        </p:txBody>
      </p:sp>
      <p:sp>
        <p:nvSpPr>
          <p:cNvPr id="8" name="TextBox 7"/>
          <p:cNvSpPr txBox="1"/>
          <p:nvPr/>
        </p:nvSpPr>
        <p:spPr>
          <a:xfrm>
            <a:off x="777240" y="1719072"/>
            <a:ext cx="10637215" cy="4453128"/>
          </a:xfrm>
          <a:prstGeom prst="rect">
            <a:avLst/>
          </a:prstGeom>
          <a:noFill/>
        </p:spPr>
        <p:txBody>
          <a:bodyPr wrap="square">
            <a:spAutoFit/>
          </a:bodyPr>
          <a:lstStyle/>
          <a:p>
            <a:pPr>
              <a:spcAft>
                <a:spcPts val="400"/>
              </a:spcAft>
            </a:pPr>
            <a:r>
              <a:rPr sz="1400" b="0" i="0">
                <a:solidFill>
                  <a:srgbClr val="FFFFFF"/>
                </a:solidFill>
                <a:latin typeface="Calibri"/>
              </a:rPr>
              <a:t># Cada instruccion es UNA CAPA. El orden decide que se reconstruye.</a:t>
            </a:r>
          </a:p>
          <a:p>
            <a:pPr>
              <a:spcAft>
                <a:spcPts val="400"/>
              </a:spcAft>
            </a:pPr>
            <a:r>
              <a:rPr sz="1400" b="0" i="0">
                <a:solidFill>
                  <a:srgbClr val="FFFFFF"/>
                </a:solidFill>
                <a:latin typeface="Calibri"/>
              </a:rPr>
              <a:t>FROM node:20-alpine</a:t>
            </a:r>
          </a:p>
          <a:p>
            <a:pPr>
              <a:spcAft>
                <a:spcPts val="400"/>
              </a:spcAft>
            </a:pPr>
            <a:r>
              <a:rPr sz="1400" b="0" i="0">
                <a:solidFill>
                  <a:srgbClr val="FFFFFF"/>
                </a:solidFill>
                <a:latin typeface="Calibri"/>
              </a:rPr>
              <a:t/>
            </a:r>
          </a:p>
          <a:p>
            <a:pPr>
              <a:spcAft>
                <a:spcPts val="400"/>
              </a:spcAft>
            </a:pPr>
            <a:r>
              <a:rPr sz="1400" b="0" i="0">
                <a:solidFill>
                  <a:srgbClr val="FFFFFF"/>
                </a:solidFill>
                <a:latin typeface="Calibri"/>
              </a:rPr>
              <a:t>WORKDIR /app</a:t>
            </a:r>
          </a:p>
          <a:p>
            <a:pPr>
              <a:spcAft>
                <a:spcPts val="400"/>
              </a:spcAft>
            </a:pPr>
            <a:r>
              <a:rPr sz="1400" b="0" i="0">
                <a:solidFill>
                  <a:srgbClr val="FFFFFF"/>
                </a:solidFill>
                <a:latin typeface="Calibri"/>
              </a:rPr>
              <a:t/>
            </a:r>
          </a:p>
          <a:p>
            <a:pPr>
              <a:spcAft>
                <a:spcPts val="400"/>
              </a:spcAft>
            </a:pPr>
            <a:r>
              <a:rPr sz="1400" b="0" i="0">
                <a:solidFill>
                  <a:srgbClr val="FFFFFF"/>
                </a:solidFill>
                <a:latin typeface="Calibri"/>
              </a:rPr>
              <a:t># Primero las dependencias: si el codigo cambia y package.json no,</a:t>
            </a:r>
          </a:p>
          <a:p>
            <a:pPr>
              <a:spcAft>
                <a:spcPts val="400"/>
              </a:spcAft>
            </a:pPr>
            <a:r>
              <a:rPr sz="1400" b="0" i="0">
                <a:solidFill>
                  <a:srgbClr val="FFFFFF"/>
                </a:solidFill>
                <a:latin typeface="Calibri"/>
              </a:rPr>
              <a:t># esta capa se reutiliza de la cache y el build tarda segundos.</a:t>
            </a:r>
          </a:p>
          <a:p>
            <a:pPr>
              <a:spcAft>
                <a:spcPts val="400"/>
              </a:spcAft>
            </a:pPr>
            <a:r>
              <a:rPr sz="1400" b="0" i="0">
                <a:solidFill>
                  <a:srgbClr val="FFFFFF"/>
                </a:solidFill>
                <a:latin typeface="Calibri"/>
              </a:rPr>
              <a:t>COPY package*.json ./</a:t>
            </a:r>
          </a:p>
          <a:p>
            <a:pPr>
              <a:spcAft>
                <a:spcPts val="400"/>
              </a:spcAft>
            </a:pPr>
            <a:r>
              <a:rPr sz="1400" b="0" i="0">
                <a:solidFill>
                  <a:srgbClr val="FFFFFF"/>
                </a:solidFill>
                <a:latin typeface="Calibri"/>
              </a:rPr>
              <a:t>RUN npm ci --omit=dev</a:t>
            </a:r>
          </a:p>
          <a:p>
            <a:pPr>
              <a:spcAft>
                <a:spcPts val="400"/>
              </a:spcAft>
            </a:pPr>
            <a:r>
              <a:rPr sz="1400" b="0" i="0">
                <a:solidFill>
                  <a:srgbClr val="FFFFFF"/>
                </a:solidFill>
                <a:latin typeface="Calibri"/>
              </a:rPr>
              <a:t/>
            </a:r>
          </a:p>
          <a:p>
            <a:pPr>
              <a:spcAft>
                <a:spcPts val="400"/>
              </a:spcAft>
            </a:pPr>
            <a:r>
              <a:rPr sz="1400" b="0" i="0">
                <a:solidFill>
                  <a:srgbClr val="FFFFFF"/>
                </a:solidFill>
                <a:latin typeface="Calibri"/>
              </a:rPr>
              <a:t># Despues el codigo, que es lo que cambia en cada commit.</a:t>
            </a:r>
          </a:p>
          <a:p>
            <a:pPr>
              <a:spcAft>
                <a:spcPts val="400"/>
              </a:spcAft>
            </a:pPr>
            <a:r>
              <a:rPr sz="1400" b="0" i="0">
                <a:solidFill>
                  <a:srgbClr val="FFFFFF"/>
                </a:solidFill>
                <a:latin typeface="Calibri"/>
              </a:rPr>
              <a:t>COPY..</a:t>
            </a:r>
          </a:p>
          <a:p>
            <a:pPr>
              <a:spcAft>
                <a:spcPts val="400"/>
              </a:spcAft>
            </a:pPr>
            <a:r>
              <a:rPr sz="1400" b="0" i="0">
                <a:solidFill>
                  <a:srgbClr val="FFFFFF"/>
                </a:solidFill>
                <a:latin typeface="Calibri"/>
              </a:rPr>
              <a:t/>
            </a:r>
          </a:p>
          <a:p>
            <a:pPr>
              <a:spcAft>
                <a:spcPts val="400"/>
              </a:spcAft>
            </a:pPr>
            <a:r>
              <a:rPr sz="1400" b="0" i="0">
                <a:solidFill>
                  <a:srgbClr val="FFFFFF"/>
                </a:solidFill>
                <a:latin typeface="Calibri"/>
              </a:rPr>
              <a:t>EXPOSE 3000</a:t>
            </a:r>
          </a:p>
          <a:p>
            <a:pPr>
              <a:spcAft>
                <a:spcPts val="400"/>
              </a:spcAft>
            </a:pPr>
            <a:r>
              <a:rPr sz="1400" b="0" i="0">
                <a:solidFill>
                  <a:srgbClr val="FFFFFF"/>
                </a:solidFill>
                <a:latin typeface="Calibri"/>
              </a:rPr>
              <a:t>CMD ["node", "server.js"]</a:t>
            </a:r>
          </a:p>
        </p:txBody>
      </p:sp>
      <p:sp>
        <p:nvSpPr>
          <p:cNvPr id="9" name="TextBox 8"/>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ciclo completo: construir, ejecutar, verificar</a:t>
            </a:r>
          </a:p>
        </p:txBody>
      </p:sp>
      <p:sp>
        <p:nvSpPr>
          <p:cNvPr id="5" name="Rounded Rectangle 4"/>
          <p:cNvSpPr/>
          <p:nvPr/>
        </p:nvSpPr>
        <p:spPr>
          <a:xfrm>
            <a:off x="457200" y="1261872"/>
            <a:ext cx="11277295" cy="5093208"/>
          </a:xfrm>
          <a:prstGeom prst="roundRect">
            <a:avLst>
              <a:gd name="adj" fmla="val 12000"/>
            </a:avLst>
          </a:prstGeom>
          <a:solidFill>
            <a:srgbClr val="1E2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200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307592"/>
            <a:ext cx="10820095" cy="256032"/>
          </a:xfrm>
          <a:prstGeom prst="rect">
            <a:avLst/>
          </a:prstGeom>
          <a:noFill/>
        </p:spPr>
        <p:txBody>
          <a:bodyPr wrap="square" anchor="ctr"/>
          <a:lstStyle/>
          <a:p>
            <a:r>
              <a:rPr sz="1000" b="1" i="0">
                <a:solidFill>
                  <a:srgbClr val="269CCB"/>
                </a:solidFill>
                <a:latin typeface="Calibri"/>
              </a:rPr>
              <a:t>● ● ●</a:t>
            </a:r>
          </a:p>
        </p:txBody>
      </p:sp>
      <p:sp>
        <p:nvSpPr>
          <p:cNvPr id="8" name="TextBox 7"/>
          <p:cNvSpPr txBox="1"/>
          <p:nvPr/>
        </p:nvSpPr>
        <p:spPr>
          <a:xfrm>
            <a:off x="777240" y="1719072"/>
            <a:ext cx="10637215" cy="4453128"/>
          </a:xfrm>
          <a:prstGeom prst="rect">
            <a:avLst/>
          </a:prstGeom>
          <a:noFill/>
        </p:spPr>
        <p:txBody>
          <a:bodyPr wrap="square">
            <a:spAutoFit/>
          </a:bodyPr>
          <a:lstStyle/>
          <a:p>
            <a:pPr>
              <a:spcAft>
                <a:spcPts val="400"/>
              </a:spcAft>
            </a:pPr>
            <a:r>
              <a:rPr sz="1400" b="0" i="0">
                <a:solidFill>
                  <a:srgbClr val="FFFFFF"/>
                </a:solidFill>
                <a:latin typeface="Calibri"/>
              </a:rPr>
              <a:t># 1. construir la imagen y etiquetarla con version</a:t>
            </a:r>
          </a:p>
          <a:p>
            <a:pPr>
              <a:spcAft>
                <a:spcPts val="400"/>
              </a:spcAft>
            </a:pPr>
            <a:r>
              <a:rPr sz="1400" b="0" i="0">
                <a:solidFill>
                  <a:srgbClr val="FFFFFF"/>
                </a:solidFill>
                <a:latin typeface="Calibri"/>
              </a:rPr>
              <a:t>$ docker build -t cloudlite-api:0.1.0.</a:t>
            </a:r>
          </a:p>
          <a:p>
            <a:pPr>
              <a:spcAft>
                <a:spcPts val="400"/>
              </a:spcAft>
            </a:pPr>
            <a:r>
              <a:rPr sz="1400" b="0" i="0">
                <a:solidFill>
                  <a:srgbClr val="FFFFFF"/>
                </a:solidFill>
                <a:latin typeface="Calibri"/>
              </a:rPr>
              <a:t/>
            </a:r>
          </a:p>
          <a:p>
            <a:pPr>
              <a:spcAft>
                <a:spcPts val="400"/>
              </a:spcAft>
            </a:pPr>
            <a:r>
              <a:rPr sz="1400" b="0" i="0">
                <a:solidFill>
                  <a:srgbClr val="FFFFFF"/>
                </a:solidFill>
                <a:latin typeface="Calibri"/>
              </a:rPr>
              <a:t># 2. ejecutarla publicando el puerto (host:contenedor)</a:t>
            </a:r>
          </a:p>
          <a:p>
            <a:pPr>
              <a:spcAft>
                <a:spcPts val="400"/>
              </a:spcAft>
            </a:pPr>
            <a:r>
              <a:rPr sz="1400" b="0" i="0">
                <a:solidFill>
                  <a:srgbClr val="FFFFFF"/>
                </a:solidFill>
                <a:latin typeface="Calibri"/>
              </a:rPr>
              <a:t>$ docker run -d --name cloudlite -p 8080:3000 cloudlite-api:0.1.0</a:t>
            </a:r>
          </a:p>
          <a:p>
            <a:pPr>
              <a:spcAft>
                <a:spcPts val="400"/>
              </a:spcAft>
            </a:pPr>
            <a:r>
              <a:rPr sz="1400" b="0" i="0">
                <a:solidFill>
                  <a:srgbClr val="FFFFFF"/>
                </a:solidFill>
                <a:latin typeface="Calibri"/>
              </a:rPr>
              <a:t/>
            </a:r>
          </a:p>
          <a:p>
            <a:pPr>
              <a:spcAft>
                <a:spcPts val="400"/>
              </a:spcAft>
            </a:pPr>
            <a:r>
              <a:rPr sz="1400" b="0" i="0">
                <a:solidFill>
                  <a:srgbClr val="FFFFFF"/>
                </a:solidFill>
                <a:latin typeface="Calibri"/>
              </a:rPr>
              <a:t># 3. verificar que responde DE VERDAD, no que el contenedor existe</a:t>
            </a:r>
          </a:p>
          <a:p>
            <a:pPr>
              <a:spcAft>
                <a:spcPts val="400"/>
              </a:spcAft>
            </a:pPr>
            <a:r>
              <a:rPr sz="1400" b="0" i="0">
                <a:solidFill>
                  <a:srgbClr val="FFFFFF"/>
                </a:solidFill>
                <a:latin typeface="Calibri"/>
              </a:rPr>
              <a:t>$ curl -i http://localhost:8080/health</a:t>
            </a:r>
          </a:p>
          <a:p>
            <a:pPr>
              <a:spcAft>
                <a:spcPts val="400"/>
              </a:spcAft>
            </a:pPr>
            <a:r>
              <a:rPr sz="1400" b="0" i="0">
                <a:solidFill>
                  <a:srgbClr val="FFFFFF"/>
                </a:solidFill>
                <a:latin typeface="Calibri"/>
              </a:rPr>
              <a:t>HTTP/1.1 200 OK</a:t>
            </a:r>
          </a:p>
          <a:p>
            <a:pPr>
              <a:spcAft>
                <a:spcPts val="400"/>
              </a:spcAft>
            </a:pPr>
            <a:r>
              <a:rPr sz="1400" b="0" i="0">
                <a:solidFill>
                  <a:srgbClr val="FFFFFF"/>
                </a:solidFill>
                <a:latin typeface="Calibri"/>
              </a:rPr>
              <a:t/>
            </a:r>
          </a:p>
          <a:p>
            <a:pPr>
              <a:spcAft>
                <a:spcPts val="400"/>
              </a:spcAft>
            </a:pPr>
            <a:r>
              <a:rPr sz="1400" b="0" i="0">
                <a:solidFill>
                  <a:srgbClr val="FFFFFF"/>
                </a:solidFill>
                <a:latin typeface="Calibri"/>
              </a:rPr>
              <a:t># 4. si no responde, el log es el primer sitio, no el ultimo</a:t>
            </a:r>
          </a:p>
          <a:p>
            <a:pPr>
              <a:spcAft>
                <a:spcPts val="400"/>
              </a:spcAft>
            </a:pPr>
            <a:r>
              <a:rPr sz="1400" b="0" i="0">
                <a:solidFill>
                  <a:srgbClr val="FFFFFF"/>
                </a:solidFill>
                <a:latin typeface="Calibri"/>
              </a:rPr>
              <a:t>$ docker logs cloudlite --tail 20</a:t>
            </a:r>
          </a:p>
        </p:txBody>
      </p:sp>
      <p:sp>
        <p:nvSpPr>
          <p:cNvPr id="9" name="TextBox 8"/>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Imagen, contenedor y capas: los comandos que lo demuestran</a:t>
            </a:r>
          </a:p>
        </p:txBody>
      </p:sp>
      <p:sp>
        <p:nvSpPr>
          <p:cNvPr id="5" name="Rounded Rectangle 4"/>
          <p:cNvSpPr/>
          <p:nvPr/>
        </p:nvSpPr>
        <p:spPr>
          <a:xfrm>
            <a:off x="457200" y="1261872"/>
            <a:ext cx="11277295" cy="5093208"/>
          </a:xfrm>
          <a:prstGeom prst="roundRect">
            <a:avLst>
              <a:gd name="adj" fmla="val 12000"/>
            </a:avLst>
          </a:prstGeom>
          <a:solidFill>
            <a:srgbClr val="1E2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200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307592"/>
            <a:ext cx="10820095" cy="256032"/>
          </a:xfrm>
          <a:prstGeom prst="rect">
            <a:avLst/>
          </a:prstGeom>
          <a:noFill/>
        </p:spPr>
        <p:txBody>
          <a:bodyPr wrap="square" anchor="ctr"/>
          <a:lstStyle/>
          <a:p>
            <a:r>
              <a:rPr sz="1000" b="1" i="0">
                <a:solidFill>
                  <a:srgbClr val="269CCB"/>
                </a:solidFill>
                <a:latin typeface="Calibri"/>
              </a:rPr>
              <a:t>● ● ●</a:t>
            </a:r>
          </a:p>
        </p:txBody>
      </p:sp>
      <p:sp>
        <p:nvSpPr>
          <p:cNvPr id="8" name="TextBox 7"/>
          <p:cNvSpPr txBox="1"/>
          <p:nvPr/>
        </p:nvSpPr>
        <p:spPr>
          <a:xfrm>
            <a:off x="777240" y="1719072"/>
            <a:ext cx="10637215" cy="4453128"/>
          </a:xfrm>
          <a:prstGeom prst="rect">
            <a:avLst/>
          </a:prstGeom>
          <a:noFill/>
        </p:spPr>
        <p:txBody>
          <a:bodyPr wrap="square">
            <a:spAutoFit/>
          </a:bodyPr>
          <a:lstStyle/>
          <a:p>
            <a:pPr>
              <a:spcAft>
                <a:spcPts val="400"/>
              </a:spcAft>
            </a:pPr>
            <a:r>
              <a:rPr sz="1400" b="0" i="0">
                <a:solidFill>
                  <a:srgbClr val="FFFFFF"/>
                </a:solidFill>
                <a:latin typeface="Calibri"/>
              </a:rPr>
              <a:t># La IMAGEN es la plantilla; el CONTENEDOR es una instancia en ejecucion.</a:t>
            </a:r>
          </a:p>
          <a:p>
            <a:pPr>
              <a:spcAft>
                <a:spcPts val="400"/>
              </a:spcAft>
            </a:pPr>
            <a:r>
              <a:rPr sz="1400" b="0" i="0">
                <a:solidFill>
                  <a:srgbClr val="FFFFFF"/>
                </a:solidFill>
                <a:latin typeface="Calibri"/>
              </a:rPr>
              <a:t>$ docker images cloudlite-api</a:t>
            </a:r>
          </a:p>
          <a:p>
            <a:pPr>
              <a:spcAft>
                <a:spcPts val="400"/>
              </a:spcAft>
            </a:pPr>
            <a:r>
              <a:rPr sz="1400" b="0" i="0">
                <a:solidFill>
                  <a:srgbClr val="FFFFFF"/>
                </a:solidFill>
                <a:latin typeface="Calibri"/>
              </a:rPr>
              <a:t>REPOSITORY      TAG     IMAGE ID       SIZE</a:t>
            </a:r>
          </a:p>
          <a:p>
            <a:pPr>
              <a:spcAft>
                <a:spcPts val="400"/>
              </a:spcAft>
            </a:pPr>
            <a:r>
              <a:rPr sz="1400" b="0" i="0">
                <a:solidFill>
                  <a:srgbClr val="FFFFFF"/>
                </a:solidFill>
                <a:latin typeface="Calibri"/>
              </a:rPr>
              <a:t>cloudlite-api   0.1.0   a1b2c3d4e5f6   142MB</a:t>
            </a:r>
          </a:p>
          <a:p>
            <a:pPr>
              <a:spcAft>
                <a:spcPts val="400"/>
              </a:spcAft>
            </a:pPr>
            <a:r>
              <a:rPr sz="1400" b="0" i="0">
                <a:solidFill>
                  <a:srgbClr val="FFFFFF"/>
                </a:solidFill>
                <a:latin typeface="Calibri"/>
              </a:rPr>
              <a:t/>
            </a:r>
          </a:p>
          <a:p>
            <a:pPr>
              <a:spcAft>
                <a:spcPts val="400"/>
              </a:spcAft>
            </a:pPr>
            <a:r>
              <a:rPr sz="1400" b="0" i="0">
                <a:solidFill>
                  <a:srgbClr val="FFFFFF"/>
                </a:solidFill>
                <a:latin typeface="Calibri"/>
              </a:rPr>
              <a:t>$ docker ps</a:t>
            </a:r>
          </a:p>
          <a:p>
            <a:pPr>
              <a:spcAft>
                <a:spcPts val="400"/>
              </a:spcAft>
            </a:pPr>
            <a:r>
              <a:rPr sz="1400" b="0" i="0">
                <a:solidFill>
                  <a:srgbClr val="FFFFFF"/>
                </a:solidFill>
                <a:latin typeface="Calibri"/>
              </a:rPr>
              <a:t>CONTAINER ID   IMAGE                 STATUS         PORTS</a:t>
            </a:r>
          </a:p>
          <a:p>
            <a:pPr>
              <a:spcAft>
                <a:spcPts val="400"/>
              </a:spcAft>
            </a:pPr>
            <a:r>
              <a:rPr sz="1400" b="0" i="0">
                <a:solidFill>
                  <a:srgbClr val="FFFFFF"/>
                </a:solidFill>
                <a:latin typeface="Calibri"/>
              </a:rPr>
              <a:t>9f8e7d6c5b4a   cloudlite-api:0.1.0   Up 2 minutes   0.0.0.0:8080-&gt;3000/tcp</a:t>
            </a:r>
          </a:p>
          <a:p>
            <a:pPr>
              <a:spcAft>
                <a:spcPts val="400"/>
              </a:spcAft>
            </a:pPr>
            <a:r>
              <a:rPr sz="1400" b="0" i="0">
                <a:solidFill>
                  <a:srgbClr val="FFFFFF"/>
                </a:solidFill>
                <a:latin typeface="Calibri"/>
              </a:rPr>
              <a:t/>
            </a:r>
          </a:p>
          <a:p>
            <a:pPr>
              <a:spcAft>
                <a:spcPts val="400"/>
              </a:spcAft>
            </a:pPr>
            <a:r>
              <a:rPr sz="1400" b="0" i="0">
                <a:solidFill>
                  <a:srgbClr val="FFFFFF"/>
                </a:solidFill>
                <a:latin typeface="Calibri"/>
              </a:rPr>
              <a:t># De una imagen salen N contenedores: eso es lo que hace escalar barato.</a:t>
            </a:r>
          </a:p>
          <a:p>
            <a:pPr>
              <a:spcAft>
                <a:spcPts val="400"/>
              </a:spcAft>
            </a:pPr>
            <a:r>
              <a:rPr sz="1400" b="0" i="0">
                <a:solidFill>
                  <a:srgbClr val="FFFFFF"/>
                </a:solidFill>
                <a:latin typeface="Calibri"/>
              </a:rPr>
              <a:t>$ docker run -d -p 8081:3000 cloudlite-api:0.1.0</a:t>
            </a:r>
          </a:p>
          <a:p>
            <a:pPr>
              <a:spcAft>
                <a:spcPts val="400"/>
              </a:spcAft>
            </a:pPr>
            <a:r>
              <a:rPr sz="1400" b="0" i="0">
                <a:solidFill>
                  <a:srgbClr val="FFFFFF"/>
                </a:solidFill>
                <a:latin typeface="Calibri"/>
              </a:rPr>
              <a:t>$ docker run -d -p 8082:3000 cloudlite-api:0.1.0</a:t>
            </a:r>
          </a:p>
        </p:txBody>
      </p:sp>
      <p:sp>
        <p:nvSpPr>
          <p:cNvPr id="9" name="TextBox 8"/>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Limpiar, y la prueba de que el contenedor no guarda estado</a:t>
            </a:r>
          </a:p>
        </p:txBody>
      </p:sp>
      <p:sp>
        <p:nvSpPr>
          <p:cNvPr id="5" name="Rounded Rectangle 4"/>
          <p:cNvSpPr/>
          <p:nvPr/>
        </p:nvSpPr>
        <p:spPr>
          <a:xfrm>
            <a:off x="457200" y="1261872"/>
            <a:ext cx="11277295" cy="5093208"/>
          </a:xfrm>
          <a:prstGeom prst="roundRect">
            <a:avLst>
              <a:gd name="adj" fmla="val 12000"/>
            </a:avLst>
          </a:prstGeom>
          <a:solidFill>
            <a:srgbClr val="1E2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200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307592"/>
            <a:ext cx="10820095" cy="256032"/>
          </a:xfrm>
          <a:prstGeom prst="rect">
            <a:avLst/>
          </a:prstGeom>
          <a:noFill/>
        </p:spPr>
        <p:txBody>
          <a:bodyPr wrap="square" anchor="ctr"/>
          <a:lstStyle/>
          <a:p>
            <a:r>
              <a:rPr sz="1000" b="1" i="0">
                <a:solidFill>
                  <a:srgbClr val="269CCB"/>
                </a:solidFill>
                <a:latin typeface="Calibri"/>
              </a:rPr>
              <a:t>● ● ●</a:t>
            </a:r>
          </a:p>
        </p:txBody>
      </p:sp>
      <p:sp>
        <p:nvSpPr>
          <p:cNvPr id="8" name="TextBox 7"/>
          <p:cNvSpPr txBox="1"/>
          <p:nvPr/>
        </p:nvSpPr>
        <p:spPr>
          <a:xfrm>
            <a:off x="777240" y="1719072"/>
            <a:ext cx="10637215" cy="4453128"/>
          </a:xfrm>
          <a:prstGeom prst="rect">
            <a:avLst/>
          </a:prstGeom>
          <a:noFill/>
        </p:spPr>
        <p:txBody>
          <a:bodyPr wrap="square">
            <a:spAutoFit/>
          </a:bodyPr>
          <a:lstStyle/>
          <a:p>
            <a:pPr>
              <a:spcAft>
                <a:spcPts val="400"/>
              </a:spcAft>
            </a:pPr>
            <a:r>
              <a:rPr sz="1400" b="0" i="0">
                <a:solidFill>
                  <a:srgbClr val="FFFFFF"/>
                </a:solidFill>
                <a:latin typeface="Calibri"/>
              </a:rPr>
              <a:t>$ docker stop cloudlite &amp;&amp; docker rm cloudlite</a:t>
            </a:r>
          </a:p>
          <a:p>
            <a:pPr>
              <a:spcAft>
                <a:spcPts val="400"/>
              </a:spcAft>
            </a:pPr>
            <a:r>
              <a:rPr sz="1400" b="0" i="0">
                <a:solidFill>
                  <a:srgbClr val="FFFFFF"/>
                </a:solidFill>
                <a:latin typeface="Calibri"/>
              </a:rPr>
              <a:t/>
            </a:r>
          </a:p>
          <a:p>
            <a:pPr>
              <a:spcAft>
                <a:spcPts val="400"/>
              </a:spcAft>
            </a:pPr>
            <a:r>
              <a:rPr sz="1400" b="0" i="0">
                <a:solidFill>
                  <a:srgbClr val="FFFFFF"/>
                </a:solidFill>
                <a:latin typeface="Calibri"/>
              </a:rPr>
              <a:t># Lo escrito DENTRO del contenedor se va con el:</a:t>
            </a:r>
          </a:p>
          <a:p>
            <a:pPr>
              <a:spcAft>
                <a:spcPts val="400"/>
              </a:spcAft>
            </a:pPr>
            <a:r>
              <a:rPr sz="1400" b="0" i="0">
                <a:solidFill>
                  <a:srgbClr val="FFFFFF"/>
                </a:solidFill>
                <a:latin typeface="Calibri"/>
              </a:rPr>
              <a:t>$ docker run -d --name c1 cloudlite-api:0.1.0</a:t>
            </a:r>
          </a:p>
          <a:p>
            <a:pPr>
              <a:spcAft>
                <a:spcPts val="400"/>
              </a:spcAft>
            </a:pPr>
            <a:r>
              <a:rPr sz="1400" b="0" i="0">
                <a:solidFill>
                  <a:srgbClr val="FFFFFF"/>
                </a:solidFill>
                <a:latin typeface="Calibri"/>
              </a:rPr>
              <a:t>$ docker exec c1 sh -c 'echo hola &gt; /tmp/dato.txt'</a:t>
            </a:r>
          </a:p>
          <a:p>
            <a:pPr>
              <a:spcAft>
                <a:spcPts val="400"/>
              </a:spcAft>
            </a:pPr>
            <a:r>
              <a:rPr sz="1400" b="0" i="0">
                <a:solidFill>
                  <a:srgbClr val="FFFFFF"/>
                </a:solidFill>
                <a:latin typeface="Calibri"/>
              </a:rPr>
              <a:t>$ docker rm -f c1</a:t>
            </a:r>
          </a:p>
          <a:p>
            <a:pPr>
              <a:spcAft>
                <a:spcPts val="400"/>
              </a:spcAft>
            </a:pPr>
            <a:r>
              <a:rPr sz="1400" b="0" i="0">
                <a:solidFill>
                  <a:srgbClr val="FFFFFF"/>
                </a:solidFill>
                <a:latin typeface="Calibri"/>
              </a:rPr>
              <a:t>$ docker run --rm cloudlite-api:0.1.0 cat /tmp/dato.txt</a:t>
            </a:r>
          </a:p>
          <a:p>
            <a:pPr>
              <a:spcAft>
                <a:spcPts val="400"/>
              </a:spcAft>
            </a:pPr>
            <a:r>
              <a:rPr sz="1400" b="0" i="0">
                <a:solidFill>
                  <a:srgbClr val="FFFFFF"/>
                </a:solidFill>
                <a:latin typeface="Calibri"/>
              </a:rPr>
              <a:t>cat: can't open '/tmp/dato.txt': No such file or directory</a:t>
            </a:r>
          </a:p>
          <a:p>
            <a:pPr>
              <a:spcAft>
                <a:spcPts val="400"/>
              </a:spcAft>
            </a:pPr>
            <a:r>
              <a:rPr sz="1400" b="0" i="0">
                <a:solidFill>
                  <a:srgbClr val="FFFFFF"/>
                </a:solidFill>
                <a:latin typeface="Calibri"/>
              </a:rPr>
              <a:t/>
            </a:r>
          </a:p>
          <a:p>
            <a:pPr>
              <a:spcAft>
                <a:spcPts val="400"/>
              </a:spcAft>
            </a:pPr>
            <a:r>
              <a:rPr sz="1400" b="0" i="0">
                <a:solidFill>
                  <a:srgbClr val="FFFFFF"/>
                </a:solidFill>
                <a:latin typeface="Calibri"/>
              </a:rPr>
              <a:t># Por eso el estado vive fuera: volumen o base de datos gestionada.</a:t>
            </a:r>
          </a:p>
          <a:p>
            <a:pPr>
              <a:spcAft>
                <a:spcPts val="400"/>
              </a:spcAft>
            </a:pPr>
            <a:r>
              <a:rPr sz="1400" b="0" i="0">
                <a:solidFill>
                  <a:srgbClr val="FFFFFF"/>
                </a:solidFill>
                <a:latin typeface="Calibri"/>
              </a:rPr>
              <a:t>$ docker run -d -v cloudlite_datos:/app/data cloudlite-api:0.1.0</a:t>
            </a:r>
          </a:p>
        </p:txBody>
      </p:sp>
      <p:sp>
        <p:nvSpPr>
          <p:cNvPr id="9" name="TextBox 8"/>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Máquinas virtuales vs. contenedores</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Misma capacidad de cómputo, distinto nivel de aislamiento</a:t>
            </a:r>
          </a:p>
        </p:txBody>
      </p:sp>
      <p:sp>
        <p:nvSpPr>
          <p:cNvPr id="6" name="Rounded Rectangle 5"/>
          <p:cNvSpPr/>
          <p:nvPr/>
        </p:nvSpPr>
        <p:spPr>
          <a:xfrm>
            <a:off x="822960" y="1417320"/>
            <a:ext cx="3931920" cy="457200"/>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FFFFFF"/>
                </a:solidFill>
                <a:latin typeface="Calibri"/>
              </a:rPr>
              <a:t>Máquinas virtuales</a:t>
            </a:r>
          </a:p>
        </p:txBody>
      </p:sp>
      <p:sp>
        <p:nvSpPr>
          <p:cNvPr id="7" name="Rounded Rectangle 6"/>
          <p:cNvSpPr/>
          <p:nvPr/>
        </p:nvSpPr>
        <p:spPr>
          <a:xfrm>
            <a:off x="822960" y="2057400"/>
            <a:ext cx="3931920" cy="594360"/>
          </a:xfrm>
          <a:prstGeom prst="roundRect">
            <a:avLst>
              <a:gd name="adj" fmla="val 12000"/>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Calibri"/>
              </a:rPr>
              <a:t>Hardware físico</a:t>
            </a:r>
          </a:p>
        </p:txBody>
      </p:sp>
      <p:sp>
        <p:nvSpPr>
          <p:cNvPr id="8" name="Rounded Rectangle 7"/>
          <p:cNvSpPr/>
          <p:nvPr/>
        </p:nvSpPr>
        <p:spPr>
          <a:xfrm>
            <a:off x="822960" y="2697480"/>
            <a:ext cx="3931920" cy="594360"/>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Calibri"/>
              </a:rPr>
              <a:t>Hipervisor</a:t>
            </a:r>
          </a:p>
        </p:txBody>
      </p:sp>
      <p:sp>
        <p:nvSpPr>
          <p:cNvPr id="9" name="Rounded Rectangle 8"/>
          <p:cNvSpPr/>
          <p:nvPr/>
        </p:nvSpPr>
        <p:spPr>
          <a:xfrm>
            <a:off x="822960" y="3337560"/>
            <a:ext cx="1874519" cy="640080"/>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FFFFFF"/>
                </a:solidFill>
                <a:latin typeface="Calibri"/>
              </a:rPr>
              <a:t>SO invitado A
(completo)</a:t>
            </a:r>
          </a:p>
        </p:txBody>
      </p:sp>
      <p:sp>
        <p:nvSpPr>
          <p:cNvPr id="10" name="Rounded Rectangle 9"/>
          <p:cNvSpPr/>
          <p:nvPr/>
        </p:nvSpPr>
        <p:spPr>
          <a:xfrm>
            <a:off x="2880360" y="3337560"/>
            <a:ext cx="1874519" cy="640080"/>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FFFFFF"/>
                </a:solidFill>
                <a:latin typeface="Calibri"/>
              </a:rPr>
              <a:t>SO invitado B
(completo)</a:t>
            </a:r>
          </a:p>
        </p:txBody>
      </p:sp>
      <p:sp>
        <p:nvSpPr>
          <p:cNvPr id="11" name="Rounded Rectangle 10"/>
          <p:cNvSpPr/>
          <p:nvPr/>
        </p:nvSpPr>
        <p:spPr>
          <a:xfrm>
            <a:off x="822960" y="4023360"/>
            <a:ext cx="1874519" cy="548640"/>
          </a:xfrm>
          <a:prstGeom prst="roundRect">
            <a:avLst>
              <a:gd name="adj" fmla="val 12000"/>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095292"/>
                </a:solidFill>
                <a:latin typeface="Calibri"/>
              </a:rPr>
              <a:t>App A</a:t>
            </a:r>
          </a:p>
        </p:txBody>
      </p:sp>
      <p:sp>
        <p:nvSpPr>
          <p:cNvPr id="12" name="Rounded Rectangle 11"/>
          <p:cNvSpPr/>
          <p:nvPr/>
        </p:nvSpPr>
        <p:spPr>
          <a:xfrm>
            <a:off x="2880360" y="4023360"/>
            <a:ext cx="1874519" cy="548640"/>
          </a:xfrm>
          <a:prstGeom prst="roundRect">
            <a:avLst>
              <a:gd name="adj" fmla="val 12000"/>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095292"/>
                </a:solidFill>
                <a:latin typeface="Calibri"/>
              </a:rPr>
              <a:t>App B</a:t>
            </a:r>
          </a:p>
        </p:txBody>
      </p:sp>
      <p:sp>
        <p:nvSpPr>
          <p:cNvPr id="13" name="Rounded Rectangle 12"/>
          <p:cNvSpPr/>
          <p:nvPr/>
        </p:nvSpPr>
        <p:spPr>
          <a:xfrm>
            <a:off x="7315200" y="1417320"/>
            <a:ext cx="3931920" cy="457200"/>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FFFFFF"/>
                </a:solidFill>
                <a:latin typeface="Calibri"/>
              </a:rPr>
              <a:t>Contenedores</a:t>
            </a:r>
          </a:p>
        </p:txBody>
      </p:sp>
      <p:sp>
        <p:nvSpPr>
          <p:cNvPr id="14" name="Rounded Rectangle 13"/>
          <p:cNvSpPr/>
          <p:nvPr/>
        </p:nvSpPr>
        <p:spPr>
          <a:xfrm>
            <a:off x="7315200" y="2057400"/>
            <a:ext cx="3931920" cy="594360"/>
          </a:xfrm>
          <a:prstGeom prst="roundRect">
            <a:avLst>
              <a:gd name="adj" fmla="val 12000"/>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Calibri"/>
              </a:rPr>
              <a:t>Hardware físico</a:t>
            </a:r>
          </a:p>
        </p:txBody>
      </p:sp>
      <p:sp>
        <p:nvSpPr>
          <p:cNvPr id="15" name="Rounded Rectangle 14"/>
          <p:cNvSpPr/>
          <p:nvPr/>
        </p:nvSpPr>
        <p:spPr>
          <a:xfrm>
            <a:off x="7315200" y="2697480"/>
            <a:ext cx="3931920" cy="594360"/>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1" i="0">
                <a:solidFill>
                  <a:srgbClr val="FFFFFF"/>
                </a:solidFill>
                <a:latin typeface="Calibri"/>
              </a:rPr>
              <a:t>SO anfitrión + motor de contenedores (kernel compartido)</a:t>
            </a:r>
          </a:p>
        </p:txBody>
      </p:sp>
      <p:sp>
        <p:nvSpPr>
          <p:cNvPr id="16" name="Rounded Rectangle 15"/>
          <p:cNvSpPr/>
          <p:nvPr/>
        </p:nvSpPr>
        <p:spPr>
          <a:xfrm>
            <a:off x="7315200" y="3337560"/>
            <a:ext cx="1874519" cy="640080"/>
          </a:xfrm>
          <a:prstGeom prst="roundRect">
            <a:avLst>
              <a:gd name="adj" fmla="val 12000"/>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095292"/>
                </a:solidFill>
                <a:latin typeface="Calibri"/>
              </a:rPr>
              <a:t>Contenedor A
(App A)</a:t>
            </a:r>
          </a:p>
        </p:txBody>
      </p:sp>
      <p:sp>
        <p:nvSpPr>
          <p:cNvPr id="17" name="Rounded Rectangle 16"/>
          <p:cNvSpPr/>
          <p:nvPr/>
        </p:nvSpPr>
        <p:spPr>
          <a:xfrm>
            <a:off x="9372600" y="3337560"/>
            <a:ext cx="1874519" cy="640080"/>
          </a:xfrm>
          <a:prstGeom prst="roundRect">
            <a:avLst>
              <a:gd name="adj" fmla="val 12000"/>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095292"/>
                </a:solidFill>
                <a:latin typeface="Calibri"/>
              </a:rPr>
              <a:t>Contenedor B
(App B)</a:t>
            </a:r>
          </a:p>
        </p:txBody>
      </p:sp>
      <p:sp>
        <p:nvSpPr>
          <p:cNvPr id="18" name="TextBox 17"/>
          <p:cNvSpPr txBox="1"/>
          <p:nvPr/>
        </p:nvSpPr>
        <p:spPr>
          <a:xfrm>
            <a:off x="457200" y="6263640"/>
            <a:ext cx="11277295" cy="411480"/>
          </a:xfrm>
          <a:prstGeom prst="rect">
            <a:avLst/>
          </a:prstGeom>
          <a:noFill/>
        </p:spPr>
        <p:txBody>
          <a:bodyPr wrap="square">
            <a:spAutoFit/>
          </a:bodyPr>
          <a:lstStyle/>
          <a:p>
            <a:r>
              <a:rPr sz="1100" b="0" i="1">
                <a:solidFill>
                  <a:srgbClr val="666666"/>
                </a:solidFill>
                <a:latin typeface="Calibri"/>
              </a:rPr>
              <a:t>VM: cada instancia carga un SO completo (aislamiento fuerte, más pesado). Contenedor: comparte el kernel del anfitrión y solo empaqueta app + dependencias (arranca en segundos, pesa MB no GB).</a:t>
            </a:r>
          </a:p>
        </p:txBody>
      </p:sp>
      <p:sp>
        <p:nvSpPr>
          <p:cNvPr id="19" name="TextBox 18"/>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Maquina virtual vs contenedor — que cambia de verdad</a:t>
            </a:r>
          </a:p>
        </p:txBody>
      </p:sp>
      <p:sp>
        <p:nvSpPr>
          <p:cNvPr id="5" name="Rounded Rectangle 4"/>
          <p:cNvSpPr/>
          <p:nvPr/>
        </p:nvSpPr>
        <p:spPr>
          <a:xfrm>
            <a:off x="457200" y="1261872"/>
            <a:ext cx="5478627" cy="5093208"/>
          </a:xfrm>
          <a:prstGeom prst="roundRect">
            <a:avLst>
              <a:gd name="adj" fmla="val 12000"/>
            </a:avLst>
          </a:prstGeom>
          <a:solidFill>
            <a:srgbClr val="FB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5478627" cy="502920"/>
          </a:xfrm>
          <a:prstGeom prst="rect">
            <a:avLst/>
          </a:prstGeom>
          <a:solidFill>
            <a:srgbClr val="A0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53312"/>
            <a:ext cx="5204307" cy="365760"/>
          </a:xfrm>
          <a:prstGeom prst="rect">
            <a:avLst/>
          </a:prstGeom>
          <a:noFill/>
        </p:spPr>
        <p:txBody>
          <a:bodyPr wrap="square" anchor="ctr"/>
          <a:lstStyle/>
          <a:p>
            <a:pPr algn="ctr"/>
            <a:r>
              <a:rPr sz="1600" b="1" i="0">
                <a:solidFill>
                  <a:srgbClr val="FFFFFF"/>
                </a:solidFill>
                <a:latin typeface="Calibri"/>
              </a:rPr>
              <a:t>Maquina virtual</a:t>
            </a:r>
          </a:p>
        </p:txBody>
      </p:sp>
      <p:sp>
        <p:nvSpPr>
          <p:cNvPr id="8" name="TextBox 7"/>
          <p:cNvSpPr txBox="1"/>
          <p:nvPr/>
        </p:nvSpPr>
        <p:spPr>
          <a:xfrm>
            <a:off x="621792" y="1901952"/>
            <a:ext cx="5158587" cy="4498848"/>
          </a:xfrm>
          <a:prstGeom prst="rect">
            <a:avLst/>
          </a:prstGeom>
          <a:noFill/>
        </p:spPr>
        <p:txBody>
          <a:bodyPr wrap="square">
            <a:spAutoFit/>
          </a:bodyPr>
          <a:lstStyle/>
          <a:p>
            <a:pPr>
              <a:spcAft>
                <a:spcPts val="800"/>
              </a:spcAft>
            </a:pPr>
            <a:r>
              <a:rPr sz="1500" b="0" i="0">
                <a:solidFill>
                  <a:srgbClr val="333333"/>
                </a:solidFill>
                <a:latin typeface="Calibri"/>
              </a:rPr>
              <a:t>–   Cada instancia trae un </a:t>
            </a:r>
            <a:r>
              <a:rPr sz="1500" b="1" i="0">
                <a:solidFill>
                  <a:srgbClr val="333333"/>
                </a:solidFill>
                <a:latin typeface="Calibri"/>
              </a:rPr>
              <a:t>SO completo</a:t>
            </a:r>
            <a:r>
              <a:rPr sz="1500" b="0" i="0">
                <a:solidFill>
                  <a:srgbClr val="333333"/>
                </a:solidFill>
                <a:latin typeface="Calibri"/>
              </a:rPr>
              <a:t> (kernel propio)</a:t>
            </a:r>
          </a:p>
          <a:p>
            <a:pPr>
              <a:spcAft>
                <a:spcPts val="800"/>
              </a:spcAft>
            </a:pPr>
            <a:r>
              <a:rPr sz="1500" b="0" i="0">
                <a:solidFill>
                  <a:srgbClr val="333333"/>
                </a:solidFill>
                <a:latin typeface="Calibri"/>
              </a:rPr>
              <a:t>–   Aislamiento fuerte a nivel de hardware virtual</a:t>
            </a:r>
          </a:p>
          <a:p>
            <a:pPr>
              <a:spcAft>
                <a:spcPts val="800"/>
              </a:spcAft>
            </a:pPr>
            <a:r>
              <a:rPr sz="1500" b="0" i="0">
                <a:solidFill>
                  <a:srgbClr val="333333"/>
                </a:solidFill>
                <a:latin typeface="Calibri"/>
              </a:rPr>
              <a:t>–   Arranque en </a:t>
            </a:r>
            <a:r>
              <a:rPr sz="1500" b="1" i="0">
                <a:solidFill>
                  <a:srgbClr val="333333"/>
                </a:solidFill>
                <a:latin typeface="Calibri"/>
              </a:rPr>
              <a:t>minutos</a:t>
            </a:r>
            <a:r>
              <a:rPr sz="1500" b="0" i="0">
                <a:solidFill>
                  <a:srgbClr val="333333"/>
                </a:solidFill>
                <a:latin typeface="Calibri"/>
              </a:rPr>
              <a:t>, tamaño en </a:t>
            </a:r>
            <a:r>
              <a:rPr sz="1500" b="1" i="0">
                <a:solidFill>
                  <a:srgbClr val="333333"/>
                </a:solidFill>
                <a:latin typeface="Calibri"/>
              </a:rPr>
              <a:t>GB</a:t>
            </a:r>
          </a:p>
          <a:p>
            <a:pPr>
              <a:spcAft>
                <a:spcPts val="800"/>
              </a:spcAft>
            </a:pPr>
            <a:r>
              <a:rPr sz="1500" b="0" i="0">
                <a:solidFill>
                  <a:srgbClr val="333333"/>
                </a:solidFill>
                <a:latin typeface="Calibri"/>
              </a:rPr>
              <a:t>–   Util cuando se necesitan SO distintos</a:t>
            </a:r>
          </a:p>
          <a:p>
            <a:pPr>
              <a:spcAft>
                <a:spcPts val="800"/>
              </a:spcAft>
            </a:pPr>
            <a:r>
              <a:rPr sz="1500" b="0" i="0">
                <a:solidFill>
                  <a:srgbClr val="333333"/>
                </a:solidFill>
                <a:latin typeface="Calibri"/>
              </a:rPr>
              <a:t>–   Ej.: un servidor Windows y uno Linux en el mismo host</a:t>
            </a:r>
          </a:p>
        </p:txBody>
      </p:sp>
      <p:sp>
        <p:nvSpPr>
          <p:cNvPr id="9" name="Rounded Rectangle 8"/>
          <p:cNvSpPr/>
          <p:nvPr/>
        </p:nvSpPr>
        <p:spPr>
          <a:xfrm>
            <a:off x="6255867" y="1261872"/>
            <a:ext cx="5478627" cy="5093208"/>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55867" y="1261872"/>
            <a:ext cx="5478627" cy="5029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93027" y="1353312"/>
            <a:ext cx="5204307" cy="365760"/>
          </a:xfrm>
          <a:prstGeom prst="rect">
            <a:avLst/>
          </a:prstGeom>
          <a:noFill/>
        </p:spPr>
        <p:txBody>
          <a:bodyPr wrap="square" anchor="ctr"/>
          <a:lstStyle/>
          <a:p>
            <a:pPr algn="ctr"/>
            <a:r>
              <a:rPr sz="1600" b="1" i="0">
                <a:solidFill>
                  <a:srgbClr val="FFFFFF"/>
                </a:solidFill>
                <a:latin typeface="Calibri"/>
              </a:rPr>
              <a:t>Contenedor</a:t>
            </a:r>
          </a:p>
        </p:txBody>
      </p:sp>
      <p:sp>
        <p:nvSpPr>
          <p:cNvPr id="12" name="TextBox 11"/>
          <p:cNvSpPr txBox="1"/>
          <p:nvPr/>
        </p:nvSpPr>
        <p:spPr>
          <a:xfrm>
            <a:off x="6420459" y="1901952"/>
            <a:ext cx="5158587" cy="4498848"/>
          </a:xfrm>
          <a:prstGeom prst="rect">
            <a:avLst/>
          </a:prstGeom>
          <a:noFill/>
        </p:spPr>
        <p:txBody>
          <a:bodyPr wrap="square">
            <a:spAutoFit/>
          </a:bodyPr>
          <a:lstStyle/>
          <a:p>
            <a:pPr>
              <a:spcAft>
                <a:spcPts val="800"/>
              </a:spcAft>
            </a:pPr>
            <a:r>
              <a:rPr sz="1500" b="0" i="0">
                <a:solidFill>
                  <a:srgbClr val="333333"/>
                </a:solidFill>
                <a:latin typeface="Calibri"/>
              </a:rPr>
              <a:t>–   </a:t>
            </a:r>
            <a:r>
              <a:rPr sz="1500" b="1" i="0">
                <a:solidFill>
                  <a:srgbClr val="333333"/>
                </a:solidFill>
                <a:latin typeface="Calibri"/>
              </a:rPr>
              <a:t>Comparte el kernel</a:t>
            </a:r>
            <a:r>
              <a:rPr sz="1500" b="0" i="0">
                <a:solidFill>
                  <a:srgbClr val="333333"/>
                </a:solidFill>
                <a:latin typeface="Calibri"/>
              </a:rPr>
              <a:t> del anfitrion</a:t>
            </a:r>
          </a:p>
          <a:p>
            <a:pPr>
              <a:spcAft>
                <a:spcPts val="800"/>
              </a:spcAft>
            </a:pPr>
            <a:r>
              <a:rPr sz="1500" b="0" i="0">
                <a:solidFill>
                  <a:srgbClr val="333333"/>
                </a:solidFill>
                <a:latin typeface="Calibri"/>
              </a:rPr>
              <a:t>–   Empaqueta solo app + dependencias</a:t>
            </a:r>
          </a:p>
          <a:p>
            <a:pPr>
              <a:spcAft>
                <a:spcPts val="800"/>
              </a:spcAft>
            </a:pPr>
            <a:r>
              <a:rPr sz="1500" b="0" i="0">
                <a:solidFill>
                  <a:srgbClr val="333333"/>
                </a:solidFill>
                <a:latin typeface="Calibri"/>
              </a:rPr>
              <a:t>–   Arranque en </a:t>
            </a:r>
            <a:r>
              <a:rPr sz="1500" b="1" i="0">
                <a:solidFill>
                  <a:srgbClr val="333333"/>
                </a:solidFill>
                <a:latin typeface="Calibri"/>
              </a:rPr>
              <a:t>segundos</a:t>
            </a:r>
            <a:r>
              <a:rPr sz="1500" b="0" i="0">
                <a:solidFill>
                  <a:srgbClr val="333333"/>
                </a:solidFill>
                <a:latin typeface="Calibri"/>
              </a:rPr>
              <a:t>, tamaño en </a:t>
            </a:r>
            <a:r>
              <a:rPr sz="1500" b="1" i="0">
                <a:solidFill>
                  <a:srgbClr val="333333"/>
                </a:solidFill>
                <a:latin typeface="Calibri"/>
              </a:rPr>
              <a:t>MB</a:t>
            </a:r>
          </a:p>
          <a:p>
            <a:pPr>
              <a:spcAft>
                <a:spcPts val="800"/>
              </a:spcAft>
            </a:pPr>
            <a:r>
              <a:rPr sz="1500" b="0" i="0">
                <a:solidFill>
                  <a:srgbClr val="333333"/>
                </a:solidFill>
                <a:latin typeface="Calibri"/>
              </a:rPr>
              <a:t>–   Util para desplegar el mismo servicio muchas veces</a:t>
            </a:r>
          </a:p>
          <a:p>
            <a:pPr>
              <a:spcAft>
                <a:spcPts val="800"/>
              </a:spcAft>
            </a:pPr>
            <a:r>
              <a:rPr sz="1500" b="0" i="0">
                <a:solidFill>
                  <a:srgbClr val="333333"/>
                </a:solidFill>
                <a:latin typeface="Calibri"/>
              </a:rPr>
              <a:t>–   Ej.: el stub de CloudLite, replicado detras del balanceador</a:t>
            </a:r>
          </a:p>
        </p:txBody>
      </p:sp>
      <p:sp>
        <p:nvSpPr>
          <p:cNvPr id="13" name="TextBox 12"/>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Dockerfile minimo del stub CloudLite</a:t>
            </a:r>
          </a:p>
        </p:txBody>
      </p:sp>
      <p:sp>
        <p:nvSpPr>
          <p:cNvPr id="5" name="Rounded Rectangle 4"/>
          <p:cNvSpPr/>
          <p:nvPr/>
        </p:nvSpPr>
        <p:spPr>
          <a:xfrm>
            <a:off x="457200" y="1261872"/>
            <a:ext cx="11277295" cy="4773168"/>
          </a:xfrm>
          <a:prstGeom prst="roundRect">
            <a:avLst>
              <a:gd name="adj" fmla="val 12000"/>
            </a:avLst>
          </a:prstGeom>
          <a:solidFill>
            <a:srgbClr val="1E2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200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307592"/>
            <a:ext cx="10820095" cy="256032"/>
          </a:xfrm>
          <a:prstGeom prst="rect">
            <a:avLst/>
          </a:prstGeom>
          <a:noFill/>
        </p:spPr>
        <p:txBody>
          <a:bodyPr wrap="square" anchor="ctr"/>
          <a:lstStyle/>
          <a:p>
            <a:r>
              <a:rPr sz="1000" b="1" i="0">
                <a:solidFill>
                  <a:srgbClr val="269CCB"/>
                </a:solidFill>
                <a:latin typeface="Calibri"/>
              </a:rPr>
              <a:t>● ● ●</a:t>
            </a:r>
          </a:p>
        </p:txBody>
      </p:sp>
      <p:sp>
        <p:nvSpPr>
          <p:cNvPr id="8" name="TextBox 7"/>
          <p:cNvSpPr txBox="1"/>
          <p:nvPr/>
        </p:nvSpPr>
        <p:spPr>
          <a:xfrm>
            <a:off x="777240" y="1719072"/>
            <a:ext cx="10637215" cy="4133087"/>
          </a:xfrm>
          <a:prstGeom prst="rect">
            <a:avLst/>
          </a:prstGeom>
          <a:noFill/>
        </p:spPr>
        <p:txBody>
          <a:bodyPr wrap="square">
            <a:spAutoFit/>
          </a:bodyPr>
          <a:lstStyle/>
          <a:p>
            <a:pPr>
              <a:spcAft>
                <a:spcPts val="400"/>
              </a:spcAft>
            </a:pPr>
            <a:r>
              <a:rPr sz="1400" b="0" i="0">
                <a:solidFill>
                  <a:srgbClr val="FFFFFF"/>
                </a:solidFill>
                <a:latin typeface="Calibri"/>
              </a:rPr>
              <a:t>FROM node:20-alpine          # base ligera y etiqueta FIJA: nunca latest</a:t>
            </a:r>
          </a:p>
          <a:p>
            <a:pPr>
              <a:spcAft>
                <a:spcPts val="400"/>
              </a:spcAft>
            </a:pPr>
            <a:r>
              <a:rPr sz="1400" b="0" i="0">
                <a:solidFill>
                  <a:srgbClr val="FFFFFF"/>
                </a:solidFill>
                <a:latin typeface="Calibri"/>
              </a:rPr>
              <a:t>WORKDIR /app</a:t>
            </a:r>
          </a:p>
          <a:p>
            <a:pPr>
              <a:spcAft>
                <a:spcPts val="400"/>
              </a:spcAft>
            </a:pPr>
            <a:r>
              <a:rPr sz="1400" b="0" i="0">
                <a:solidFill>
                  <a:srgbClr val="FFFFFF"/>
                </a:solidFill>
                <a:latin typeface="Calibri"/>
              </a:rPr>
              <a:t>COPY package*.json ./        # dependencias PRIMERO: cambian poco</a:t>
            </a:r>
          </a:p>
          <a:p>
            <a:pPr>
              <a:spcAft>
                <a:spcPts val="400"/>
              </a:spcAft>
            </a:pPr>
            <a:r>
              <a:rPr sz="1400" b="0" i="0">
                <a:solidFill>
                  <a:srgbClr val="FFFFFF"/>
                </a:solidFill>
                <a:latin typeface="Calibri"/>
              </a:rPr>
              <a:t>RUN npm ci --omit=dev        # se instalan DENTRO de la imagen</a:t>
            </a:r>
          </a:p>
          <a:p>
            <a:pPr>
              <a:spcAft>
                <a:spcPts val="400"/>
              </a:spcAft>
            </a:pPr>
            <a:r>
              <a:rPr sz="1400" b="0" i="0">
                <a:solidFill>
                  <a:srgbClr val="FFFFFF"/>
                </a:solidFill>
                <a:latin typeface="Calibri"/>
              </a:rPr>
              <a:t>COPY..                     # el codigo despues: cambia en cada commit</a:t>
            </a:r>
          </a:p>
          <a:p>
            <a:pPr>
              <a:spcAft>
                <a:spcPts val="400"/>
              </a:spcAft>
            </a:pPr>
            <a:r>
              <a:rPr sz="1400" b="0" i="0">
                <a:solidFill>
                  <a:srgbClr val="FFFFFF"/>
                </a:solidFill>
                <a:latin typeface="Calibri"/>
              </a:rPr>
              <a:t>EXPOSE 8080                  # documenta el puerto; NO lo publica</a:t>
            </a:r>
          </a:p>
          <a:p>
            <a:pPr>
              <a:spcAft>
                <a:spcPts val="400"/>
              </a:spcAft>
            </a:pPr>
            <a:r>
              <a:rPr sz="1400" b="0" i="0">
                <a:solidFill>
                  <a:srgbClr val="FFFFFF"/>
                </a:solidFill>
                <a:latin typeface="Calibri"/>
              </a:rPr>
              <a:t>CMD ["node", "server.js"]    # UN proceso principal por contenedor</a:t>
            </a:r>
          </a:p>
          <a:p>
            <a:pPr>
              <a:spcAft>
                <a:spcPts val="400"/>
              </a:spcAft>
            </a:pPr>
            <a:r>
              <a:rPr sz="1400" b="0" i="0">
                <a:solidFill>
                  <a:srgbClr val="FFFFFF"/>
                </a:solidFill>
                <a:latin typeface="Calibri"/>
              </a:rPr>
              <a:t/>
            </a:r>
          </a:p>
          <a:p>
            <a:pPr>
              <a:spcAft>
                <a:spcPts val="400"/>
              </a:spcAft>
            </a:pPr>
            <a:r>
              <a:rPr sz="1400" b="0" i="0">
                <a:solidFill>
                  <a:srgbClr val="FFFFFF"/>
                </a:solidFill>
                <a:latin typeface="Calibri"/>
              </a:rPr>
              <a:t># .dockerignore  &lt;- archivo aparte, en la misma carpeta que el Dockerfile.</a:t>
            </a:r>
          </a:p>
          <a:p>
            <a:pPr>
              <a:spcAft>
                <a:spcPts val="400"/>
              </a:spcAft>
            </a:pPr>
            <a:r>
              <a:rPr sz="1400" b="0" i="0">
                <a:solidFill>
                  <a:srgbClr val="FFFFFF"/>
                </a:solidFill>
                <a:latin typeface="Calibri"/>
              </a:rPr>
              <a:t># Sin el, el COPY.. de arriba se lleva el .env a las capas de la imagen.</a:t>
            </a:r>
          </a:p>
          <a:p>
            <a:pPr>
              <a:spcAft>
                <a:spcPts val="400"/>
              </a:spcAft>
            </a:pPr>
            <a:r>
              <a:rPr sz="1400" b="0" i="0">
                <a:solidFill>
                  <a:srgbClr val="FFFFFF"/>
                </a:solidFill>
                <a:latin typeface="Calibri"/>
              </a:rPr>
              <a:t>node_modules</a:t>
            </a:r>
          </a:p>
          <a:p>
            <a:pPr>
              <a:spcAft>
                <a:spcPts val="400"/>
              </a:spcAft>
            </a:pPr>
            <a:r>
              <a:rPr sz="1400" b="0" i="0">
                <a:solidFill>
                  <a:srgbClr val="FFFFFF"/>
                </a:solidFill>
                <a:latin typeface="Calibri"/>
              </a:rPr>
              <a:t>.env</a:t>
            </a:r>
          </a:p>
          <a:p>
            <a:pPr>
              <a:spcAft>
                <a:spcPts val="400"/>
              </a:spcAft>
            </a:pPr>
            <a:r>
              <a:rPr sz="1400" b="0" i="0">
                <a:solidFill>
                  <a:srgbClr val="FFFFFF"/>
                </a:solidFill>
                <a:latin typeface="Calibri"/>
              </a:rPr>
              <a:t>.env.*</a:t>
            </a:r>
          </a:p>
          <a:p>
            <a:pPr>
              <a:spcAft>
                <a:spcPts val="400"/>
              </a:spcAft>
            </a:pPr>
            <a:r>
              <a:rPr sz="1400" b="0" i="0">
                <a:solidFill>
                  <a:srgbClr val="FFFFFF"/>
                </a:solidFill>
                <a:latin typeface="Calibri"/>
              </a:rPr>
              <a:t>.git</a:t>
            </a:r>
          </a:p>
        </p:txBody>
      </p:sp>
      <p:sp>
        <p:nvSpPr>
          <p:cNvPr id="9" name="TextBox 8"/>
          <p:cNvSpPr txBox="1"/>
          <p:nvPr/>
        </p:nvSpPr>
        <p:spPr>
          <a:xfrm>
            <a:off x="457200" y="6080760"/>
            <a:ext cx="11277295" cy="320040"/>
          </a:xfrm>
          <a:prstGeom prst="rect">
            <a:avLst/>
          </a:prstGeom>
          <a:noFill/>
        </p:spPr>
        <p:txBody>
          <a:bodyPr wrap="square">
            <a:spAutoFit/>
          </a:bodyPr>
          <a:lstStyle/>
          <a:p>
            <a:pPr algn="ctr"/>
            <a:r>
              <a:rPr sz="1200" b="0" i="1">
                <a:solidFill>
                  <a:srgbClr val="666666"/>
                </a:solidFill>
                <a:latin typeface="Calibri"/>
              </a:rPr>
              <a:t>EXPOSE, CMD y el «-p» del run llevan el MISMO puerto. Y el «COPY. .» solo es seguro con «.dockerignore» al lado.</a:t>
            </a:r>
          </a:p>
        </p:txBody>
      </p:sp>
      <p:sp>
        <p:nvSpPr>
          <p:cNvPr id="10" name="TextBox 9"/>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uniajc_color.png"/>
          <p:cNvPicPr>
            <a:picLocks noChangeAspect="1"/>
          </p:cNvPicPr>
          <p:nvPr/>
        </p:nvPicPr>
        <p:blipFill>
          <a:blip r:embed="rId2"/>
          <a:stretch>
            <a:fillRect/>
          </a:stretch>
        </p:blipFill>
        <p:spPr>
          <a:xfrm>
            <a:off x="10271455" y="5998464"/>
            <a:ext cx="1463040" cy="643233"/>
          </a:xfrm>
          <a:prstGeom prst="rect">
            <a:avLst/>
          </a:prstGeom>
        </p:spPr>
      </p:pic>
      <p:sp>
        <p:nvSpPr>
          <p:cNvPr id="4" name="TextBox 3"/>
          <p:cNvSpPr txBox="1"/>
          <p:nvPr/>
        </p:nvSpPr>
        <p:spPr>
          <a:xfrm>
            <a:off x="457200" y="1737360"/>
            <a:ext cx="11277295" cy="1097280"/>
          </a:xfrm>
          <a:prstGeom prst="rect">
            <a:avLst/>
          </a:prstGeom>
          <a:noFill/>
        </p:spPr>
        <p:txBody>
          <a:bodyPr wrap="square" anchor="ctr"/>
          <a:lstStyle/>
          <a:p>
            <a:pPr algn="ctr"/>
            <a:r>
              <a:rPr sz="3400" b="1" i="0">
                <a:solidFill>
                  <a:srgbClr val="095292"/>
                </a:solidFill>
                <a:latin typeface="Calibri"/>
              </a:rPr>
              <a:t>Clase 3 · cierre conceptual</a:t>
            </a:r>
          </a:p>
        </p:txBody>
      </p:sp>
      <p:sp>
        <p:nvSpPr>
          <p:cNvPr id="5" name="TextBox 4"/>
          <p:cNvSpPr txBox="1"/>
          <p:nvPr/>
        </p:nvSpPr>
        <p:spPr>
          <a:xfrm>
            <a:off x="457200" y="3017520"/>
            <a:ext cx="11277295" cy="1645920"/>
          </a:xfrm>
          <a:prstGeom prst="rect">
            <a:avLst/>
          </a:prstGeom>
          <a:noFill/>
        </p:spPr>
        <p:txBody>
          <a:bodyPr wrap="square">
            <a:spAutoFit/>
          </a:bodyPr>
          <a:lstStyle/>
          <a:p>
            <a:pPr algn="ctr">
              <a:spcAft>
                <a:spcPts val="600"/>
              </a:spcAft>
            </a:pPr>
            <a:r>
              <a:rPr sz="1600" b="0" i="0">
                <a:solidFill>
                  <a:srgbClr val="333333"/>
                </a:solidFill>
                <a:latin typeface="Calibri"/>
              </a:rPr>
              <a:t>Diferenciar VM vs contenedor y el rol de la imagen.</a:t>
            </a:r>
          </a:p>
          <a:p>
            <a:pPr algn="ctr">
              <a:spcAft>
                <a:spcPts val="600"/>
              </a:spcAft>
            </a:pPr>
            <a:r>
              <a:rPr sz="1600" b="0" i="0">
                <a:solidFill>
                  <a:srgbClr val="333333"/>
                </a:solidFill>
                <a:latin typeface="Calibri"/>
              </a:rPr>
              <a:t>Razonar el ciclo build → run → verify: qué imprime cada comando y por qué.</a:t>
            </a:r>
          </a:p>
          <a:p>
            <a:pPr algn="ctr">
              <a:spcAft>
                <a:spcPts val="600"/>
              </a:spcAft>
            </a:pPr>
            <a:r>
              <a:rPr sz="1600" b="0" i="0">
                <a:solidFill>
                  <a:srgbClr val="333333"/>
                </a:solidFill>
                <a:latin typeface="Calibri"/>
              </a:rPr>
              <a:t>Publicar el puerto y verificar el servicio con un endpoint de salud (ruta, código, cuerpo).</a:t>
            </a:r>
          </a:p>
        </p:txBody>
      </p:sp>
      <p:sp>
        <p:nvSpPr>
          <p:cNvPr id="6" name="TextBox 5"/>
          <p:cNvSpPr txBox="1"/>
          <p:nvPr/>
        </p:nvSpPr>
        <p:spPr>
          <a:xfrm>
            <a:off x="457200" y="4754880"/>
            <a:ext cx="11277295" cy="640080"/>
          </a:xfrm>
          <a:prstGeom prst="rect">
            <a:avLst/>
          </a:prstGeom>
          <a:noFill/>
        </p:spPr>
        <p:txBody>
          <a:bodyPr wrap="square">
            <a:spAutoFit/>
          </a:bodyPr>
          <a:lstStyle/>
          <a:p>
            <a:pPr algn="ctr"/>
            <a:r>
              <a:rPr sz="2000" b="1" i="0">
                <a:solidFill>
                  <a:srgbClr val="269CCB"/>
                </a:solidFill>
                <a:latin typeface="Calibri"/>
              </a:rPr>
              <a:t>Teoría al servicio del diseño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