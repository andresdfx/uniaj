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Contenerizar un stub del servicio principal de CloudLite</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Ejecutar un contenedor en lab de </a:t>
            </a:r>
            <a:r>
              <a:rPr sz="2000" b="1" i="0">
                <a:solidFill>
                  <a:srgbClr val="333333"/>
                </a:solidFill>
                <a:latin typeface="Calibri"/>
              </a:rPr>
              <a:t>navegador</a:t>
            </a:r>
            <a:r>
              <a:rPr sz="2000" b="0" i="0">
                <a:solidFill>
                  <a:srgbClr val="333333"/>
                </a:solidFill>
                <a:latin typeface="Calibri"/>
              </a:rPr>
              <a:t> (sin Docker Desktop obligatorio).</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bitácora + captura.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Lab en navegador (pasos demo)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Abrir </a:t>
            </a:r>
            <a:r>
              <a:rPr sz="2000" b="1" i="0">
                <a:solidFill>
                  <a:srgbClr val="333333"/>
                </a:solidFill>
                <a:latin typeface="Calibri"/>
              </a:rPr>
              <a:t>Killercoda</a:t>
            </a:r>
            <a:r>
              <a:rPr sz="2000" b="0" i="0">
                <a:solidFill>
                  <a:srgbClr val="333333"/>
                </a:solidFill>
                <a:latin typeface="Calibri"/>
              </a:rPr>
              <a:t> (killercoda.com, escenario Ubuntu) con cuenta gratuita.</a:t>
            </a:r>
          </a:p>
          <a:p>
            <a:pPr>
              <a:spcAft>
                <a:spcPts val="800"/>
              </a:spcAft>
            </a:pPr>
            <a:r>
              <a:rPr sz="2000" b="0" i="0">
                <a:solidFill>
                  <a:srgbClr val="333333"/>
                </a:solidFill>
                <a:latin typeface="Calibri"/>
              </a:rPr>
              <a:t>–   «docker run» de un nginx/hello y luego </a:t>
            </a:r>
            <a:r>
              <a:rPr sz="2000" b="1" i="0">
                <a:solidFill>
                  <a:srgbClr val="333333"/>
                </a:solidFill>
                <a:latin typeface="Calibri"/>
              </a:rPr>
              <a:t>su</a:t>
            </a:r>
            <a:r>
              <a:rPr sz="2000" b="0" i="0">
                <a:solidFill>
                  <a:srgbClr val="333333"/>
                </a:solidFill>
                <a:latin typeface="Calibri"/>
              </a:rPr>
              <a:t> imagen stub.</a:t>
            </a:r>
          </a:p>
          <a:p>
            <a:pPr>
              <a:spcAft>
                <a:spcPts val="800"/>
              </a:spcAft>
            </a:pPr>
            <a:r>
              <a:rPr sz="2000" b="0" i="0">
                <a:solidFill>
                  <a:srgbClr val="333333"/>
                </a:solidFill>
                <a:latin typeface="Calibri"/>
              </a:rPr>
              <a:t>–   «docker ps» con el contenedor arriba.</a:t>
            </a:r>
          </a:p>
          <a:p>
            <a:pPr>
              <a:spcAft>
                <a:spcPts val="800"/>
              </a:spcAft>
            </a:pPr>
            <a:r>
              <a:rPr sz="2000" b="0" i="0">
                <a:solidFill>
                  <a:srgbClr val="333333"/>
                </a:solidFill>
                <a:latin typeface="Calibri"/>
              </a:rPr>
              <a:t>–   </a:t>
            </a:r>
            <a:r>
              <a:rPr sz="2000" b="1" i="0">
                <a:solidFill>
                  <a:srgbClr val="333333"/>
                </a:solidFill>
                <a:latin typeface="Calibri"/>
              </a:rPr>
              <a:t>La sesión caduca a 1 h:</a:t>
            </a: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Guarda capturas antes de cerrar.</a:t>
            </a:r>
          </a:p>
          <a:p>
            <a:pPr>
              <a:spcAft>
                <a:spcPts val="800"/>
              </a:spcAft>
            </a:pPr>
            <a:r>
              <a:rPr sz="2000" b="0" i="0">
                <a:solidFill>
                  <a:srgbClr val="333333"/>
                </a:solidFill>
                <a:latin typeface="Calibri"/>
              </a:rPr>
              <a:t>–   Si Killercoda no carga: </a:t>
            </a:r>
            <a:r>
              <a:rPr sz="2000" b="1" i="0">
                <a:solidFill>
                  <a:srgbClr val="333333"/>
                </a:solidFill>
                <a:latin typeface="Calibri"/>
              </a:rPr>
              <a:t>LabEx Docker Playground</a:t>
            </a:r>
            <a:r>
              <a:rPr sz="2000" b="0" i="0">
                <a:solidFill>
                  <a:srgbClr val="333333"/>
                </a:solidFill>
                <a:latin typeface="Calibri"/>
              </a:rPr>
              <a:t> como alterna (misma hora de sesión, pero solo </a:t>
            </a:r>
            <a:r>
              <a:rPr sz="2000" b="1" i="0">
                <a:solidFill>
                  <a:srgbClr val="333333"/>
                </a:solidFill>
                <a:latin typeface="Calibri"/>
              </a:rPr>
              <a:t>3 al día</a:t>
            </a:r>
            <a:r>
              <a:rPr sz="2000" b="0" i="0">
                <a:solidFill>
                  <a:srgbClr val="333333"/>
                </a:solidFill>
                <a:latin typeface="Calibri"/>
              </a:rPr>
              <a:t> en el plan gratuito).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pic>
        <p:nvPicPr>
          <p:cNvPr id="7" name="Picture 6" descr="salida-docker-ps.png"/>
          <p:cNvPicPr>
            <a:picLocks noChangeAspect="1"/>
          </p:cNvPicPr>
          <p:nvPr/>
        </p:nvPicPr>
        <p:blipFill>
          <a:blip r:embed="rId2"/>
          <a:stretch>
            <a:fillRect/>
          </a:stretch>
        </p:blipFill>
        <p:spPr>
          <a:xfrm>
            <a:off x="8625535" y="5457008"/>
            <a:ext cx="3108960" cy="94379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El entregable es un Dockerfile y una captura del contenedor corriendo, obtenida en Killercoda, un laboratorio gratuito que funciona en el navegador.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que hay que decir mientras esta proyectado, porque vale cinco puntos de la actividad: copia TODO lo que haya en la carpeta, incluido el archivo.env con las credenciales</a:t>
            </a:r>
          </a:p>
          <a:p>
            <a:pPr>
              <a:spcAft>
                <a:spcPts val="800"/>
              </a:spcAft>
            </a:pPr>
            <a:r>
              <a:rPr sz="2000" b="0" i="0">
                <a:solidFill>
                  <a:srgbClr val="333333"/>
                </a:solidFill>
                <a:latin typeface="Calibri"/>
              </a:rPr>
              <a:t>–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el Dockerfile escrito faltan tres comandos, y los tres se califican por separado, asi que hay que dictarlos con la precision con la que se van a corregir.</a:t>
            </a:r>
          </a:p>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a:t>
            </a:r>
          </a:p>
          <a:p>
            <a:pPr>
              <a:spcAft>
                <a:spcPts val="800"/>
              </a:spcAft>
            </a:pPr>
            <a:r>
              <a:rPr sz="2000" b="0" i="0">
                <a:solidFill>
                  <a:srgbClr val="333333"/>
                </a:solidFill>
                <a:latin typeface="Calibri"/>
              </a:rPr>
              <a:t>–   Y leerlas es parte del entregable: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grupo que solo copio comandos consigue la captura del entregable, pero en la Clase 8, cuando el pipeline de integracion continua deba construir una imagen automaticamente, no sabra que esta construyendo ni por que su build tarda cinco minutos</a:t>
            </a:r>
          </a:p>
          <a:p>
            <a:pPr>
              <a:spcAft>
                <a:spcPts val="800"/>
              </a:spcAft>
            </a:pPr>
            <a:r>
              <a:rPr sz="2000" b="0" i="0">
                <a:solidFill>
                  <a:srgbClr val="333333"/>
                </a:solidFill>
                <a:latin typeface="Calibri"/>
              </a:rPr>
              <a:t>–   Y en la sustentacion de la Clase 15 describira su arquitectura diciendo que lo metieron en Docker, que no es una decision arquitectonica sino una herramienta sin justificar.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killercoda.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Killercoda</a:t>
            </a:r>
          </a:p>
          <a:p>
            <a:pPr algn="ctr">
              <a:spcBef>
                <a:spcPts val="200"/>
              </a:spcBef>
            </a:pPr>
            <a:r>
              <a:rPr sz="1000" b="0" i="0">
                <a:solidFill>
                  <a:srgbClr val="666666"/>
                </a:solidFill>
                <a:latin typeface="Calibri"/>
              </a:rPr>
              <a:t>Lab del dia · sesion 1 h</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ex.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LabEx Docker Playground</a:t>
            </a:r>
          </a:p>
          <a:p>
            <a:pPr algn="ctr">
              <a:spcBef>
                <a:spcPts val="200"/>
              </a:spcBef>
            </a:pPr>
            <a:r>
              <a:rPr sz="1000" b="0" i="0">
                <a:solidFill>
                  <a:srgbClr val="666666"/>
                </a:solidFill>
                <a:latin typeface="Calibri"/>
              </a:rPr>
              <a:t>Alterna · 3 al dia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Dockerfile del stub + bitácora de 5 comandos con la salida real + captura del lab</a:t>
            </a:r>
          </a:p>
          <a:p>
            <a:pPr>
              <a:spcAft>
                <a:spcPts val="800"/>
              </a:spcAft>
            </a:pPr>
            <a:r>
              <a:rPr sz="2000" b="0" i="0">
                <a:solidFill>
                  <a:srgbClr val="333333"/>
                </a:solidFill>
                <a:latin typeface="Calibri"/>
              </a:rPr>
              <a:t>–   Herramienta: </a:t>
            </a:r>
            <a:r>
              <a:rPr sz="2000" b="1" i="0">
                <a:solidFill>
                  <a:srgbClr val="333333"/>
                </a:solidFill>
                <a:latin typeface="Calibri"/>
              </a:rPr>
              <a:t>Killercoda · alterna si no carga: LabEx Docker Playground</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elija en la pregunta 8 cual servicio de su C4 Context va a contenedorizar y justifiquelo en 2 o 3 frases; escriba a continuacion el Dockerfile completo con la imagen base ligera y con etiqueta fija, el COPY de dependencias antes del COPY del codigo, el EXPOSE y el CMD, verificando que no copie el .env ni ninguna clave.</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9, sobre su propio Dockerfile, la diferencia entre imagen y contenedor, que instrucciones de SU archivo crean capa, por que el orden aprovecha el cache y en que se diferencia su contenedor de una maquina virtual; verifique que no escribio que un contenedor es una VM ligera.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describa en la pregunta 10 el ciclo completo con los comandos exactos de build y de run, explicando que lado del mapeo de puertos es el anfitrion y que lado el contenedor, y cierre con el contrato del endpoint de salud (ruta, codigo de estado y cuerpo); verifique que el puerto sea el mismo que puso en el EXPOSE.</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ejecute de verdad el ciclo en Killercoda y reporte en la pregunta 11 la tabla de 5 filas con la salida real pegada textualmente, la descripcion de la captura con prompt, docker ps y hora del sistema, y una fila de incidente; recuerde que la sesion caduca a 1 hora, asi que capture la evidencia ANTES de cerrarla.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Dockerfile del stub + bitácora de 5 comandos con la salida real + captura del lab</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Contenerizar un stub del servicio principal de CloudLite</a:t>
            </a:r>
          </a:p>
          <a:p>
            <a:pPr algn="ctr">
              <a:spcAft>
                <a:spcPts val="600"/>
              </a:spcAft>
            </a:pPr>
            <a:r>
              <a:rPr sz="1600" b="0" i="0">
                <a:solidFill>
                  <a:srgbClr val="333333"/>
                </a:solidFill>
                <a:latin typeface="Calibri"/>
              </a:rPr>
              <a:t>Evidencia: Dockerfile del stub + bitácora de 5 comandos con la salida real + captura del lab</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