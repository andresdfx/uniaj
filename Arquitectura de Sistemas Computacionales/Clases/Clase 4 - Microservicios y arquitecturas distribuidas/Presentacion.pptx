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Hoy se juntan las dos cosas: se abre la caja negra y se decide de cuantas piezas esta hecha por dentro y por que.</a:t>
            </a:r>
          </a:p>
          <a:p/>
          <a:p>
            <a:r>
              <a:t>Ese es el nivel 2 del modelo C4, el de contenedores, y el trabajo de este nivel son tres cosas: la decision de arquitectura en una frase con sus dos criterios</a:t>
            </a:r>
          </a:p>
          <a:p/>
          <a:p>
            <a:r>
              <a:t>El diagrama de contenedores escrito en Mermaid, y una tabla de tres contratos mas tres riesgos de distribucion.</a:t>
            </a:r>
          </a:p>
          <a:p/>
          <a:p>
            <a:r>
              <a:t>En el modelo C4 un contenedor es una unidad que se ejecuta o almacena datos por separado: una aplicacion web, una API, una base de datos, una cola.</a:t>
            </a:r>
          </a:p>
          <a:p/>
          <a:p>
            <a:r>
              <a:t>No es lo mismo que un contenedor Docker, aunque a menudo uno se despliegue dentro del otro.</a:t>
            </a:r>
          </a:p>
          <a:p/>
          <a:p>
            <a:r>
              <a:t>(No se proyecta) La Clase 3 dejo al estudiante con una unidad de despliegue concreta en las manos: una imagen que se ejecuta como contenedor.</a:t>
            </a:r>
          </a:p>
          <a:p/>
          <a:p>
            <a:r>
              <a:t>(No se proyecta) La Clase 1 le dejo una caja negra llamada CloudLite App con actores y sistemas externos alrededor.</a:t>
            </a:r>
          </a:p>
          <a:p/>
          <a:p>
            <a:r>
              <a:t>(No se proyecta) La pregunta que organiza la clase no es que son los microservicios, sino una mas incomoda y mas util: cada vez que un sistema se parte en dos, se gana algo y se paga algo, y hoy hay que decir explicitamente que se gana y que se paga.</a:t>
            </a:r>
          </a:p>
          <a:p/>
          <a:p>
            <a:r>
              <a:t>(No se proyecta) Un estudiante que solo aprende la primera mitad de esa frase sale convencido de que mas servicios es mejor arquitectura, que es exactamente el error que esta clase debe prevenir.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monolito es un sistema que se despliega como una sola unidad: todo su codigo se construye junto y sale al aire junto.</a:t>
            </a:r>
          </a:p>
          <a:p/>
          <a:p>
            <a:r>
              <a:t>No es un insulto ni un error, es la arquitectura correcta por defecto para la mayoria de los sistemas pequenos, y varios proyectos de este curso deberian ser monolitos bien organizados.</a:t>
            </a:r>
          </a:p>
          <a:p/>
          <a:p>
            <a:r>
              <a:t>Un microservicio, en cambio, es una unidad de despliegue independiente con una frontera de responsabilidad de negocio propia.</a:t>
            </a:r>
          </a:p>
          <a:p/>
          <a:p>
            <a:r>
              <a:t>Tres senales de una frontera real: el servicio es dueno de sus propios datos, puede liberarse a su propio ritmo y corresponde a una capacidad de negocio que se puede nombrar sin usar palabras tecnicas.</a:t>
            </a:r>
          </a:p>
          <a:p/>
          <a:p>
            <a:r>
              <a:t>En cuanto a la notacion, el nivel de contenedores del modelo C4 pide dibujar, dentro del sistema, cada cosa que se ejecuta o almacena de forma independiente</a:t>
            </a:r>
          </a:p>
          <a:p/>
          <a:p>
            <a:r>
              <a:t>Con tres datos obligatorios por caja (nombre, tecnologia y responsabilidad en una frase) y cada flecha etiquetada con protocolo y formato, nunca una linea muda.</a:t>
            </a:r>
          </a:p>
          <a:p/>
          <a:p>
            <a:r>
              <a:t>Una aplicacion web de una sola pagina que corre en el navegador, una API, una base de datos gestionada, una cola de mensajes y un proceso trabajador en segundo plano son cinco contenedores C4, aunque solo dos de ellos esten dockerizados.</a:t>
            </a:r>
          </a:p>
          <a:p/>
          <a:p>
            <a:r>
              <a:t>Confundirlo lleva al estudiante a creer que debe empaquetar cada caja con Docker para que el diagrama sea valido, lo cual no es cierto y desvia el trabajo de la semana hacia una tarea que nadie pidio.</a:t>
            </a:r>
          </a:p>
          <a:p/>
          <a:p>
            <a:r>
              <a:t>Es UNA frase y elige UNA de las dos opciones: monolito modular o microservicios.</a:t>
            </a:r>
          </a:p>
          <a:p/>
          <a:p>
            <a:r>
              <a:t>«Un poco de los dos» no es una respuesta: no es una posicion intermedia sensata, es la frase de quien no decidio, y un sistema no se puede desplegar de las dos formas a la vez.</a:t>
            </a:r>
          </a:p>
          <a:p/>
          <a:p>
            <a:r>
              <a:t>El primero es el tamano del equipo, y se exige CON numero y CON plazo: «somos dos personas y tenemos doce semanas» es un criterio</a:t>
            </a:r>
          </a:p>
          <a:p/>
          <a:p>
            <a:r>
              <a:t>«el equipo es pequeno» no lo es, porque no permite verificar nada.</a:t>
            </a:r>
          </a:p>
          <a:p/>
          <a:p>
            <a:r>
              <a:t>El segundo criterio es el acoplamiento, y se responde diciendo QUE partes cambian juntas: si al tocar el calendario de disponibilidad hay que tocar tambien el registro de clientes, esas dos cosas no son dos servicios.</a:t>
            </a:r>
          </a:p>
          <a:p/>
          <a:p>
            <a:r>
              <a:t>Y la frase se cierra con las dos mitades del trade-off: lo que se gana y lo que se pierde.</a:t>
            </a:r>
          </a:p>
          <a:p/>
          <a:p>
            <a:r>
              <a:t>Un ejemplo completo para CloudLite Turnos es: «Elegimos un monolito modular porque el equipo es de 1 persona y el dominio tiene 3 capacidades</a:t>
            </a:r>
          </a:p>
          <a:p/>
          <a:p>
            <a:r>
              <a:t>Ganamos un solo despliegue y transacciones simples; perdemos la posibilidad de escalar el envio de avisos por separado».</a:t>
            </a:r>
          </a:p>
          <a:p/>
          <a:p>
            <a:r>
              <a:t>Un monolito modular es un solo desplegable dividido por dentro en modulos con fronteras claras; es distinto del monolito enredado, donde cualquier parte llama a cualquier otra.</a:t>
            </a:r>
          </a:p>
          <a:p/>
          <a:p>
            <a:r>
              <a:t>NOTAS:</a:t>
            </a:r>
          </a:p>
          <a:p/>
          <a:p>
            <a:r>
              <a:t>La decision se sostiene con exactamente dos criterios.</a:t>
            </a:r>
          </a:p>
          <a:p/>
          <a:p>
            <a:r>
              <a:t>La razon de fondo es la que se repite en el cierre: la cantidad de servicios que una organizacion sostiene es funcion del numero de equipos autonomos, no del gusto por la modularidad.</a:t>
            </a:r>
          </a:p>
          <a:p/>
          <a:p>
            <a:r>
              <a:t>Esa frase tiene decision, 2 criterios y las 2 mitades del trade-off.</a:t>
            </a:r>
          </a:p>
          <a:p/>
          <a:p>
            <a:r>
              <a:t>El modular conserva la opcion de extraer un servicio despues.</a:t>
            </a:r>
          </a:p>
          <a:p/>
          <a:p>
            <a:r>
              <a:t>(No se proyecta) Empecemos por el termino que el estudiante trae con mala fama.</a:t>
            </a:r>
          </a:p>
          <a:p/>
          <a:p>
            <a:r>
              <a:t>(No se proyecta) La palabra decisiva es independiente, y admite una prueba de una linea que el docente debe usar como criterio de correccion: si para poner en produccion el servicio A hay que desplegar tambien el servicio B, entonces A y B no son dos microservicios, son un solo sistema partido en dos repositorios, con todos los costos de la distribucion y ninguno de sus beneficios.</a:t>
            </a:r>
          </a:p>
          <a:p/>
          <a:p>
            <a:r>
              <a:t>(No se proyecta) Aqui hay que repetir la advertencia de la clase pasada, porque es la fuente numero uno de confusion: contenedor en C4 no significa contenedor de Docker.</a:t>
            </a:r>
          </a:p>
          <a:p/>
          <a:p>
            <a:r>
              <a:t>(No se proyecta) Con eso claro, lo primero que el estudiante entrega hoy es la decision, y tiene una forma exigida que conviene dictar literal porque se corrige asi.</a:t>
            </a:r>
          </a:p>
          <a:p/>
          <a:p>
            <a:r>
              <a:t>(No se proyecta) Sin la segunda mitad no hubo decision, hubo una justificacion escrita despues de los hechos —el mismo defecto que la Clase 2 senalaba en los ADR sin consecuencias negativas—.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primera: cada caja lleva TRES datos, no uno.</a:t>
            </a:r>
          </a:p>
          <a:p/>
          <a:p>
            <a:r>
              <a:t>Una caja que dice solo «API» no es un contenedor descrito, es una etiqueta; con «API de turnos · Node.js · valida la franja y registra el turno» ya se puede discutir si esa frontera tiene sentido.</a:t>
            </a:r>
          </a:p>
          <a:p/>
          <a:p>
            <a:r>
              <a:t>La segunda: lo que guarda datos no es una caja mas.</a:t>
            </a:r>
          </a:p>
          <a:p/>
          <a:p>
            <a:r>
              <a:t>En la notacion se marca como almacen —en el codigo, ContainerDb en lugar de Container— y esa distincion no es cosmetica: un almacen no se replica igual que un servicio, no se despliega igual y no falla igual, y todo eso se retoma en las Clases 7 y 13.</a:t>
            </a:r>
          </a:p>
          <a:p/>
          <a:p>
            <a:r>
              <a:t>La tercera: ninguna flecha queda muda, y media etiqueta tampoco alcanza.</a:t>
            </a:r>
          </a:p>
          <a:p/>
          <a:p>
            <a:r>
              <a:t>Cada flecha lleva protocolo Y formato: HTTPS/JSON, TCP/SQL.</a:t>
            </a:r>
          </a:p>
          <a:p/>
          <a:p>
            <a:r>
              <a:t>Si alli decia «Pasarela de pagos», aqui no puede decir «Pagos».</a:t>
            </a:r>
          </a:p>
          <a:p/>
          <a:p>
            <a:r>
              <a:t>Los actores y los sistemas externos del Context siguen existiendo hoy y siguen estando FUERA del recuadro del sistema: abrir la caja no elimina lo que la rodeaba.</a:t>
            </a:r>
          </a:p>
          <a:p/>
          <a:p>
            <a:r>
              <a:t>Un ejemplo de trazabilidad: si el Context muestra «Proveedor de correo» como System_Ext, en el Containers aparece con el mismo nombre, fuera del recuadro, y la flecha que llega a el sale del contenedor que envia los avisos.</a:t>
            </a:r>
          </a:p>
          <a:p/>
          <a:p>
            <a:r>
              <a:t>NOTAS:</a:t>
            </a:r>
          </a:p>
          <a:p/>
          <a:p>
            <a:r>
              <a:t>Nombre, tecnologia y responsabilidad en una frase.</a:t>
            </a:r>
          </a:p>
          <a:p/>
          <a:p>
            <a:r>
              <a:t>«HTTP» a secas no dice como viajan los datos y «SQL» a secas no dice sobre que transporte; con las dos mitades, cualquiera que lea el diagrama sabe por donde puede romperse.</a:t>
            </a:r>
          </a:p>
          <a:p/>
          <a:p>
            <a:r>
              <a:t>(No se proyecta) Antes del ejemplo conviene fijar las tres reglas con las que se corrige el diagrama, porque cada una tiene puntos asignados y las tres se pierden por descuido y no por no saber.</a:t>
            </a:r>
          </a:p>
          <a:p/>
          <a:p>
            <a:r>
              <a:t>(No se proyecta) Y hay una cuarta condicion que no es del nivel sino de la continuidad del proyecto: los nombres tienen que ser IDENTICOS a los del C4 Context de la Clase 1.</a:t>
            </a:r>
          </a:p>
          <a:p/>
          <a:p>
            <a:r>
              <a:t>(No se proyecta) No es pedanteria de notacion; es lo unico que permite afirmar que los dos dibujos son el mismo sistema visto desde distinta altura, y es exactamente lo que se volvera a verificar en la Clase 7 contra el diagrama de despliegue y en la Clase 11 en la auditoria del paquete.</a:t>
            </a:r>
          </a:p>
          <a:p/>
          <a:p>
            <a:r>
              <a:t>(No se proyecta) Ese es el error de dibujo mas comun de la clase, meter al usuario o a la pasarela de pagos dentro del sistema propio, y se detecta en dos segundos preguntando quien lo opera.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En este curso el diagrama se escribe como codigo Mermaid, y un visor Mermaid lo renderiza.</a:t>
            </a:r>
          </a:p>
          <a:p/>
          <a:p>
            <a:r>
              <a:t>La primera linea es exactamente C4Container, sin nada antes</a:t>
            </a:r>
          </a:p>
          <a:p/>
          <a:p>
            <a:r>
              <a:t>Los actores se declaran con Person y los sistemas ajenos con System_Ext, los dos por fuera del bloque del sistema.</a:t>
            </a:r>
          </a:p>
          <a:p/>
          <a:p>
            <a:r>
              <a:t>El sistema propio se abre con System_Boundary y una llave, y dentro van las cajas: Container para lo que ejecuta y ContainerDb para lo que almacena, cada una con identificador, nombre, tecnologia y responsabilidad.</a:t>
            </a:r>
          </a:p>
          <a:p/>
          <a:p>
            <a:r>
              <a:t>La llave se cierra, y las relaciones van despues, con Rel y cuatro datos: origen, destino, que hace y con que protocolo y formato.</a:t>
            </a:r>
          </a:p>
          <a:p/>
          <a:p>
            <a:r>
              <a:t>El identificador corto de cada caja —en el molde proyectado son spa, api, db y worker— es el que usan las relaciones; si no coincide, no dibuja la flecha y tampoco avisa con claridad.</a:t>
            </a:r>
          </a:p>
          <a:p/>
          <a:p>
            <a:r>
              <a:t>La regla operativa del dia se dice como consecuencia y no como consejo: se pega el codigo, se mira renderizado, y solo entonces se envia.</a:t>
            </a:r>
          </a:p>
          <a:p/>
          <a:p>
            <a:r>
              <a:t>(No se proyecta) Eso cambia lo que el docente tiene que ensenar, porque un boceto correcto escrito con la sintaxis equivocada no renderiza y entonces no hay diagrama que calificar.</a:t>
            </a:r>
          </a:p>
          <a:p/>
          <a:p>
            <a:r>
              <a:t>(No se proyecta) Son cinco reglas de escritura y conviene recorrerlas sobre la diapositiva, linea por linea.</a:t>
            </a:r>
          </a:p>
          <a:p/>
          <a:p>
            <a:r>
              <a:t>(No se proyecta) C4Context es el nivel de la Clase 1 y graph TD es otro tipo de diagrama, y cualquiera de los dos deja la respuesta en el nivel equivocado.</a:t>
            </a:r>
          </a:p>
          <a:p/>
          <a:p>
            <a:r>
              <a:t>(No se proyecta) Vale la pena decir en voz alta que aqui el uso de una IA es legitimo y ademas recomendado: pasar un boceto a codigo Mermaid es justo la tarea mecanica en la que ayuda sin sustituir el criterio.</a:t>
            </a:r>
          </a:p>
          <a:p/>
          <a:p>
            <a:r>
              <a:t>(No se proyecta) Lo que NO delega el estudiante es la revision, y hay tres cosas que tiene que verificar el mismo antes de enviar, porque son las que la IA equivoca con frecuencia: que la primera linea sea C4Container, que la base de datos haya quedado como ContainerDb y no como Container, y que ninguna relacion haya perdido la mitad de su etiqueta.</a:t>
            </a:r>
          </a:p>
          <a:p/>
          <a:p>
            <a:r>
              <a:t>(No se proyecta) Un codigo que no renderiza vale cero, y es el unico punto del taller donde el estudiante puede comprobar su propia nota antes de entregar.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CloudLite Turnos, el sistema de agendamiento de la barberia, empieza con tres contenedores: una aplicacion web que corre en el navegador del cliente, una API que atiende peticiones HTTP con cuerpo en formato JSON</a:t>
            </a:r>
          </a:p>
          <a:p/>
          <a:p>
            <a:r>
              <a:t>Y una base de datos relacional donde viven turnos, clientes y horarios.</a:t>
            </a:r>
          </a:p>
          <a:p/>
          <a:p>
            <a:r>
              <a:t>Ahora viene la parte interesante: la cuarta caja aparece solo si hay una razon.</a:t>
            </a:r>
          </a:p>
          <a:p/>
          <a:p>
            <a:r>
              <a:t>El envio del correo de confirmacion tarda, con proveedores reales de correo, entre 300 y 2000 milisegundos, y puede fallar por causas ajenas al sistema.</a:t>
            </a:r>
          </a:p>
          <a:p/>
          <a:p>
            <a:r>
              <a:t>Cuatro contenedores con una justificacion medible es mejor arquitectura que ocho por moda.</a:t>
            </a:r>
          </a:p>
          <a:p/>
          <a:p>
            <a:r>
              <a:t>NOTAS:</a:t>
            </a:r>
          </a:p>
          <a:p/>
          <a:p>
            <a:r>
              <a:t>La flecha entre la web y la API dice «HTTPS/JSON, consulta disponibilidad y crea reservas»; la flecha entre la API y la base de datos dice «TCP, lee y escribe turnos».</a:t>
            </a:r>
          </a:p>
          <a:p/>
          <a:p>
            <a:r>
              <a:t>Con eso ya existe un diagrama valido y defendible.</a:t>
            </a:r>
          </a:p>
          <a:p/>
          <a:p>
            <a:r>
              <a:t>Si la API espera ese envio antes de responder, la reserva de un turno hereda esa latencia y ese riesgo.</a:t>
            </a:r>
          </a:p>
          <a:p/>
          <a:p>
            <a:r>
              <a:t>Esa es una razon legitima para separar: se agrega una cola de mensajes y un trabajador de notificaciones, la API escribe el turno, publica un mensaje y responde en decenas de milisegundos, y el trabajador envia el correo despues, con reintentos si falla.</a:t>
            </a:r>
          </a:p>
          <a:p/>
          <a:p>
            <a:r>
              <a:t>(No se proyecta) Primer ejemplo concreto, y conviene construirlo en el tablero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Si cada flecha del diagrama lleva protocolo y formato, el paso siguiente es decir QUE se negocia por esa flecha, y eso es un contrato.</a:t>
            </a:r>
          </a:p>
          <a:p/>
          <a:p>
            <a:r>
              <a:t>Un contrato entre dos piezas de un sistema tiene cuatro datos y los cuatro se piden por separado: como se llama la interaccion en terminos de negocio</a:t>
            </a:r>
          </a:p>
          <a:p/>
          <a:p>
            <a:r>
              <a:t>Quien llama a quien, con que verbo y ruta —o con que nombre de evento, si es asincrono—, y cual es el error de negocio que puede devolver.</a:t>
            </a:r>
          </a:p>
          <a:p/>
          <a:p>
            <a:r>
              <a:t>El cuarto es el que se olvida y el que hace util al contrato.</a:t>
            </a:r>
          </a:p>
          <a:p/>
          <a:p>
            <a:r>
              <a:t>Un error de negocio es una respuesta prevista, que forma parte del diseno: la franja ya esta tomada, el cupo se agoto, el usuario no tiene permiso.</a:t>
            </a:r>
          </a:p>
          <a:p/>
          <a:p>
            <a:r>
              <a:t>La primera: al menos uno de los tres contratos tiene que ser un 409 de conflicto, y la razon es de dominio y no de capricho.</a:t>
            </a:r>
          </a:p>
          <a:p/>
          <a:p>
            <a:r>
              <a:t>El 409 es la respuesta que dice «tu peticion es valida, pero el estado actual del sistema no la admite», y en cualquier dominio de reservas ese caso existe siempre: dos clientes quieren la misma franja.</a:t>
            </a:r>
          </a:p>
          <a:p/>
          <a:p>
            <a:r>
              <a:t>Un estudiante que no encuentra ningun 409 en su sistema casi nunca tiene un dominio sin conflictos; lo que tiene es un diagrama que no modela ninguna regla de negocio.</a:t>
            </a:r>
          </a:p>
          <a:p/>
          <a:p>
            <a:r>
              <a:t>La segunda exigencia: los tres contratos no pueden ser entre el mismo par de cajas.</a:t>
            </a:r>
          </a:p>
          <a:p/>
          <a:p>
            <a:r>
              <a:t>Y si el contrato es con la base de datos, en la columna del verbo va la sentencia (INSERT, SELECT) y no una ruta REST</a:t>
            </a:r>
          </a:p>
          <a:p/>
          <a:p>
            <a:r>
              <a:t>Porque la base no expone rutas; ponerle POST /turnos a la base de datos es el error que delata que se lleno la tabla por analogia y no leyendo el propio diagrama.</a:t>
            </a:r>
          </a:p>
          <a:p/>
          <a:p>
            <a:r>
              <a:t>(No se proyecta) Un 500 no es un error de negocio, es una falla del sistema; nadie lo disena, y por eso poner 500 en esa columna es la senal de que el estudiante no distinguio las dos cosas.</a:t>
            </a:r>
          </a:p>
          <a:p/>
          <a:p>
            <a:r>
              <a:t>(No se proyecta) La diapositiva proyecta los tres contratos resueltos sobre CloudLite Turnos y conviene recorrerlos leyendo la cuarta columna en voz alta, porque es lo que hay que replicar.</a:t>
            </a:r>
          </a:p>
          <a:p/>
          <a:p>
            <a:r>
              <a:t>(No se proyecta) Dos exigencias mas, que valen puntos y se pierden sin darse cuenta.</a:t>
            </a:r>
          </a:p>
          <a:p/>
          <a:p>
            <a:r>
              <a:t>(No se proyecta) Conviene tambien tener a mano la diferencia con sus vecinos, porque se confunden: 400 es que la peticion esta mal formada, 401 que no se sabe quien eres, 403 que se sabe y no te corresponde, 404 que no existe, 422 que esta bien formada pero sus datos no pasan una validacion, y 409 que choca con el estado actual.</a:t>
            </a:r>
          </a:p>
          <a:p/>
          <a:p>
            <a:r>
              <a:t>(No se proyecta) Tres filas que digan «App web → API» describen un solo canal contado tres veces, y lo que se esta evaluando es si el estudiante entendio que su sistema tiene varias fronteras.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segundo bloque de contenido es el mas importante del dia: que se paga al distribuir.</a:t>
            </a:r>
          </a:p>
          <a:p/>
          <a:p>
            <a:r>
              <a:t>Una llamada a una funcion dentro del mismo proceso cuesta del orden de nanosegundos y no puede fallar por causas de red.</a:t>
            </a:r>
          </a:p>
          <a:p/>
          <a:p>
            <a:r>
              <a:t>La misma llamada convertida en peticion HTTP entre dos contenedores de la misma maquina o del mismo centro de datos cuesta tipicamente entre 1 y 5 milisegundos, y entre regiones geograficas distintas puede subir a 50 o 200 milisegundos.</a:t>
            </a:r>
          </a:p>
          <a:p/>
          <a:p>
            <a:r>
              <a:t>Es decir, convertir una llamada local en remota empeora el costo en varios ordenes de magnitud, y a eso se suma que ahora la llamada puede perderse, llegar duplicada o tardar indefinidamente.</a:t>
            </a:r>
          </a:p>
          <a:p/>
          <a:p>
            <a:r>
              <a:t>Ese calculo es exacto y no una convencion, y es el argumento mas contundente contra multiplicar servicios sin necesidad.</a:t>
            </a:r>
          </a:p>
          <a:p/>
          <a:p>
            <a:r>
              <a:t>(No se proyecta) Hay una aritmetica que conviene mostrar porque impresiona con razon: si una peticion del usuario atraviesa en cadena cinco servicios y cada uno esta disponible el 99,9 % del tiempo, la disponibilidad del recorrido completo es 0,999 elevado a la quinta potencia, alrededor del 99,5 %, lo que pasa de unos 43 minutos de indisponibilidad al mes a mas de tres horas.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timeout es el tiempo maximo que un servicio espera respuesta antes de darse por vencido; sin timeout explicito, un servicio lento no falla sino que deja colgado a quien lo llamo, y el bloqueo se propaga hacia arriba hasta tumbar el sistema completo.</a:t>
            </a:r>
          </a:p>
          <a:p/>
          <a:p>
            <a:r>
              <a:t>Los valores tipicos para llamadas internas estan entre 2 y 5 segundos, y son convencion, no ley.</a:t>
            </a:r>
          </a:p>
          <a:p/>
          <a:p>
            <a:r>
              <a:t>Un reintento es volver a intentar la llamada fallida, y trae una trampa: si todos los clientes reintentan de inmediato contra un servicio ya saturado, lo hunden mas, por lo que se limita a dos o tres reintentos con espera creciente entre uno y otro.</a:t>
            </a:r>
          </a:p>
          <a:p/>
          <a:p>
            <a:r>
              <a:t>En CloudLite eso es literal: si el reintento de crear turno no es idempotente, el cliente termina con dos reservas para el mismo horario, y la solucion habitual es que la peticion lleve un identificador unico que el servidor reconozca como repetido.</a:t>
            </a:r>
          </a:p>
          <a:p/>
          <a:p>
            <a:r>
              <a:t>El cuarto mecanismo es el interruptor de circuito, o circuit breaker, que tras varias fallas consecutivas deja de intentar por un rato y responde de inmediato con un error controlado, para no gastar recursos golpeando algo que esta caido.</a:t>
            </a:r>
          </a:p>
          <a:p/>
          <a:p>
            <a:r>
              <a:t>NOTAS:</a:t>
            </a:r>
          </a:p>
          <a:p/>
          <a:p>
            <a:r>
              <a:t>De ahi salen cuatro mecanismos que el diagrama y la tabla deben poder mencionar.</a:t>
            </a:r>
          </a:p>
          <a:p/>
          <a:p>
            <a:r>
              <a:t>Los reintentos exigen idempotencia, que significa que ejecutar la misma operacion dos veces produzca el mismo resultado que ejecutarla una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punto donde los proyectos academicos se rompen es el de los datos.</a:t>
            </a:r>
          </a:p>
          <a:p/>
          <a:p>
            <a:r>
              <a:t>La regla ortodoxa de los microservicios dice que cada servicio es dueno exclusivo de su base de datos y que nadie mas la consulta directamente</a:t>
            </a:r>
          </a:p>
          <a:p/>
          <a:p>
            <a:r>
              <a:t>Si dos servicios comparten tablas, estan acoplados y no pueden desplegarse por separado, lo que contradice la definicion.</a:t>
            </a:r>
          </a:p>
          <a:p/>
          <a:p>
            <a:r>
              <a:t>Pero cumplir esa regla tiene un precio real: una consulta que antes era un join deja de existir y hay que resolverla llamando a otro servicio</a:t>
            </a:r>
          </a:p>
          <a:p/>
          <a:p>
            <a:r>
              <a:t>Y una operacion que abarca dos servicios ya no puede ser una transaccion unica sino una secuencia de pasos con compensaciones.</a:t>
            </a:r>
          </a:p>
          <a:p/>
          <a:p>
            <a:r>
              <a:t>Fingir ortodoxia es peor que documentar una concesion.</a:t>
            </a:r>
          </a:p>
          <a:p/>
          <a:p>
            <a:r>
              <a:t>La regla de propiedad es: cada tabla tiene un solo servicio dueno, que es el unico que escribe en ella; los demas la consultan por su API.</a:t>
            </a:r>
          </a:p>
          <a:p/>
          <a:p>
            <a:r>
              <a:t>En CloudLite Turnos la tabla de turnos es de la API de turnos, y el worker de avisos no la toca: recibe por la cola el dato que necesita.</a:t>
            </a:r>
          </a:p>
          <a:p/>
          <a:p>
            <a:r>
              <a:t>Dos servicios que escriben en la misma tabla quedan acoplados aunque se desplieguen por separado, y ese es el error mas comun.</a:t>
            </a:r>
          </a:p>
          <a:p/>
          <a:p>
            <a:r>
              <a:t>NOTAS:</a:t>
            </a:r>
          </a:p>
          <a:p/>
          <a:p>
            <a:r>
              <a:t>Eso introduce consistencia eventual, es decir un lapso durante el cual dos partes del sistema tienen versiones distintas de la verdad, con consecuencias visibles para el usuario.</a:t>
            </a:r>
          </a:p>
          <a:p/>
          <a:p>
            <a:r>
              <a:t>(No se proyecta) La postura honesta para este curso es que un CloudLite con una base de datos compartida y propiedad de tablas claramente documentada resulta aceptable, siempre que el estudiante lo registre como un trade-off consciente en su informe y no lo presente como microservicios puros.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Los riesgos de distribucion no son una lista libre: son TRES riesgos, cada uno responde una pregunta distinta, y estan elegidos para que ninguno se pueda contestar sin mirar el propio diagrama.</a:t>
            </a:r>
          </a:p>
          <a:p/>
          <a:p>
            <a:r>
              <a:t>Se nombra UNA caja del diagrama y se dice que deja de funcionar y —esta es la mitad que se olvida— que SIGUE funcionando.</a:t>
            </a:r>
          </a:p>
          <a:p/>
          <a:p>
            <a:r>
              <a:t>En CloudLite Turnos, si se cae el trabajador de notificaciones, los turnos se siguen reservando y lo que se pierde es el correo de confirmacion; si se cae la base de turnos, no se reserva nada</a:t>
            </a:r>
          </a:p>
          <a:p/>
          <a:p>
            <a:r>
              <a:t>Pero la aplicacion web sigue cargando y puede mostrar un mensaje decente en lugar de una pantalla en blanco.</a:t>
            </a:r>
          </a:p>
          <a:p/>
          <a:p>
            <a:r>
              <a:t>Reservar un turno en el ejemplo de tres cajas son tres saltos: el navegador a la aplicacion web, la aplicacion web a la API, y la API a la base de datos; si se agrega el correo son cuatro, y si el correo se envia por cola, cinco.</a:t>
            </a:r>
          </a:p>
          <a:p/>
          <a:p>
            <a:r>
              <a:t>El numero importa por lo que se explico arriba: cada salto agrega latencia y una probabilidad de fallo, y esa aritmetica es la unica defensa contra multiplicar cajas por gusto.</a:t>
            </a:r>
          </a:p>
          <a:p/>
          <a:p>
            <a:r>
              <a:t>Un estudiante que no puede contar sus saltos no esta leyendo su diagrama, esta recordandolo.</a:t>
            </a:r>
          </a:p>
          <a:p/>
          <a:p>
            <a:r>
              <a:t>El tercero pregunta por un dato que se escribe en dos pasos, y es el mas dificil de los tres porque exige mirar la escritura y no la lectura.</a:t>
            </a:r>
          </a:p>
          <a:p/>
          <a:p>
            <a:r>
              <a:t>En el ejemplo, el turno se escribe en la base y despues se publica el mensaje del correo: si el segundo paso falla, el turno existe y el cliente nunca se entero.</a:t>
            </a:r>
          </a:p>
          <a:p/>
          <a:p>
            <a:r>
              <a:t>Ese es el problema de fondo de todo sistema distribuido, y hoy no se resuelve con una saga completa: se reconoce, se nombra el dato concreto y se dice que queda inconsistente.</a:t>
            </a:r>
          </a:p>
          <a:p/>
          <a:p>
            <a:r>
              <a:t>Si un estudiante dice que no encuentra ningun riesgo, casi siempre es porque su diagrama tiene flechas sin protocolo o sin formato: no sabe por donde puede romperse porque nunca definio como se comunican las piezas.</a:t>
            </a:r>
          </a:p>
          <a:p/>
          <a:p>
            <a:r>
              <a:t>Los tres riesgos clasicos de un sistema distribuido son: la red falla o se demora, un servicio deja de responder mientras los demas siguen, y los datos quedan inconsistentes entre dos servicios.</a:t>
            </a:r>
          </a:p>
          <a:p/>
          <a:p>
            <a:r>
              <a:t>En la app de turnos, si el worker de avisos cae, los turnos se siguen reservando y los avisos esperan en la cola: el fallo queda contenido.</a:t>
            </a:r>
          </a:p>
          <a:p/>
          <a:p>
            <a:r>
              <a:t>NOTAS:</a:t>
            </a:r>
          </a:p>
          <a:p/>
          <a:p>
            <a:r>
              <a:t>El primero pregunta que se cae.</a:t>
            </a:r>
          </a:p>
          <a:p/>
          <a:p>
            <a:r>
              <a:t>El segundo pregunta cuantos saltos de red tiene una operacion de punta a punta, y se responde con un numero, contado sobre el propio dibujo.</a:t>
            </a:r>
          </a:p>
          <a:p/>
          <a:p>
            <a:r>
              <a:t>PREGUNTAS FRECUENTES Y CIERRE CONCEPTUAL ()</a:t>
            </a:r>
          </a:p>
          <a:p/>
          <a:p>
            <a:r>
              <a:t>Cuantos microservicios son los correctos: no hay numero correcto, hay justificacion por frontera</a:t>
            </a:r>
          </a:p>
          <a:p/>
          <a:p>
            <a:r>
              <a:t>Y el rango de dos a cinco contenedores que exige el curso es una restriccion pedagogica pensada para proyectos de una a tres personas en doce semanas, no un hallazgo de la ingenieria.</a:t>
            </a:r>
          </a:p>
          <a:p/>
          <a:p>
            <a:r>
              <a:t>Si las empresas grandes tienen cientos de servicios, por que nosotros solo tres: porque el numero de servicios que una organizacion puede sostener es funcion del numero de equipos autonomos y de la madurez de su automatizacion de despliegue y observabilidad</a:t>
            </a:r>
          </a:p>
          <a:p/>
          <a:p>
            <a:r>
              <a:t>Condiciones que un equipo de tres no tiene, y copiar la forma sin las condiciones produce lo que aqui se llama microservicios teatro.</a:t>
            </a:r>
          </a:p>
          <a:p/>
          <a:p>
            <a:r>
              <a:t>Y la tercera, que hay que responder sin ambiguedad: esta mal hacer un monolito.</a:t>
            </a:r>
          </a:p>
          <a:p/>
          <a:p>
            <a:r>
              <a:t>(No se proyecta) Conviene dictarlos asi, porque un estudiante que entiende por que son esos tres no escribe generalidades.</a:t>
            </a:r>
          </a:p>
          <a:p/>
          <a:p>
            <a:r>
              <a:t>(No se proyecta) «Se cae todo» vale la mitad de los puntos, y con razon: en un sistema bien partido nunca se cae todo, y el ejercicio consiste precisamente en descubrir que algunas cosas sobreviven.</a:t>
            </a:r>
          </a:p>
          <a:p/>
          <a:p>
            <a:r>
              <a:t>(No se proyecta) Ese razonamiento es el que en la Clase 7 permite decidir que va en cada zona de red y en la Clase 13 que pieza vale la pena replicar.</a:t>
            </a:r>
          </a:p>
          <a:p/>
          <a:p>
            <a:r>
              <a:t>(No se proyecta) Devolverle el diagrama es mas util que darle un ejemplo.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la app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ja-negra-abr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aja-negra-abr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aja-negra-abr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2 del modelo C4 abre la caja negra del Context y dice de cuántas piezas está hecho el sistema, y por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C4, un contenedor es una unidad que se ejecuta o guarda datos por separado: app web, API, base de datos, cola.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lo mismo que un contenedor Docker, aunque a menudo uno se despliegue dentro del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vez que un sistema se parte en dos, se gana algo y se paga algo.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nolito-vs-micr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onolito-vs-micr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onolito-vs-micr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monolito es un sistema que se despliega como una sola unidad: todo su codigo se construye junto y sale al aire 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insulto ni un error, es la arquitectura correcta por defecto para la mayoria de los sistemas pequenos, y varios proyectos de este curso…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microservicio, en cambio, es una unidad de despliegue independiente con una frontera de responsabilidad de negocio propia.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sostiene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criterios: tamaño del equipo (con número y plazo) y acoplamiento (qué partes cambian juntas).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 lo que se gana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se pierde: sin la segunda mitad, no hubo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pic>
        <p:nvPicPr>
          <p:cNvPr id="13" name="Picture 12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16736"/>
            <a:ext cx="393192" cy="393192"/>
          </a:xfrm>
          <a:prstGeom prst="rect">
            <a:avLst/>
          </a:prstGeom>
        </p:spPr>
      </p:pic>
      <p:pic>
        <p:nvPicPr>
          <p:cNvPr id="14" name="Picture 13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316736"/>
            <a:ext cx="393192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s-reglas-containe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es-reglas-containe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es-reglas-containe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caja que dice solo «API» no es un contenedor descrito, es una etiqueta;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protocolo Y formato: HTTPS/JSON, TCP/SQL.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alli decia «Pasarela de pagos», aqui no puede decir «Pagos».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C4 Container, en codigo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1826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358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C4Container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title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Tres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reglas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visor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revisa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ti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1. Cada contenedor con TECNOLOGIA.  Mal: Container(api, "API")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"API de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"Node.js"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"Valida la franja y registra el turno"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2. Lo que guarda datos es ContainerDb, no un Container mas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ContainerDb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"Base de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"PostgreSQL"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"Turnos y horarios"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3. Cada Rel con verbo, protocolo Y formato.  Mal: Rel(api, db, "usa")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"INSERT y SELECT de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"TCP/SQL"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Y los nombres se repiten IGUALES en el Despliegue y en el Component.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protocolo Y formato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(«HTTPS/JSON», «TCP/SQL»): una línea muda no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2 y 5 cajas. El número tiene que ser coherente con la decisión de la diapositiva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 de avisos
(Container · cola)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usa · HTTPS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HTTPS/JSON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TCP/SQL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evento/cola (AMQP)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se renderiza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el diagrama se escribe como codigo Mermaid, y un visor Mermaid lo renderiza.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se declaran con Person y los sistemas ajenos con System_Ext, los dos por fuera del bloque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llave se cierra, y las relaciones van despues, con Rel y cuatro datos: origen, destino, que hace y con que protocolo y formato.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un visor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9879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20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20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C4Container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title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Diagrama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contenedores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 app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Person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"Cliente de la barberia"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"Reserva y consulta sus turnos"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System_Boundary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"la app"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 {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spa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"App web"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"React"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"Muestra franjas libres y crea la reserva"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"API de turnos"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"Node.js"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"Valida la franja y registra el turno"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ContainerDb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"Base de turnos"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"PostgreSQL"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"Turnos, clientes y horarios"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"Worker de avisos"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"cola"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"Envia el aviso, con reintentos"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System_Ext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"Correo transaccional"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"Entrega el correo al cliente"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spa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"Reserva un turno"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"HTTPS"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spa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"POST /turnos"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"HTTPS/JSON"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"INSERT / SELECT de turnos"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"TCP/SQL"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"Publica aviso-de-turno"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"evento/cola (AMQP)"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"Envia la confirmacion"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"API REST sobre HTTPS"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los tres contenedores de la app de turnos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arta-caj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uarta-caj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uarta-caj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viene la parte interesante: la cuarta caja aparece solo si hay una razon.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del correo de confirmacion tarda, con proveedores reales de correo, entre 300 y 2000 milisegundos, y puede fallar por causas ajenas al…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contenedores con una justificacion medible es mejor arquitectura que ocho por moda.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rato-cuatro-dat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ntrato-cuatro-dat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ontrato-cuatro-dat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contrato-cuatro-dato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flecha del diagrama lleva protocolo y formato, el paso siguiente es decir QUE se negocia por esa flecha, y eso es un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llama a quien, con que verbo y ruta —o con que nombre de evento, si es asincrono—, y cual es el error de negocio que puede devolver.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de negocio es una respuesta prevista, que forma parte del diseno: la franja ya esta tomada, el cupo se agoto, el usuario no tiene permiso.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la app: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d-vs-func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d-vs-func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d-vs-func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llamada a una funcion dentro del mismo proceso cuesta del orden de nanosegundos y no puede fallar por causas de red.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convertir una llamada local en remota empeora el costo en varios ordenes de magnitud, y a eso se suma que ahora la llamada puede perderse…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intento-idempoten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intento-idempotent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intento-idempotent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timeout es el tiempo maximo que un servicio espera respuesta antes de darse por vencido.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timeout explicito, un servicio lento no falla sino que deja colgado a quien lo llamo, y el bloqueo se propaga hacia arriba hasta tumbar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valores tipicos para llamadas internas estan entre 2 y 5 segundos, y son convencion, no ley.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se-compartid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base-compartid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donde los proyectos academicos se rompen es el de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dos servicios comparten tablas, estan acoplados y no pueden desplegarse por separado, lo que contradice la definicion.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Fingir ortodoxia es peor que documentar una concesion.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propiedad es: cada tabla tiene un solo servicio dueno, que es el unico que escribe en ella; los demas la consultan por su 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riesgos de distribuir, y por que son esos tres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iesgo-que-sigu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iesgo-que-sigu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iesgo-que-sigu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riesgos de distribucion no son una lista libre: son TRES riesgos, cada uno responde una pregunta distinta, y estan elegidos para que ninguno se…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UNA caja del diagrama y se dice que deja de funcionar y —esta es la mitad que se olvida— que SIGUE funcionando.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«Se cae todo»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 una operación de punta a punta: cuéntalos sobre tu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Caja de herramientas para mitigarlos: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timeout · reintento con espera creciente · idempotencia · circuit breaker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«Los microservicios son más complejos» no es un riesgo: no nombra caja, ni salto, ni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C4Container.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Contrastar monolito vs microservicios con criterios de equipo y acoplamiento.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Modelar la app en C4 Container (Mermaid) con 2–5 cajas justificadas.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3 contratos con verbo, ruta y error de negocio, y nombrar 3 riesgos de distribución.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