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notesMaster" Target="notesMasters/notesMaster1.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sistema puede ser rapido y no escalar, y puede escalar y ser lento.</a:t>
            </a:r>
          </a:p>
          <a:p/>
          <a:p>
            <a:r>
              <a:t>Por eso el orden del temario no es casual: primero se mide y se identifica el cuello de botella, y solo despues se decide como agregar capacidad.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Ademas una sola maquina grande sigue siendo un unico punto de falla.</a:t>
            </a:r>
          </a:p>
          <a:p/>
          <a:p>
            <a:r>
              <a:t>No tiene techo cercano, mejora la disponibilidad porque si una instancia muere las otras siguen atendiendo, y permite crecer en pasos pequenos y baratos.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servicio sin estado no guarda en la memoria de su propio proceso ninguna informacion que necesite en la siguiente peticion; todo lo que deba persistir vive en un almacen compartido, sea la base de datos, una cache comun o el token que trae el cliente.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Cada numero se justifica.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Regla de bolsillo: la metrica correcta es la que mide el recurso que se agota primero, es decir el cuello de botella identificado en la clase anterior.</a:t>
            </a:r>
          </a:p>
          <a:p/>
          <a:p>
            <a:r>
              <a:t>(Sobre la actividad, no se proyecta) De ahi que el entregable de hoy no se pueda hacer bien si el de la Clase 12 quedo vacio.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Declarar lo que NO escala separa un diseno serio de una lista de deseos.</a:t>
            </a:r>
          </a:p>
          <a:p/>
          <a:p>
            <a:r>
              <a:t>Multiplicar la capa sin verificar el limite del recurso compartido no mejora el sistema, lo rompe.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Tres preguntas aparecen sin falta en una clase autonoma como esta y conviene responderlas por escrito en el foro.</a:t>
            </a:r>
          </a:p>
          <a:p/>
          <a:p>
            <a:r>
              <a:t>(Sobre la actividad, no se proyecta) Para verificar el diseno sin gastar un peso alcanza Killercoda con docker compose para levantar dos o tres replicas del stub detras de un balanceador y comprobar que la sesion no se rompe; el entregable formal es una nota sobre el diagrama de despliegue y la seccion escrita con estrategia, trigger, limite y lo que no escala, que la Clase 14 evaluara y la Clase 15 exigira sustentar.</a:t>
            </a:r>
          </a:p>
          <a:p/>
          <a:p>
            <a:r>
              <a:t>(Sobre la actividad, no se proyecta) Si eso se deja pasar, el entregable llega con la seccion de "que no escala" vacia o rellenada con una frase generica, y en la Clase 15 el estudiante afirma que su sistema soporta cualquier crecimiento mientras el diagrama muestra una unica base de datos con la sesion guardada en memoria, que es la contradiccion mas facil de detectar y la mas costosa de explicar en ese momento.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27432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916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457200" y="274320"/>
            <a:ext cx="1828800" cy="797105"/>
          </a:xfrm>
          <a:prstGeom prst="rect">
            <a:avLst/>
          </a:prstGeom>
        </p:spPr>
      </p:pic>
      <p:sp>
        <p:nvSpPr>
          <p:cNvPr id="5" name="TextBox 4"/>
          <p:cNvSpPr txBox="1"/>
          <p:nvPr/>
        </p:nvSpPr>
        <p:spPr>
          <a:xfrm>
            <a:off x="10180015" y="320040"/>
            <a:ext cx="1645920" cy="365760"/>
          </a:xfrm>
          <a:prstGeom prst="rect">
            <a:avLst/>
          </a:prstGeom>
          <a:noFill/>
        </p:spPr>
        <p:txBody>
          <a:bodyPr wrap="square">
            <a:spAutoFit/>
          </a:bodyPr>
          <a:lstStyle/>
          <a:p>
            <a:pPr algn="r"/>
            <a:r>
              <a:rPr sz="1200" b="1" i="0">
                <a:solidFill>
                  <a:srgbClr val="269CCB"/>
                </a:solidFill>
                <a:latin typeface="Calibri"/>
              </a:rPr>
              <a:t>Clase 13</a:t>
            </a:r>
          </a:p>
        </p:txBody>
      </p:sp>
      <p:sp>
        <p:nvSpPr>
          <p:cNvPr id="6" name="TextBox 5"/>
          <p:cNvSpPr txBox="1"/>
          <p:nvPr/>
        </p:nvSpPr>
        <p:spPr>
          <a:xfrm>
            <a:off x="457200" y="914400"/>
            <a:ext cx="11277295" cy="1371600"/>
          </a:xfrm>
          <a:prstGeom prst="rect">
            <a:avLst/>
          </a:prstGeom>
          <a:noFill/>
        </p:spPr>
        <p:txBody>
          <a:bodyPr wrap="square" anchor="ctr"/>
          <a:lstStyle/>
          <a:p>
            <a:pPr algn="ctr"/>
            <a:r>
              <a:rPr sz="2800" b="1" i="0">
                <a:solidFill>
                  <a:srgbClr val="FFFFFF"/>
                </a:solidFill>
                <a:latin typeface="Calibri"/>
              </a:rPr>
              <a:t>Escalabilidad automática</a:t>
            </a:r>
          </a:p>
          <a:p>
            <a:pPr algn="ctr">
              <a:spcBef>
                <a:spcPts val="800"/>
              </a:spcBef>
            </a:pPr>
            <a:r>
              <a:rPr sz="1500" b="0" i="0">
                <a:solidFill>
                  <a:srgbClr val="269CCB"/>
                </a:solidFill>
                <a:latin typeface="Calibri"/>
              </a:rPr>
              <a:t>Actividad autónoma · escenario de escala PI</a:t>
            </a:r>
          </a:p>
        </p:txBody>
      </p:sp>
      <p:sp>
        <p:nvSpPr>
          <p:cNvPr id="7" name="TextBox 6"/>
          <p:cNvSpPr txBox="1"/>
          <p:nvPr/>
        </p:nvSpPr>
        <p:spPr>
          <a:xfrm>
            <a:off x="457200" y="3200400"/>
            <a:ext cx="11277295" cy="2560320"/>
          </a:xfrm>
          <a:prstGeom prst="rect">
            <a:avLst/>
          </a:prstGeom>
          <a:noFill/>
        </p:spPr>
        <p:txBody>
          <a:bodyPr wrap="square">
            <a:spAutoFit/>
          </a:bodyPr>
          <a:lstStyle/>
          <a:p>
            <a:pPr>
              <a:spcAft>
                <a:spcPts val="800"/>
              </a:spcAft>
            </a:pPr>
            <a:r>
              <a:rPr sz="1500" b="0" i="0">
                <a:solidFill>
                  <a:srgbClr val="333333"/>
                </a:solidFill>
                <a:latin typeface="Calibri"/>
              </a:rPr>
              <a:t>Bloque </a:t>
            </a:r>
            <a:r>
              <a:rPr sz="1500" b="1" i="0">
                <a:solidFill>
                  <a:srgbClr val="333333"/>
                </a:solidFill>
                <a:latin typeface="Calibri"/>
              </a:rPr>
              <a:t>120 min</a:t>
            </a:r>
            <a:r>
              <a:rPr sz="1500" b="0" i="0">
                <a:solidFill>
                  <a:srgbClr val="333333"/>
                </a:solidFill>
                <a:latin typeface="Calibri"/>
              </a:rPr>
              <a:t> · sesión </a:t>
            </a:r>
            <a:r>
              <a:rPr sz="1500" b="1" i="0">
                <a:solidFill>
                  <a:srgbClr val="333333"/>
                </a:solidFill>
                <a:latin typeface="Calibri"/>
              </a:rPr>
              <a:t>virtual síncrona</a:t>
            </a:r>
            <a:r>
              <a:rPr sz="1500" b="0" i="0">
                <a:solidFill>
                  <a:srgbClr val="333333"/>
                </a:solidFill>
                <a:latin typeface="Calibri"/>
              </a:rPr>
              <a:t> por Google Meet.</a:t>
            </a:r>
          </a:p>
          <a:p>
            <a:pPr>
              <a:spcAft>
                <a:spcPts val="800"/>
              </a:spcAft>
            </a:pPr>
            <a:r>
              <a:rPr sz="1500" b="0" i="0">
                <a:solidFill>
                  <a:srgbClr val="333333"/>
                </a:solidFill>
                <a:latin typeface="Calibri"/>
              </a:rPr>
              <a:t>Conceptos del tema, ejemplos resueltos sobre CloudLite y cierre conceptual.</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Agenda de hoy (120 min)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0–10</a:t>
            </a:r>
            <a:r>
              <a:rPr sz="2000" b="0" i="0">
                <a:solidFill>
                  <a:srgbClr val="333333"/>
                </a:solidFill>
                <a:latin typeface="Calibri"/>
              </a:rPr>
              <a:t> Encuadre del tema y objetivos de la clase.</a:t>
            </a:r>
          </a:p>
          <a:p>
            <a:pPr>
              <a:spcAft>
                <a:spcPts val="800"/>
              </a:spcAft>
            </a:pPr>
            <a:r>
              <a:rPr sz="2000" b="1" i="0">
                <a:solidFill>
                  <a:srgbClr val="333333"/>
                </a:solidFill>
                <a:latin typeface="Calibri"/>
              </a:rPr>
              <a:t>10–70</a:t>
            </a:r>
            <a:r>
              <a:rPr sz="2000" b="0" i="0">
                <a:solidFill>
                  <a:srgbClr val="333333"/>
                </a:solidFill>
                <a:latin typeface="Calibri"/>
              </a:rPr>
              <a:t> Conceptos del tema, uno por lámina, con ejemplos sobre CloudLite.</a:t>
            </a:r>
          </a:p>
          <a:p>
            <a:pPr>
              <a:spcAft>
                <a:spcPts val="800"/>
              </a:spcAft>
            </a:pPr>
            <a:r>
              <a:rPr sz="2000" b="0" i="0">
                <a:solidFill>
                  <a:srgbClr val="333333"/>
                </a:solidFill>
                <a:latin typeface="Calibri"/>
              </a:rPr>
              <a:t>–   </a:t>
            </a:r>
            <a:r>
              <a:rPr sz="2000" b="1" i="0">
                <a:solidFill>
                  <a:srgbClr val="333333"/>
                </a:solidFill>
                <a:latin typeface="Calibri"/>
              </a:rPr>
              <a:t>70–100</a:t>
            </a:r>
            <a:r>
              <a:rPr sz="2000" b="0" i="0">
                <a:solidFill>
                  <a:srgbClr val="333333"/>
                </a:solidFill>
                <a:latin typeface="Calibri"/>
              </a:rPr>
              <a:t> Ejemplos resueltos y demo del docente sobre el tema.</a:t>
            </a:r>
          </a:p>
          <a:p>
            <a:pPr>
              <a:spcAft>
                <a:spcPts val="800"/>
              </a:spcAft>
            </a:pPr>
            <a:r>
              <a:rPr sz="2000" b="1" i="0">
                <a:solidFill>
                  <a:srgbClr val="333333"/>
                </a:solidFill>
                <a:latin typeface="Calibri"/>
              </a:rPr>
              <a:t>100–115</a:t>
            </a:r>
            <a:r>
              <a:rPr sz="2000" b="0" i="0">
                <a:solidFill>
                  <a:srgbClr val="333333"/>
                </a:solidFill>
                <a:latin typeface="Calibri"/>
              </a:rPr>
              <a:t> Práctica (opcional, guía en la carpeta de la clase).</a:t>
            </a:r>
          </a:p>
          <a:p>
            <a:pPr>
              <a:spcAft>
                <a:spcPts val="800"/>
              </a:spcAft>
            </a:pPr>
            <a:r>
              <a:rPr sz="2000" b="1" i="0">
                <a:solidFill>
                  <a:srgbClr val="333333"/>
                </a:solidFill>
                <a:latin typeface="Calibri"/>
              </a:rPr>
              <a:t>115–120</a:t>
            </a:r>
            <a:r>
              <a:rPr sz="2000" b="0" i="0">
                <a:solidFill>
                  <a:srgbClr val="333333"/>
                </a:solidFill>
                <a:latin typeface="Calibri"/>
              </a:rPr>
              <a:t> Preguntas y cierre conceptual.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clase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Distinguir escala vertical vs horizontal y cuándo aplicarlas.</a:t>
            </a:r>
          </a:p>
          <a:p>
            <a:pPr>
              <a:spcAft>
                <a:spcPts val="800"/>
              </a:spcAft>
            </a:pPr>
            <a:r>
              <a:rPr sz="2000" b="0" i="0">
                <a:solidFill>
                  <a:srgbClr val="333333"/>
                </a:solidFill>
                <a:latin typeface="Calibri"/>
              </a:rPr>
              <a:t>–   Definir triggers cualitativos (CPU, cola, RPS) sin cloud de pago.</a:t>
            </a:r>
          </a:p>
          <a:p>
            <a:pPr>
              <a:spcAft>
                <a:spcPts val="800"/>
              </a:spcAft>
            </a:pPr>
            <a:r>
              <a:rPr sz="2000" b="0" i="0">
                <a:solidFill>
                  <a:srgbClr val="333333"/>
                </a:solidFill>
                <a:latin typeface="Calibri"/>
              </a:rPr>
              <a:t>–   Actualizar el informe PI con la política de escala.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Escala para CloudLite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Horizontal: más réplicas del API. Vertical: más CPU/RAM a un nodo.</a:t>
            </a:r>
          </a:p>
          <a:p>
            <a:pPr>
              <a:spcAft>
                <a:spcPts val="800"/>
              </a:spcAft>
            </a:pPr>
            <a:r>
              <a:rPr sz="2000" b="0" i="0">
                <a:solidFill>
                  <a:srgbClr val="333333"/>
                </a:solidFill>
                <a:latin typeface="Calibri"/>
              </a:rPr>
              <a:t>–   Datos: escala distinta (read replicas conceptuales / partición — solo si aplica).</a:t>
            </a:r>
          </a:p>
          <a:p>
            <a:pPr>
              <a:spcAft>
                <a:spcPts val="800"/>
              </a:spcAft>
            </a:pPr>
            <a:r>
              <a:rPr sz="2000" b="0" i="0">
                <a:solidFill>
                  <a:srgbClr val="333333"/>
                </a:solidFill>
                <a:latin typeface="Calibri"/>
              </a:rPr>
              <a:t>–   Triggers: RPS, latencia p95, profundidad de cola, CPU.</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Límites y costos</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max replicas · min replicas · cooldown — anótenlos aunque sean hipotéticos.</a:t>
            </a:r>
          </a:p>
          <a:p>
            <a:pPr>
              <a:spcAft>
                <a:spcPts val="800"/>
              </a:spcAft>
            </a:pPr>
            <a:r>
              <a:rPr sz="2000" b="0" i="0">
                <a:solidFill>
                  <a:srgbClr val="333333"/>
                </a:solidFill>
                <a:latin typeface="Calibri"/>
              </a:rPr>
              <a:t>–   Escalar mal = costo (enlace con Clase 10).</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Clase autonoma: escalabilidad no es rendimiento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Esta clase es autonoma por festivo: el estudiante trabaja solo y este fundamento se publica como material de lectura, asi que esta escrito para explicar el tema completo sin apoyo de un encuentro sincronico.</a:t>
            </a:r>
          </a:p>
          <a:p>
            <a:pPr>
              <a:spcAft>
                <a:spcPts val="800"/>
              </a:spcAft>
            </a:pPr>
            <a:r>
              <a:rPr sz="2000" b="0" i="0">
                <a:solidFill>
                  <a:srgbClr val="333333"/>
                </a:solidFill>
                <a:latin typeface="Calibri"/>
              </a:rPr>
              <a:t>–   La escalabilidad es la capacidad de un sistema de sostener mas carga agregando recursos, y la primera precision importante es que no es lo mismo que rendimiento.</a:t>
            </a:r>
          </a:p>
          <a:p>
            <a:pPr>
              <a:spcAft>
                <a:spcPts val="800"/>
              </a:spcAft>
            </a:pPr>
            <a:r>
              <a:rPr sz="2000" b="0" i="0">
                <a:solidFill>
                  <a:srgbClr val="333333"/>
                </a:solidFill>
                <a:latin typeface="Calibri"/>
              </a:rPr>
              <a:t>–   El rendimiento, tema de la Clase 12, pregunta cuanto tarda una peticion con la carga actual.</a:t>
            </a:r>
          </a:p>
          <a:p>
            <a:pPr>
              <a:spcAft>
                <a:spcPts val="800"/>
              </a:spcAft>
            </a:pPr>
            <a:r>
              <a:rPr sz="2000" b="0" i="0">
                <a:solidFill>
                  <a:srgbClr val="333333"/>
                </a:solidFill>
                <a:latin typeface="Calibri"/>
              </a:rPr>
              <a:t>–   La escalabilidad pregunta que pasa cuando la carga se multiplica: si al duplicar los recursos el sistema atiende cerca del doble de trabajo, escala bien; si atiende un 20 por ciento mas, escala mal, y ninguna cantidad de dinero lo va a arreglar.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Escalar vertical y horizontalmente: las dos formas de agregar capacidad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Hay dos formas de agregar capacidad y el estudiante debe poder definirlas sin dudar.</a:t>
            </a:r>
          </a:p>
          <a:p>
            <a:pPr>
              <a:spcAft>
                <a:spcPts val="800"/>
              </a:spcAft>
            </a:pPr>
            <a:r>
              <a:rPr sz="2000" b="0" i="0">
                <a:solidFill>
                  <a:srgbClr val="333333"/>
                </a:solidFill>
                <a:latin typeface="Calibri"/>
              </a:rPr>
              <a:t>–   Escalar verticalmente, o hacia arriba, es darle mas recursos a la MISMA maquina: mas CPU, mas memoria, disco mas rapido.</a:t>
            </a:r>
          </a:p>
          <a:p>
            <a:pPr>
              <a:spcAft>
                <a:spcPts val="800"/>
              </a:spcAft>
            </a:pPr>
            <a:r>
              <a:rPr sz="2000" b="0" i="0">
                <a:solidFill>
                  <a:srgbClr val="333333"/>
                </a:solidFill>
                <a:latin typeface="Calibri"/>
              </a:rPr>
              <a:t>–   Es la opcion simple porque no exige cambiar el codigo, y tiene tres limites reales: existe un techo fisico</a:t>
            </a:r>
          </a:p>
          <a:p>
            <a:pPr>
              <a:spcAft>
                <a:spcPts val="800"/>
              </a:spcAft>
            </a:pPr>
            <a:r>
              <a:rPr sz="2000" b="0" i="0">
                <a:solidFill>
                  <a:srgbClr val="333333"/>
                </a:solidFill>
                <a:latin typeface="Calibri"/>
              </a:rPr>
              <a:t>–   Porque la instancia mas grande disponible se acaba en algun punto; el precio crece peor que linealmente, ya que las instancias grandes cuestan mas por unidad de capacidad</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Escalar vertical y horizontalmente: las dos formas de agregar capacidad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Y el cambio suele requerir reiniciar el servicio, lo que implica una ventana de indisponibilidad del orden de 30 segundos a 2 minutos.</a:t>
            </a:r>
          </a:p>
          <a:p>
            <a:pPr>
              <a:spcAft>
                <a:spcPts val="800"/>
              </a:spcAft>
            </a:pPr>
            <a:r>
              <a:rPr sz="2000" b="0" i="0">
                <a:solidFill>
                  <a:srgbClr val="333333"/>
                </a:solidFill>
                <a:latin typeface="Calibri"/>
              </a:rPr>
              <a:t>–   Escalar horizontalmente, o hacia afuera, es agregar MAS instancias iguales trabajando en paralelo, con el balanceador de carga de la Clase 7 repartiendo peticiones entre ellas.</a:t>
            </a:r>
          </a:p>
          <a:p>
            <a:pPr>
              <a:spcAft>
                <a:spcPts val="800"/>
              </a:spcAft>
            </a:pPr>
            <a:r>
              <a:rPr sz="2000" b="0" i="0">
                <a:solidFill>
                  <a:srgbClr val="333333"/>
                </a:solidFill>
                <a:latin typeface="Calibri"/>
              </a:rPr>
              <a:t>–   Su precio es un requisito de diseno no negociable: la aplicacion tiene que poder correr en varias copias sin pisarse.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Ausencia de estado: donde mas estudiantes fallan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Ese requisito se llama ausencia de estado, o statelessness, y es donde mas estudiantes fallan.</a:t>
            </a:r>
          </a:p>
          <a:p>
            <a:pPr>
              <a:spcAft>
                <a:spcPts val="800"/>
              </a:spcAft>
            </a:pPr>
            <a:r>
              <a:rPr sz="2000" b="0" i="0">
                <a:solidFill>
                  <a:srgbClr val="333333"/>
                </a:solidFill>
                <a:latin typeface="Calibri"/>
              </a:rPr>
              <a:t>–   El sintoma en CloudLite es facil de narrar: si la API guarda la sesion en un diccionario en memoria de la instancia que atendio el login</a:t>
            </a:r>
          </a:p>
          <a:p>
            <a:pPr>
              <a:spcAft>
                <a:spcPts val="800"/>
              </a:spcAft>
            </a:pPr>
            <a:r>
              <a:rPr sz="2000" b="0" i="0">
                <a:solidFill>
                  <a:srgbClr val="333333"/>
                </a:solidFill>
                <a:latin typeface="Calibri"/>
              </a:rPr>
              <a:t>–   Y el balanceador manda la siguiente peticion del mismo usuario a la segunda instancia, esa instancia no lo conoce y lo expulsa; el usuario percibe que la aplicacion lo saca al azar.</a:t>
            </a:r>
          </a:p>
          <a:p>
            <a:pPr>
              <a:spcAft>
                <a:spcPts val="800"/>
              </a:spcAft>
            </a:pPr>
            <a:r>
              <a:rPr sz="2000" b="0" i="0">
                <a:solidFill>
                  <a:srgbClr val="333333"/>
                </a:solidFill>
                <a:latin typeface="Calibri"/>
              </a:rPr>
              <a:t>–   La solucion parcial que casi todos proponen es la sesion pegajosa, que amarra al usuario a una instancia, y hay que decir por que es un parche: si esa instancia se cae la sesion se pierde igual, y el balanceo se vuelve desigual.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Ausencia de estado: donde mas estudiantes fallan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solucion arquitectonica es sacar el estado del proceso: guardar la sesion en un almacen compartido o usar un token firmado que el cliente presenta en cada peticion.</a:t>
            </a:r>
          </a:p>
          <a:p>
            <a:pPr>
              <a:spcAft>
                <a:spcPts val="800"/>
              </a:spcAft>
            </a:pPr>
            <a:r>
              <a:rPr sz="2000" b="0" i="0">
                <a:solidFill>
                  <a:srgbClr val="333333"/>
                </a:solidFill>
                <a:latin typeface="Calibri"/>
              </a:rPr>
              <a:t>–   Lo mismo aplica a los archivos subidos de CloudLite: si se escriben en el disco local del contenedor, la mitad de las descargas fallara porque el archivo esta en la otra instancia, y por eso van a almacenamiento de objetos, que fue la decision de la Clase 7.</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Las cinco piezas del autoescalado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autoescalado es la automatizacion del escalado horizontal y consta de cinco piezas: una metrica que se observa, un umbral que dispara la accion</a:t>
            </a:r>
          </a:p>
          <a:p>
            <a:pPr>
              <a:spcAft>
                <a:spcPts val="800"/>
              </a:spcAft>
            </a:pPr>
            <a:r>
              <a:rPr sz="2000" b="0" i="0">
                <a:solidFill>
                  <a:srgbClr val="333333"/>
                </a:solidFill>
                <a:latin typeface="Calibri"/>
              </a:rPr>
              <a:t>–   Un periodo de evaluacion durante el cual el umbral debe sostenerse, un enfriamiento o cooldown que impide actuar de nuevo de inmediato, y un rango con minimo y maximo de instancias.</a:t>
            </a:r>
          </a:p>
          <a:p>
            <a:pPr>
              <a:spcAft>
                <a:spcPts val="800"/>
              </a:spcAft>
            </a:pPr>
            <a:r>
              <a:rPr sz="2000" b="0" i="0">
                <a:solidFill>
                  <a:srgbClr val="333333"/>
                </a:solidFill>
                <a:latin typeface="Calibri"/>
              </a:rPr>
              <a:t>–   Una politica completa para CloudLite se lee asi: metrica CPU promedio del grupo de instancias de la API, umbral 70 por ciento sostenido durante 5 minutos, accion agregar una instancia, cooldown de 5 minutos, minimo 2 y maximo 6.</a:t>
            </a:r>
          </a:p>
          <a:p>
            <a:pPr>
              <a:spcAft>
                <a:spcPts val="800"/>
              </a:spcAft>
            </a:pPr>
            <a:r>
              <a:rPr sz="2000" b="0" i="0">
                <a:solidFill>
                  <a:srgbClr val="333333"/>
                </a:solidFill>
                <a:latin typeface="Calibri"/>
              </a:rPr>
              <a:t>–   El 70 por ciento deja holgura para el pico que llega mientras la instancia nueva arranca.</a:t>
            </a:r>
          </a:p>
          <a:p>
            <a:pPr>
              <a:spcAft>
                <a:spcPts val="800"/>
              </a:spcAft>
            </a:pPr>
            <a:r>
              <a:rPr sz="2000" b="0" i="0">
                <a:solidFill>
                  <a:srgbClr val="333333"/>
                </a:solidFill>
                <a:latin typeface="Calibri"/>
              </a:rPr>
              <a:t>–   Los 5 minutos evitan reaccionar a un ruido de 20 segundos.</a:t>
            </a:r>
          </a:p>
          <a:p>
            <a:pPr>
              <a:spcAft>
                <a:spcPts val="800"/>
              </a:spcAft>
            </a:pPr>
            <a:r>
              <a:rPr sz="2000" b="0" i="0">
                <a:solidFill>
                  <a:srgbClr val="333333"/>
                </a:solidFill>
                <a:latin typeface="Calibri"/>
              </a:rPr>
              <a:t>–   El minimo es 2 y no 1 porque con una sola instancia no hay tolerancia a fallas ni despliegue sin caida.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Las cinco piezas del autoescalado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Y el maximo es la pieza mas olvidada y la mas importante: es el techo de costo decidido en la Clase 10</a:t>
            </a:r>
          </a:p>
          <a:p>
            <a:pPr>
              <a:spcAft>
                <a:spcPts val="800"/>
              </a:spcAft>
            </a:pPr>
            <a:r>
              <a:rPr sz="2000" b="0" i="0">
                <a:solidFill>
                  <a:srgbClr val="333333"/>
                </a:solidFill>
                <a:latin typeface="Calibri"/>
              </a:rPr>
              <a:t>–   Y sin el, un error de programacion o un ataque puede escalar la factura sin limite; hay casos documentados de facturas de miles de dolares generadas en horas por autoescalado sin tope.</a:t>
            </a:r>
          </a:p>
          <a:p>
            <a:pPr>
              <a:spcAft>
                <a:spcPts val="800"/>
              </a:spcAft>
            </a:pPr>
            <a:r>
              <a:rPr sz="2000" b="0" i="0">
                <a:solidFill>
                  <a:srgbClr val="333333"/>
                </a:solidFill>
                <a:latin typeface="Calibri"/>
              </a:rPr>
              <a:t>–   Falta una simetria que casi nadie escribe: la politica de reduccion.</a:t>
            </a:r>
          </a:p>
          <a:p>
            <a:pPr>
              <a:spcAft>
                <a:spcPts val="800"/>
              </a:spcAft>
            </a:pPr>
            <a:r>
              <a:rPr sz="2000" b="0" i="0">
                <a:solidFill>
                  <a:srgbClr val="333333"/>
                </a:solidFill>
                <a:latin typeface="Calibri"/>
              </a:rPr>
              <a:t>–   Si se escala hacia afuera al 70 por ciento no se puede escalar hacia adentro tambien al 70, porque el sistema oscilaria agregando y quitando instancias sin parar, fenomeno llamado flapping.</a:t>
            </a:r>
          </a:p>
          <a:p>
            <a:pPr>
              <a:spcAft>
                <a:spcPts val="800"/>
              </a:spcAft>
            </a:pPr>
            <a:r>
              <a:rPr sz="2000" b="0" i="0">
                <a:solidFill>
                  <a:srgbClr val="333333"/>
                </a:solidFill>
                <a:latin typeface="Calibri"/>
              </a:rPr>
              <a:t>–   La convencion es usar umbrales asimetricos, por ejemplo salir al 70 y entrar al 30, y hacer la reduccion mas lenta que la expansion, porque equivocarse agregando cuesta dinero y equivocarse quitando cuesta una caida.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limite fisico: la instancia nueva no aparece al instante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Hay un limite fisico del autoescalado que desarma la idea de que es magia: la instancia nueva no aparece al instante.</a:t>
            </a:r>
          </a:p>
          <a:p>
            <a:pPr>
              <a:spcAft>
                <a:spcPts val="800"/>
              </a:spcAft>
            </a:pPr>
            <a:r>
              <a:rPr sz="2000" b="0" i="0">
                <a:solidFill>
                  <a:srgbClr val="333333"/>
                </a:solidFill>
                <a:latin typeface="Calibri"/>
              </a:rPr>
              <a:t>–   Un contenedor liviano tarda del orden de 10 a 60 segundos entre que se decide crearlo y que recibe trafico util, contando descarga de imagen</a:t>
            </a:r>
          </a:p>
          <a:p>
            <a:pPr>
              <a:spcAft>
                <a:spcPts val="800"/>
              </a:spcAft>
            </a:pPr>
            <a:r>
              <a:rPr sz="2000" b="0" i="0">
                <a:solidFill>
                  <a:srgbClr val="333333"/>
                </a:solidFill>
                <a:latin typeface="Calibri"/>
              </a:rPr>
              <a:t>–   Arranque del proceso, conexion a la base de datos y aprobacion del chequeo de salud; una maquina virtual completa puede tardar de 2 a 5 minutos.</a:t>
            </a:r>
          </a:p>
          <a:p>
            <a:pPr>
              <a:spcAft>
                <a:spcPts val="800"/>
              </a:spcAft>
            </a:pPr>
            <a:r>
              <a:rPr sz="2000" b="0" i="0">
                <a:solidFill>
                  <a:srgbClr val="333333"/>
                </a:solidFill>
                <a:latin typeface="Calibri"/>
              </a:rPr>
              <a:t>–   Sume el periodo de evaluacion y el sistema reacciona entre 5 y 10 minutos despues de que empezo el problema, asi que un pico subito del tipo que la prueba de spike de la Clase 12 simula ocurre y termina antes de que llegue la ayuda.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limite fisico: la instancia nueva no aparece al instante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Las respuestas correctas son tres y ninguna es "poner mas autoescalado": mantener holgura permanente por encima de la demanda habitual</a:t>
            </a:r>
          </a:p>
          <a:p>
            <a:pPr>
              <a:spcAft>
                <a:spcPts val="800"/>
              </a:spcAft>
            </a:pPr>
            <a:r>
              <a:rPr sz="2000" b="0" i="0">
                <a:solidFill>
                  <a:srgbClr val="333333"/>
                </a:solidFill>
                <a:latin typeface="Calibri"/>
              </a:rPr>
              <a:t>–   Poner una cola delante para absorber la rafaga y procesarla al ritmo que el sistema aguante, o degradar con gracia devolviendo una version reducida de la respuesta.</a:t>
            </a:r>
          </a:p>
          <a:p>
            <a:pPr>
              <a:spcAft>
                <a:spcPts val="800"/>
              </a:spcAft>
            </a:pPr>
            <a:r>
              <a:rPr sz="2000" b="0" i="0">
                <a:solidFill>
                  <a:srgbClr val="333333"/>
                </a:solidFill>
                <a:latin typeface="Calibri"/>
              </a:rPr>
              <a:t>–   Aqui reaparece la Clase 3: una imagen slim arranca mas rapido que una de un gigabyte, asi que adelgazar la imagen no es solo ahorro de costo, es tiempo de reaccion.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Elegir la metrica: la decision mas fina del tema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Elegir bien la metrica es la decision mas fina del tema, y el ejemplo de CloudLite es contundente.</a:t>
            </a:r>
          </a:p>
          <a:p>
            <a:pPr>
              <a:spcAft>
                <a:spcPts val="800"/>
              </a:spcAft>
            </a:pPr>
            <a:r>
              <a:rPr sz="2000" b="0" i="0">
                <a:solidFill>
                  <a:srgbClr val="333333"/>
                </a:solidFill>
                <a:latin typeface="Calibri"/>
              </a:rPr>
              <a:t>–   La CPU es la metrica por defecto y es la equivocada para la mayoria de las APIs, porque una API que sobre todo espera respuestas de la base de datos esta limitada por entrada y salida</a:t>
            </a:r>
          </a:p>
          <a:p>
            <a:pPr>
              <a:spcAft>
                <a:spcPts val="800"/>
              </a:spcAft>
            </a:pPr>
            <a:r>
              <a:rPr sz="2000" b="0" i="0">
                <a:solidFill>
                  <a:srgbClr val="333333"/>
                </a:solidFill>
                <a:latin typeface="Calibri"/>
              </a:rPr>
              <a:t>–   No por procesador: cuando la latencia se dispara a 3 segundos porque el pool de conexiones esta agotado, la CPU puede seguir marcando un tranquilo 20 por ciento, el umbral del 70 nunca se cruza y el autoescalado no hace nada mientras los usuarios sufren.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Elegir la metrica: la decision mas fina del tema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Metricas mejores para ese caso son las peticiones por segundo por instancia, que se deriva del calculo hecho en la Clase 12, la latencia p95 del propio servicio, o la longitud de la cola pendiente.</a:t>
            </a:r>
          </a:p>
          <a:p>
            <a:pPr>
              <a:spcAft>
                <a:spcPts val="800"/>
              </a:spcAft>
            </a:pPr>
            <a:r>
              <a:rPr sz="2000" b="0" i="0">
                <a:solidFill>
                  <a:srgbClr val="333333"/>
                </a:solidFill>
                <a:latin typeface="Calibri"/>
              </a:rPr>
              <a:t>–   Para el componente de notificaciones de CloudLite la metrica natural es el numero de mensajes esperando en la cola, no la CPU del worker: si hay 500 mensajes acumulados hay que agregar workers, y da igual cuanta CPU usen.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 que NO escala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capa de datos es el caso central: agregar instancias de API es casi gratis conceptualmente, pero una base de datos relacional que debe mantener consistencia tiene un unico escritor, y ese escritor no se multiplica sin cambiar el modelo.</a:t>
            </a:r>
          </a:p>
          <a:p>
            <a:pPr>
              <a:spcAft>
                <a:spcPts val="800"/>
              </a:spcAft>
            </a:pPr>
            <a:r>
              <a:rPr sz="2000" b="0" i="0">
                <a:solidFill>
                  <a:srgbClr val="333333"/>
                </a:solidFill>
                <a:latin typeface="Calibri"/>
              </a:rPr>
              <a:t>–   Se pueden agregar replicas de lectura, y ahi entra un concepto a definir: el retraso de replicacion, esos milisegundos o segundos en que la replica todavia no tiene el ultimo cambio</a:t>
            </a:r>
          </a:p>
          <a:p>
            <a:pPr>
              <a:spcAft>
                <a:spcPts val="800"/>
              </a:spcAft>
            </a:pPr>
            <a:r>
              <a:rPr sz="2000" b="0" i="0">
                <a:solidFill>
                  <a:srgbClr val="333333"/>
                </a:solidFill>
                <a:latin typeface="Calibri"/>
              </a:rPr>
              <a:t>–   Que produce el sintoma de que el usuario guarda un dato, la pagina lo relee de una replica y el dato no aparece.</a:t>
            </a:r>
          </a:p>
          <a:p>
            <a:pPr>
              <a:spcAft>
                <a:spcPts val="800"/>
              </a:spcAft>
            </a:pPr>
            <a:r>
              <a:rPr sz="2000" b="0" i="0">
                <a:solidFill>
                  <a:srgbClr val="333333"/>
                </a:solidFill>
                <a:latin typeface="Calibri"/>
              </a:rPr>
              <a:t>–   Las alternativas mas agresivas, particionar los datos por clave o cambiar a un modelo sin esquema fijo, son decisiones de arquitectura mayores y estan fuera del alcance de CloudLite v1</a:t>
            </a:r>
          </a:p>
          <a:p>
            <a:pPr>
              <a:spcAft>
                <a:spcPts val="800"/>
              </a:spcAft>
            </a:pPr>
            <a:r>
              <a:rPr sz="2000" b="0" i="0">
                <a:solidFill>
                  <a:srgbClr val="333333"/>
                </a:solidFill>
                <a:latin typeface="Calibri"/>
              </a:rPr>
              <a:t>–   Decirlo explicitamente en el informe es una respuesta correcta, no una debilidad.</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 que NO escala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Hay un detalle aritmetico que es la mejor leccion del dia: si cada instancia de la API abre un pool de 20 conexiones y el autoescalado sube a 6 instancias</a:t>
            </a:r>
          </a:p>
          <a:p>
            <a:pPr>
              <a:spcAft>
                <a:spcPts val="800"/>
              </a:spcAft>
            </a:pPr>
            <a:r>
              <a:rPr sz="2000" b="0" i="0">
                <a:solidFill>
                  <a:srgbClr val="333333"/>
                </a:solidFill>
                <a:latin typeface="Calibri"/>
              </a:rPr>
              <a:t>–   El sistema pide 120 conexiones, mientras que una base de datos gestionada pequena suele admitir del orden de 100; el resultado es que escalar la API tumba la base de datos.</a:t>
            </a:r>
          </a:p>
          <a:p>
            <a:pPr>
              <a:spcAft>
                <a:spcPts val="800"/>
              </a:spcAft>
            </a:pPr>
            <a:r>
              <a:rPr sz="2000" b="0" i="0">
                <a:solidFill>
                  <a:srgbClr val="333333"/>
                </a:solidFill>
                <a:latin typeface="Calibri"/>
              </a:rPr>
              <a:t>–   Tambien conviene enumerar otras piezas que no escalan por replicacion: los limites de terceros, como un proveedor de correo que acepta 100 envios por minuto y rechaza el exceso</a:t>
            </a:r>
          </a:p>
          <a:p>
            <a:pPr>
              <a:spcAft>
                <a:spcPts val="800"/>
              </a:spcAft>
            </a:pPr>
            <a:r>
              <a:rPr sz="2000" b="0" i="0">
                <a:solidFill>
                  <a:srgbClr val="333333"/>
                </a:solidFill>
                <a:latin typeface="Calibri"/>
              </a:rPr>
              <a:t>–   De modo que diez workers no envian diez veces mas rapido sino que generan diez veces mas errores</a:t>
            </a:r>
          </a:p>
          <a:p>
            <a:pPr>
              <a:spcAft>
                <a:spcPts val="800"/>
              </a:spcAft>
            </a:pPr>
            <a:r>
              <a:rPr sz="2000" b="0" i="0">
                <a:solidFill>
                  <a:srgbClr val="333333"/>
                </a:solidFill>
                <a:latin typeface="Calibri"/>
              </a:rPr>
              <a:t>–   Los sistemas de archivos compartidos; y las tareas programadas de tipo singleton, que si corren en seis instancias hacen el mismo trabajo seis veces y pueden duplicar cobros o correos.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y cierre conceptual () (1/3)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primera es por que documentar limites si el autoescalado es automatico; la respuesta es que automatico significa que ejecuta la politica que alguien escribio, no que decide bien: sin maximo escala el costo</a:t>
            </a:r>
          </a:p>
          <a:p>
            <a:pPr>
              <a:spcAft>
                <a:spcPts val="800"/>
              </a:spcAft>
            </a:pPr>
            <a:r>
              <a:rPr sz="2000" b="0" i="0">
                <a:solidFill>
                  <a:srgbClr val="333333"/>
                </a:solidFill>
                <a:latin typeface="Calibri"/>
              </a:rPr>
              <a:t>–   Sin minimo pierde disponibilidad, con la metrica equivocada no reacciona y con umbrales simetricos oscila; el automatismo amplifica la calidad de la decision humana en ambos sentidos.</a:t>
            </a:r>
          </a:p>
          <a:p>
            <a:pPr>
              <a:spcAft>
                <a:spcPts val="800"/>
              </a:spcAft>
            </a:pPr>
            <a:r>
              <a:rPr sz="2000" b="0" i="0">
                <a:solidFill>
                  <a:srgbClr val="333333"/>
                </a:solidFill>
                <a:latin typeface="Calibri"/>
              </a:rPr>
              <a:t>–   La segunda es si no seria mejor serverless, que "escala infinito"; la respuesta reconoce la ventaja real, que escala por peticion y no cobra en reposo</a:t>
            </a:r>
          </a:p>
          <a:p>
            <a:pPr>
              <a:spcAft>
                <a:spcPts val="800"/>
              </a:spcAft>
            </a:pPr>
            <a:r>
              <a:rPr sz="2000" b="0" i="0">
                <a:solidFill>
                  <a:srgbClr val="333333"/>
                </a:solidFill>
                <a:latin typeface="Calibri"/>
              </a:rPr>
              <a:t>–   Y nombra los tres costos: el arranque en frio, esa demora extra de cientos de milisegundos a segundos cuando una funcion se invoca despues de estar inactiva; el agotamiento de conexiones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y cierre conceptual () (2/3)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Porque mil funciones concurrentes matan a la base de datos igual que mil contenedores; y el costo por invocacion, que a volumen alto puede superar el de instancias fijas.</a:t>
            </a:r>
          </a:p>
          <a:p>
            <a:pPr>
              <a:spcAft>
                <a:spcPts val="800"/>
              </a:spcAft>
            </a:pPr>
            <a:r>
              <a:rPr sz="2000" b="0" i="0">
                <a:solidFill>
                  <a:srgbClr val="333333"/>
                </a:solidFill>
                <a:latin typeface="Calibri"/>
              </a:rPr>
              <a:t>–   La tercera es cuantas instancias poner, y la respuesta sale de la aritmetica de la Clase 12 y no del gusto: si el pico estimado es de 5 RPS y una instancia sostiene con holgura unos 3 RPS dentro del objetivo de p95, se necesitan 2 con una de margen</a:t>
            </a:r>
          </a:p>
          <a:p>
            <a:pPr>
              <a:spcAft>
                <a:spcPts val="800"/>
              </a:spcAft>
            </a:pPr>
            <a:r>
              <a:rPr sz="2000" b="0" i="0">
                <a:solidFill>
                  <a:srgbClr val="333333"/>
                </a:solidFill>
                <a:latin typeface="Calibri"/>
              </a:rPr>
              <a:t>–   Y el maximo se fija donde el costo mensual deja de ser defendible o donde choca con el limite de conexiones, el que llegue primero.</a:t>
            </a:r>
          </a:p>
          <a:p>
            <a:pPr>
              <a:spcAft>
                <a:spcPts val="800"/>
              </a:spcAft>
            </a:pPr>
            <a:r>
              <a:rPr sz="2000" b="0" i="0">
                <a:solidFill>
                  <a:srgbClr val="333333"/>
                </a:solidFill>
                <a:latin typeface="Calibri"/>
              </a:rPr>
              <a:t>–   Error tipico del docente que no domina el tema: presentar el autoescalado como solucion general a los problemas de rendimiento.</a:t>
            </a:r>
          </a:p>
          <a:p>
            <a:pPr>
              <a:spcAft>
                <a:spcPts val="800"/>
              </a:spcAft>
            </a:pPr>
            <a:r>
              <a:rPr sz="2000" b="0" i="0">
                <a:solidFill>
                  <a:srgbClr val="333333"/>
                </a:solidFill>
                <a:latin typeface="Calibri"/>
              </a:rPr>
              <a:t>–   Si no se identifico primero el cuello de botella, escalar la pieza equivocada no mejora nada y sube el costo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y cierre conceptual () (3/3)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caso mas ilustrativo es la API limitada por la base de datos, donde agregar instancias empeora la situacion porque suma presion sobre el recurso ya saturado.</a:t>
            </a:r>
          </a:p>
          <a:p>
            <a:pPr>
              <a:spcAft>
                <a:spcPts val="800"/>
              </a:spcAft>
            </a:pPr>
            <a:r>
              <a:rPr sz="2000" b="0" i="0">
                <a:solidFill>
                  <a:srgbClr val="333333"/>
                </a:solidFill>
                <a:latin typeface="Calibri"/>
              </a:rPr>
              <a:t>–   La consecuencia pedagogica es que el estudiante sale creyendo que la escalabilidad se compra con configuracion, y en el Parcial 3 responde con la definicion de vertical y horizontal sin poder decidir cual aplica a un caso.</a:t>
            </a:r>
          </a:p>
          <a:p>
            <a:pPr>
              <a:spcAft>
                <a:spcPts val="800"/>
              </a:spcAft>
            </a:pPr>
            <a:r>
              <a:rPr sz="2000" b="0" i="0">
                <a:solidFill>
                  <a:srgbClr val="333333"/>
                </a:solidFill>
                <a:latin typeface="Calibri"/>
              </a:rPr>
              <a:t>–   El segundo error es celebrar el escalado horizontal como si fuera gratis: presentarlo solo como "agregar instancias" sin exigir la revision del estado en memoria, ni el limite de conexiones, ni la capa de datos.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regla de autoescalado, escrita como configuracion</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Lo que un autoescalador necesita para no oscilar:</a:t>
            </a:r>
          </a:p>
          <a:p>
            <a:pPr>
              <a:spcAft>
                <a:spcPts val="400"/>
              </a:spcAft>
            </a:pPr>
            <a:r>
              <a:rPr sz="1400" b="0" i="0">
                <a:solidFill>
                  <a:srgbClr val="FFFFFF"/>
                </a:solidFill>
                <a:latin typeface="Calibri"/>
              </a:rPr>
              <a:t>autoescalado:</a:t>
            </a:r>
          </a:p>
          <a:p>
            <a:pPr>
              <a:spcAft>
                <a:spcPts val="400"/>
              </a:spcAft>
            </a:pPr>
            <a:r>
              <a:rPr sz="1400" b="0" i="0">
                <a:solidFill>
                  <a:srgbClr val="FFFFFF"/>
                </a:solidFill>
                <a:latin typeface="Calibri"/>
              </a:rPr>
              <a:t>  servicio: cloudlite-api</a:t>
            </a:r>
          </a:p>
          <a:p>
            <a:pPr>
              <a:spcAft>
                <a:spcPts val="400"/>
              </a:spcAft>
            </a:pPr>
            <a:r>
              <a:rPr sz="1400" b="0" i="0">
                <a:solidFill>
                  <a:srgbClr val="FFFFFF"/>
                </a:solidFill>
                <a:latin typeface="Calibri"/>
              </a:rPr>
              <a:t>  minimo: 2                  # 1 no da tolerancia a fallo</a:t>
            </a:r>
          </a:p>
          <a:p>
            <a:pPr>
              <a:spcAft>
                <a:spcPts val="400"/>
              </a:spcAft>
            </a:pPr>
            <a:r>
              <a:rPr sz="1400" b="0" i="0">
                <a:solidFill>
                  <a:srgbClr val="FFFFFF"/>
                </a:solidFill>
                <a:latin typeface="Calibri"/>
              </a:rPr>
              <a:t>  maximo: 6                  # tope que el presupuesto aguanta</a:t>
            </a:r>
          </a:p>
          <a:p>
            <a:pPr>
              <a:spcAft>
                <a:spcPts val="400"/>
              </a:spcAft>
            </a:pPr>
            <a:r>
              <a:rPr sz="1400" b="0" i="0">
                <a:solidFill>
                  <a:srgbClr val="FFFFFF"/>
                </a:solidFill>
                <a:latin typeface="Calibri"/>
              </a:rPr>
              <a:t>  metrica: cpu_promedio</a:t>
            </a:r>
          </a:p>
          <a:p>
            <a:pPr>
              <a:spcAft>
                <a:spcPts val="400"/>
              </a:spcAft>
            </a:pPr>
            <a:r>
              <a:rPr sz="1400" b="0" i="0">
                <a:solidFill>
                  <a:srgbClr val="FFFFFF"/>
                </a:solidFill>
                <a:latin typeface="Calibri"/>
              </a:rPr>
              <a:t>  objetivo: 65               # por debajo del 70% de la Clase 12</a:t>
            </a:r>
          </a:p>
          <a:p>
            <a:pPr>
              <a:spcAft>
                <a:spcPts val="400"/>
              </a:spcAft>
            </a:pPr>
            <a:r>
              <a:rPr sz="1400" b="0" i="0">
                <a:solidFill>
                  <a:srgbClr val="FFFFFF"/>
                </a:solidFill>
                <a:latin typeface="Calibri"/>
              </a:rPr>
              <a:t>  subir_si:   '&gt; 65% durante 3 min'</a:t>
            </a:r>
          </a:p>
          <a:p>
            <a:pPr>
              <a:spcAft>
                <a:spcPts val="400"/>
              </a:spcAft>
            </a:pPr>
            <a:r>
              <a:rPr sz="1400" b="0" i="0">
                <a:solidFill>
                  <a:srgbClr val="FFFFFF"/>
                </a:solidFill>
                <a:latin typeface="Calibri"/>
              </a:rPr>
              <a:t>  bajar_si:   '&lt; 35% durante 10 min'   # bajar mas lento que subir</a:t>
            </a:r>
          </a:p>
          <a:p>
            <a:pPr>
              <a:spcAft>
                <a:spcPts val="400"/>
              </a:spcAft>
            </a:pPr>
            <a:r>
              <a:rPr sz="1400" b="0" i="0">
                <a:solidFill>
                  <a:srgbClr val="FFFFFF"/>
                </a:solidFill>
                <a:latin typeface="Calibri"/>
              </a:rPr>
              <a:t>  enfriamiento: 5 min        # sin esto entra en bandada de arranques</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Y el limite honesto: escalar la API no escala la BASE. Si el cuello</a:t>
            </a:r>
          </a:p>
          <a:p>
            <a:pPr>
              <a:spcAft>
                <a:spcPts val="400"/>
              </a:spcAft>
            </a:pPr>
            <a:r>
              <a:rPr sz="1400" b="0" i="0">
                <a:solidFill>
                  <a:srgbClr val="FFFFFF"/>
                </a:solidFill>
                <a:latin typeface="Calibri"/>
              </a:rPr>
              <a:t># de botella es PostgreSQL, seis instancias lo empeoran.</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Politica de autoescalado (tabla, no prosa)</a:t>
            </a:r>
          </a:p>
        </p:txBody>
      </p:sp>
      <p:sp>
        <p:nvSpPr>
          <p:cNvPr id="5" name="Rounded Rectangle 4"/>
          <p:cNvSpPr/>
          <p:nvPr/>
        </p:nvSpPr>
        <p:spPr>
          <a:xfrm>
            <a:off x="457200" y="1261872"/>
            <a:ext cx="11277295" cy="477316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133087"/>
          </a:xfrm>
          <a:prstGeom prst="rect">
            <a:avLst/>
          </a:prstGeom>
          <a:noFill/>
        </p:spPr>
        <p:txBody>
          <a:bodyPr wrap="square">
            <a:spAutoFit/>
          </a:bodyPr>
          <a:lstStyle/>
          <a:p>
            <a:pPr>
              <a:spcAft>
                <a:spcPts val="400"/>
              </a:spcAft>
            </a:pPr>
            <a:r>
              <a:rPr sz="1400" b="0" i="0">
                <a:solidFill>
                  <a:srgbClr val="FFFFFF"/>
                </a:solidFill>
                <a:latin typeface="Calibri"/>
              </a:rPr>
              <a:t>Componente   | Tipo        | Trigger up      | Min | Max | Cooldown</a:t>
            </a:r>
          </a:p>
          <a:p>
            <a:pPr>
              <a:spcAft>
                <a:spcPts val="400"/>
              </a:spcAft>
            </a:pPr>
            <a:r>
              <a:rPr sz="1400" b="0" i="0">
                <a:solidFill>
                  <a:srgbClr val="FFFFFF"/>
                </a:solidFill>
                <a:latin typeface="Calibri"/>
              </a:rPr>
              <a:t>-------------|-------------|-----------------|-----|-----|---------</a:t>
            </a:r>
          </a:p>
          <a:p>
            <a:pPr>
              <a:spcAft>
                <a:spcPts val="400"/>
              </a:spcAft>
            </a:pPr>
            <a:r>
              <a:rPr sz="1400" b="0" i="0">
                <a:solidFill>
                  <a:srgbClr val="FFFFFF"/>
                </a:solidFill>
                <a:latin typeface="Calibri"/>
              </a:rPr>
              <a:t>API          | Horizontal  | CPU &gt; 70% / 5m  |  2  |  6  | 5 min</a:t>
            </a:r>
          </a:p>
          <a:p>
            <a:pPr>
              <a:spcAft>
                <a:spcPts val="400"/>
              </a:spcAft>
            </a:pPr>
            <a:r>
              <a:rPr sz="1400" b="0" i="0">
                <a:solidFill>
                  <a:srgbClr val="FFFFFF"/>
                </a:solidFill>
                <a:latin typeface="Calibri"/>
              </a:rPr>
              <a:t>Worker cola  | Horizontal  | cola &gt; 100 msg  |  1  |  4  | 3 min</a:t>
            </a:r>
          </a:p>
          <a:p>
            <a:pPr>
              <a:spcAft>
                <a:spcPts val="400"/>
              </a:spcAft>
            </a:pPr>
            <a:r>
              <a:rPr sz="1400" b="0" i="0">
                <a:solidFill>
                  <a:srgbClr val="FFFFFF"/>
                </a:solidFill>
                <a:latin typeface="Calibri"/>
              </a:rPr>
              <a:t>BD primaria  | NO escala   | -               |  1  |  1  | -</a:t>
            </a:r>
          </a:p>
        </p:txBody>
      </p:sp>
      <p:sp>
        <p:nvSpPr>
          <p:cNvPr id="9" name="TextBox 8"/>
          <p:cNvSpPr txBox="1"/>
          <p:nvPr/>
        </p:nvSpPr>
        <p:spPr>
          <a:xfrm>
            <a:off x="457200" y="6080760"/>
            <a:ext cx="11277295" cy="320040"/>
          </a:xfrm>
          <a:prstGeom prst="rect">
            <a:avLst/>
          </a:prstGeom>
          <a:noFill/>
        </p:spPr>
        <p:txBody>
          <a:bodyPr wrap="square">
            <a:spAutoFit/>
          </a:bodyPr>
          <a:lstStyle/>
          <a:p>
            <a:pPr algn="ctr"/>
            <a:r>
              <a:rPr sz="1200" b="0" i="1">
                <a:solidFill>
                  <a:srgbClr val="666666"/>
                </a:solidFill>
                <a:latin typeface="Calibri"/>
              </a:rPr>
              <a:t>El 'max' es lo que evita que la factura escale sola. La BD primaria casi nunca escala horizontal.</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Del boceto al código Mermaid</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El diagrama se escribe como código: se versiona, se compara y se corrige</a:t>
            </a:r>
          </a:p>
        </p:txBody>
      </p:sp>
      <p:sp>
        <p:nvSpPr>
          <p:cNvPr id="6" name="Rounded Rectangle 5"/>
          <p:cNvSpPr/>
          <p:nvPr/>
        </p:nvSpPr>
        <p:spPr>
          <a:xfrm>
            <a:off x="457200" y="1659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965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965960"/>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751076"/>
            <a:ext cx="10271455" cy="886968"/>
          </a:xfrm>
          <a:prstGeom prst="rect">
            <a:avLst/>
          </a:prstGeom>
          <a:noFill/>
        </p:spPr>
        <p:txBody>
          <a:bodyPr wrap="square" anchor="ctr"/>
          <a:lstStyle/>
          <a:p>
            <a:r>
              <a:rPr sz="1500" b="1" i="0">
                <a:solidFill>
                  <a:srgbClr val="095292"/>
                </a:solidFill>
                <a:latin typeface="Calibri"/>
              </a:rPr>
              <a:t>Diseña visual</a:t>
            </a:r>
          </a:p>
          <a:p>
            <a:pPr>
              <a:spcBef>
                <a:spcPts val="200"/>
              </a:spcBef>
            </a:pPr>
            <a:r>
              <a:rPr sz="1300" b="0" i="0">
                <a:solidFill>
                  <a:srgbClr val="333333"/>
                </a:solidFill>
                <a:latin typeface="Calibri"/>
              </a:rPr>
              <a:t>Dibuja el diagrama como quieras en Excalidraw o draw.io: es más rápido arrastrar cajas que escribir código, y ahí es donde se piensa el modelo.</a:t>
            </a:r>
          </a:p>
        </p:txBody>
      </p:sp>
      <p:sp>
        <p:nvSpPr>
          <p:cNvPr id="10" name="Rounded Rectangle 9"/>
          <p:cNvSpPr/>
          <p:nvPr/>
        </p:nvSpPr>
        <p:spPr>
          <a:xfrm>
            <a:off x="457200" y="2802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3108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3108960"/>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894076"/>
            <a:ext cx="10271455" cy="886968"/>
          </a:xfrm>
          <a:prstGeom prst="rect">
            <a:avLst/>
          </a:prstGeom>
          <a:noFill/>
        </p:spPr>
        <p:txBody>
          <a:bodyPr wrap="square" anchor="ctr"/>
          <a:lstStyle/>
          <a:p>
            <a:r>
              <a:rPr sz="1500" b="1" i="0">
                <a:solidFill>
                  <a:srgbClr val="095292"/>
                </a:solidFill>
                <a:latin typeface="Calibri"/>
              </a:rPr>
              <a:t>Traduce con IA</a:t>
            </a:r>
          </a:p>
          <a:p>
            <a:pPr>
              <a:spcBef>
                <a:spcPts val="200"/>
              </a:spcBef>
            </a:pPr>
            <a:r>
              <a:rPr sz="1300" b="0" i="0">
                <a:solidFill>
                  <a:srgbClr val="333333"/>
                </a:solidFill>
                <a:latin typeface="Calibri"/>
              </a:rPr>
              <a:t>Describe tu boceto a una IA y pídele el código Mermaid usando flowchart. Revisa el resultado: la IA acierta la sintaxis, no tu modelo.</a:t>
            </a:r>
          </a:p>
        </p:txBody>
      </p:sp>
      <p:sp>
        <p:nvSpPr>
          <p:cNvPr id="14" name="Rounded Rectangle 13"/>
          <p:cNvSpPr/>
          <p:nvPr/>
        </p:nvSpPr>
        <p:spPr>
          <a:xfrm>
            <a:off x="457200" y="3945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4251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42519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4037076"/>
            <a:ext cx="10271455" cy="886968"/>
          </a:xfrm>
          <a:prstGeom prst="rect">
            <a:avLst/>
          </a:prstGeom>
          <a:noFill/>
        </p:spPr>
        <p:txBody>
          <a:bodyPr wrap="square" anchor="ctr"/>
          <a:lstStyle/>
          <a:p>
            <a:r>
              <a:rPr sz="1500" b="1" i="0">
                <a:solidFill>
                  <a:srgbClr val="095292"/>
                </a:solidFill>
                <a:latin typeface="Calibri"/>
              </a:rPr>
              <a:t>Renderiza en un visor</a:t>
            </a:r>
          </a:p>
          <a:p>
            <a:pPr>
              <a:spcBef>
                <a:spcPts val="200"/>
              </a:spcBef>
            </a:pPr>
            <a:r>
              <a:rPr sz="1300" b="0" i="0">
                <a:solidFill>
                  <a:srgbClr val="333333"/>
                </a:solidFill>
                <a:latin typeface="Calibri"/>
              </a:rPr>
              <a:t>Pega el código en un visor Mermaid (mermaid.live o la vista previa de tu editor) y míralo dibujado. Si no renderiza, corrige ahí: un end faltante o un rótulo sin comillas.</a:t>
            </a:r>
          </a:p>
        </p:txBody>
      </p:sp>
      <p:sp>
        <p:nvSpPr>
          <p:cNvPr id="18" name="Rounded Rectangle 17"/>
          <p:cNvSpPr/>
          <p:nvPr/>
        </p:nvSpPr>
        <p:spPr>
          <a:xfrm>
            <a:off x="457200" y="5088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5394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5394960"/>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5180076"/>
            <a:ext cx="10271455" cy="886968"/>
          </a:xfrm>
          <a:prstGeom prst="rect">
            <a:avLst/>
          </a:prstGeom>
          <a:noFill/>
        </p:spPr>
        <p:txBody>
          <a:bodyPr wrap="square" anchor="ctr"/>
          <a:lstStyle/>
          <a:p>
            <a:r>
              <a:rPr sz="1500" b="1" i="0">
                <a:solidFill>
                  <a:srgbClr val="095292"/>
                </a:solidFill>
                <a:latin typeface="Calibri"/>
              </a:rPr>
              <a:t>Guarda código e imagen</a:t>
            </a:r>
          </a:p>
          <a:p>
            <a:pPr>
              <a:spcBef>
                <a:spcPts val="200"/>
              </a:spcBef>
            </a:pPr>
            <a:r>
              <a:rPr sz="1300" b="0" i="0">
                <a:solidFill>
                  <a:srgbClr val="333333"/>
                </a:solidFill>
                <a:latin typeface="Calibri"/>
              </a:rPr>
              <a:t>El código es la fuente del diagrama: guárdalo con tu proyecto junto con el PNG exportado.</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13 · cierre conceptual</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Distinguir escala vertical vs horizontal y cuándo aplicarlas.</a:t>
            </a:r>
          </a:p>
          <a:p>
            <a:pPr algn="ctr">
              <a:spcAft>
                <a:spcPts val="600"/>
              </a:spcAft>
            </a:pPr>
            <a:r>
              <a:rPr sz="1600" b="0" i="0">
                <a:solidFill>
                  <a:srgbClr val="333333"/>
                </a:solidFill>
                <a:latin typeface="Calibri"/>
              </a:rPr>
              <a:t>Definir triggers cualitativos (CPU, cola, RPS) sin cloud de pago.</a:t>
            </a:r>
          </a:p>
          <a:p>
            <a:pPr algn="ctr">
              <a:spcAft>
                <a:spcPts val="600"/>
              </a:spcAft>
            </a:pPr>
            <a:r>
              <a:rPr sz="1600" b="0" i="0">
                <a:solidFill>
                  <a:srgbClr val="333333"/>
                </a:solidFill>
                <a:latin typeface="Calibri"/>
              </a:rPr>
              <a:t>Actualizar el informe PI con la política de escala.</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Teoría al servicio del diseño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