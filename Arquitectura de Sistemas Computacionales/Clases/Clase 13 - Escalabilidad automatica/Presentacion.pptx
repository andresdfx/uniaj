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274320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2743200"/>
            <a:ext cx="12191695" cy="73152"/>
          </a:xfrm>
          <a:prstGeom prst="rect">
            <a:avLst/>
          </a:prstGeom>
          <a:solidFill>
            <a:srgbClr val="269CC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4" name="Picture 3" descr="logo_uniajc_blanc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7200" y="274320"/>
            <a:ext cx="1828800" cy="797105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10180015" y="320040"/>
            <a:ext cx="16459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200" b="1" i="0">
                <a:solidFill>
                  <a:srgbClr val="269CCB"/>
                </a:solidFill>
                <a:latin typeface="Calibri"/>
              </a:rPr>
              <a:t>Clase 13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914400"/>
            <a:ext cx="11277295" cy="137160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/>
            <a:r>
              <a:rPr sz="2800" b="1" i="0">
                <a:solidFill>
                  <a:srgbClr val="FFFFFF"/>
                </a:solidFill>
                <a:latin typeface="Calibri"/>
              </a:rPr>
              <a:t>Escalabilidad automática</a:t>
            </a:r>
          </a:p>
          <a:p>
            <a:pPr algn="ctr">
              <a:spcBef>
                <a:spcPts val="800"/>
              </a:spcBef>
            </a:pPr>
            <a:r>
              <a:rPr sz="1500" b="0" i="0">
                <a:solidFill>
                  <a:srgbClr val="269CCB"/>
                </a:solidFill>
                <a:latin typeface="Calibri"/>
              </a:rPr>
              <a:t>Actividad autónoma · escenario de escala PI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7200" y="3200400"/>
            <a:ext cx="11277295" cy="2560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500" b="1" i="0">
                <a:solidFill>
                  <a:srgbClr val="333333"/>
                </a:solidFill>
                <a:latin typeface="Calibri"/>
              </a:rPr>
              <a:t>Hoy avanzamos el PI en:</a:t>
            </a:r>
            <a:r>
              <a:rPr sz="1500" b="0" i="0">
                <a:solidFill>
                  <a:srgbClr val="333333"/>
                </a:solidFill>
                <a:latin typeface="Calibri"/>
              </a:rPr>
              <a:t> Documentar política de autoescalado conceptual de CloudLite</a:t>
            </a:r>
          </a:p>
          <a:p>
            <a:pPr>
              <a:spcAft>
                <a:spcPts val="800"/>
              </a:spcAft>
            </a:pPr>
            <a:r>
              <a:rPr sz="1500" b="0" i="0">
                <a:solidFill>
                  <a:srgbClr val="333333"/>
                </a:solidFill>
                <a:latin typeface="Calibri"/>
              </a:rPr>
              <a:t>Bloque </a:t>
            </a:r>
            <a:r>
              <a:rPr sz="1500" b="1" i="0">
                <a:solidFill>
                  <a:srgbClr val="333333"/>
                </a:solidFill>
                <a:latin typeface="Calibri"/>
              </a:rPr>
              <a:t>120 min</a:t>
            </a:r>
            <a:r>
              <a:rPr sz="1500" b="0" i="0">
                <a:solidFill>
                  <a:srgbClr val="333333"/>
                </a:solidFill>
                <a:latin typeface="Calibri"/>
              </a:rPr>
              <a:t> · Teoría breve · Taller PI · cierre.</a:t>
            </a:r>
          </a:p>
          <a:p>
            <a:pPr>
              <a:spcAft>
                <a:spcPts val="800"/>
              </a:spcAft>
            </a:pPr>
            <a:r>
              <a:rPr sz="1500" b="0" i="0">
                <a:solidFill>
                  <a:srgbClr val="333333"/>
                </a:solidFill>
                <a:latin typeface="Calibri"/>
              </a:rPr>
              <a:t>Herramientas gratis + navegador · sin AWS/GCP/Oracle Cloud.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1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60120"/>
            <a:ext cx="12191695" cy="41148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277295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Calibri"/>
              </a:rPr>
              <a:t>Agenda de hoy (120 min)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1170432"/>
            <a:ext cx="11277295" cy="52303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600" b="0" i="0">
                <a:solidFill>
                  <a:srgbClr val="333333"/>
                </a:solidFill>
                <a:latin typeface="Calibri"/>
              </a:rPr>
              <a:t>–   </a:t>
            </a:r>
            <a:r>
              <a:rPr sz="1600" b="1" i="0">
                <a:solidFill>
                  <a:srgbClr val="333333"/>
                </a:solidFill>
                <a:latin typeface="Calibri"/>
              </a:rPr>
              <a:t>0–10</a:t>
            </a:r>
            <a:r>
              <a:rPr sz="1600" b="0" i="0">
                <a:solidFill>
                  <a:srgbClr val="333333"/>
                </a:solidFill>
                <a:latin typeface="Calibri"/>
              </a:rPr>
              <a:t> Encuadre: hoy avanzamos el PI en… + entregable concreto.</a:t>
            </a:r>
          </a:p>
          <a:p>
            <a:pPr>
              <a:spcAft>
                <a:spcPts val="800"/>
              </a:spcAft>
            </a:pPr>
            <a:r>
              <a:rPr sz="1600" b="1" i="0">
                <a:solidFill>
                  <a:srgbClr val="333333"/>
                </a:solidFill>
                <a:latin typeface="Calibri"/>
              </a:rPr>
              <a:t>10–40</a:t>
            </a:r>
            <a:r>
              <a:rPr sz="1600" b="0" i="0">
                <a:solidFill>
                  <a:srgbClr val="333333"/>
                </a:solidFill>
                <a:latin typeface="Calibri"/>
              </a:rPr>
              <a:t> Teoría Core breve (solo lo necesario para el taller PI).</a:t>
            </a:r>
          </a:p>
          <a:p>
            <a:pPr>
              <a:spcAft>
                <a:spcPts val="800"/>
              </a:spcAft>
            </a:pPr>
            <a:r>
              <a:rPr sz="1600" b="0" i="0">
                <a:solidFill>
                  <a:srgbClr val="333333"/>
                </a:solidFill>
                <a:latin typeface="Calibri"/>
              </a:rPr>
              <a:t>–   </a:t>
            </a:r>
            <a:r>
              <a:rPr sz="1600" b="1" i="0">
                <a:solidFill>
                  <a:srgbClr val="333333"/>
                </a:solidFill>
                <a:latin typeface="Calibri"/>
              </a:rPr>
              <a:t>40–100</a:t>
            </a:r>
            <a:r>
              <a:rPr sz="1600" b="0" i="0">
                <a:solidFill>
                  <a:srgbClr val="333333"/>
                </a:solidFill>
                <a:latin typeface="Calibri"/>
              </a:rPr>
              <a:t> Taller guiado PI (demo en vivo + trabajo de equipo).</a:t>
            </a:r>
          </a:p>
          <a:p>
            <a:pPr>
              <a:spcAft>
                <a:spcPts val="800"/>
              </a:spcAft>
            </a:pPr>
            <a:r>
              <a:rPr sz="1600" b="1" i="0">
                <a:solidFill>
                  <a:srgbClr val="333333"/>
                </a:solidFill>
                <a:latin typeface="Calibri"/>
              </a:rPr>
              <a:t>100–115</a:t>
            </a:r>
            <a:r>
              <a:rPr sz="1600" b="0" i="0">
                <a:solidFill>
                  <a:srgbClr val="333333"/>
                </a:solidFill>
                <a:latin typeface="Calibri"/>
              </a:rPr>
              <a:t> Revisión de evidencias del PI.</a:t>
            </a:r>
          </a:p>
          <a:p>
            <a:pPr>
              <a:spcAft>
                <a:spcPts val="800"/>
              </a:spcAft>
            </a:pPr>
            <a:r>
              <a:rPr sz="1600" b="1" i="0">
                <a:solidFill>
                  <a:srgbClr val="333333"/>
                </a:solidFill>
                <a:latin typeface="Calibri"/>
              </a:rPr>
              <a:t>115–120</a:t>
            </a:r>
            <a:r>
              <a:rPr sz="1600" b="0" i="0">
                <a:solidFill>
                  <a:srgbClr val="333333"/>
                </a:solidFill>
                <a:latin typeface="Calibri"/>
              </a:rPr>
              <a:t> Cierre: criterio de éxito + plazo domingo 23:59.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2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60120"/>
            <a:ext cx="12191695" cy="41148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277295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Calibri"/>
              </a:rPr>
              <a:t>Objetivos de la clase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1170432"/>
            <a:ext cx="11277295" cy="52303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600" b="0" i="0">
                <a:solidFill>
                  <a:srgbClr val="333333"/>
                </a:solidFill>
                <a:latin typeface="Calibri"/>
              </a:rPr>
              <a:t>–   Distinguir escala vertical vs horizontal y cuándo aplicarlas.</a:t>
            </a:r>
          </a:p>
          <a:p>
            <a:pPr>
              <a:spcAft>
                <a:spcPts val="800"/>
              </a:spcAft>
            </a:pPr>
            <a:r>
              <a:rPr sz="1600" b="0" i="0">
                <a:solidFill>
                  <a:srgbClr val="333333"/>
                </a:solidFill>
                <a:latin typeface="Calibri"/>
              </a:rPr>
              <a:t>–   Definir triggers cualitativos (CPU, cola, RPS) sin cloud de pago.</a:t>
            </a:r>
          </a:p>
          <a:p>
            <a:pPr>
              <a:spcAft>
                <a:spcPts val="800"/>
              </a:spcAft>
            </a:pPr>
            <a:r>
              <a:rPr sz="1600" b="0" i="0">
                <a:solidFill>
                  <a:srgbClr val="333333"/>
                </a:solidFill>
                <a:latin typeface="Calibri"/>
              </a:rPr>
              <a:t>–   Actualizar el informe PI con la política de escala.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3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60120"/>
            <a:ext cx="12191695" cy="41148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277295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Calibri"/>
              </a:rPr>
              <a:t>PI CloudLite — entregable de hoy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1170432"/>
            <a:ext cx="11277295" cy="52303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600" b="0" i="0">
                <a:solidFill>
                  <a:srgbClr val="333333"/>
                </a:solidFill>
                <a:latin typeface="Calibri"/>
              </a:rPr>
              <a:t>–   </a:t>
            </a:r>
            <a:r>
              <a:rPr sz="1600" b="1" i="0">
                <a:solidFill>
                  <a:srgbClr val="333333"/>
                </a:solidFill>
                <a:latin typeface="Calibri"/>
              </a:rPr>
              <a:t>Entregable:</a:t>
            </a:r>
            <a:r>
              <a:rPr sz="1600" b="0" i="0">
                <a:solidFill>
                  <a:srgbClr val="333333"/>
                </a:solidFill>
                <a:latin typeface="Calibri"/>
              </a:rPr>
              <a:t> Sección Escalabilidad: triggers, límites, qué escala y qué no</a:t>
            </a:r>
          </a:p>
          <a:p>
            <a:pPr>
              <a:spcAft>
                <a:spcPts val="800"/>
              </a:spcAft>
            </a:pPr>
            <a:r>
              <a:rPr sz="1600" b="0" i="0">
                <a:solidFill>
                  <a:srgbClr val="333333"/>
                </a:solidFill>
                <a:latin typeface="Calibri"/>
              </a:rPr>
              <a:t>–   Herramienta: </a:t>
            </a:r>
            <a:r>
              <a:rPr sz="1600" b="1" i="0">
                <a:solidFill>
                  <a:srgbClr val="333333"/>
                </a:solidFill>
                <a:latin typeface="Calibri"/>
              </a:rPr>
              <a:t>Google Docs · draw.io (opcional nota en Deployment)</a:t>
            </a:r>
          </a:p>
          <a:p>
            <a:pPr>
              <a:spcAft>
                <a:spcPts val="800"/>
              </a:spcAft>
            </a:pPr>
            <a:r>
              <a:rPr sz="1600" b="0" i="0">
                <a:solidFill>
                  <a:srgbClr val="333333"/>
                </a:solidFill>
                <a:latin typeface="Calibri"/>
              </a:rPr>
              <a:t>–   Todo lo que construyan hoy entra al </a:t>
            </a:r>
            <a:r>
              <a:rPr sz="1600" b="1" i="0">
                <a:solidFill>
                  <a:srgbClr val="333333"/>
                </a:solidFill>
                <a:latin typeface="Calibri"/>
              </a:rPr>
              <a:t>informe/repo del PI</a:t>
            </a:r>
            <a:r>
              <a:rPr sz="1600" b="0" i="0">
                <a:solidFill>
                  <a:srgbClr val="333333"/>
                </a:solidFill>
                <a:latin typeface="Calibri"/>
              </a:rPr>
              <a:t> (no es lab suelto).</a:t>
            </a:r>
          </a:p>
          <a:p>
            <a:pPr>
              <a:spcAft>
                <a:spcPts val="800"/>
              </a:spcAft>
            </a:pPr>
            <a:r>
              <a:rPr sz="1600" b="0" i="0">
                <a:solidFill>
                  <a:srgbClr val="333333"/>
                </a:solidFill>
                <a:latin typeface="Calibri"/>
              </a:rPr>
              <a:t>–   Equipos 2–3 · todos deben poder explicar el artefacto.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4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60120"/>
            <a:ext cx="12191695" cy="41148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277295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Calibri"/>
              </a:rPr>
              <a:t>Escala para CloudLite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1170432"/>
            <a:ext cx="11277295" cy="52303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600" b="0" i="0">
                <a:solidFill>
                  <a:srgbClr val="333333"/>
                </a:solidFill>
                <a:latin typeface="Calibri"/>
              </a:rPr>
              <a:t>–   Horizontal: más réplicas del API. Vertical: más CPU/RAM a un nodo.</a:t>
            </a:r>
          </a:p>
          <a:p>
            <a:pPr>
              <a:spcAft>
                <a:spcPts val="800"/>
              </a:spcAft>
            </a:pPr>
            <a:r>
              <a:rPr sz="1600" b="0" i="0">
                <a:solidFill>
                  <a:srgbClr val="333333"/>
                </a:solidFill>
                <a:latin typeface="Calibri"/>
              </a:rPr>
              <a:t>–   Datos: escala distinta (read replicas conceptuales / partición — solo si aplica).</a:t>
            </a:r>
          </a:p>
          <a:p>
            <a:pPr>
              <a:spcAft>
                <a:spcPts val="800"/>
              </a:spcAft>
            </a:pPr>
            <a:r>
              <a:rPr sz="1600" b="0" i="0">
                <a:solidFill>
                  <a:srgbClr val="333333"/>
                </a:solidFill>
                <a:latin typeface="Calibri"/>
              </a:rPr>
              <a:t>–   Triggers: RPS, latencia p95, profundidad de cola, CPU.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5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60120"/>
            <a:ext cx="12191695" cy="41148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277295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Calibri"/>
              </a:rPr>
              <a:t>Límites y costos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1170432"/>
            <a:ext cx="11277295" cy="52303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600" b="0" i="0">
                <a:solidFill>
                  <a:srgbClr val="333333"/>
                </a:solidFill>
                <a:latin typeface="Calibri"/>
              </a:rPr>
              <a:t>–   max replicas · min replicas · cooldown — anótenlos aunque sean hipotéticos.</a:t>
            </a:r>
          </a:p>
          <a:p>
            <a:pPr>
              <a:spcAft>
                <a:spcPts val="800"/>
              </a:spcAft>
            </a:pPr>
            <a:r>
              <a:rPr sz="1600" b="0" i="0">
                <a:solidFill>
                  <a:srgbClr val="333333"/>
                </a:solidFill>
                <a:latin typeface="Calibri"/>
              </a:rPr>
              <a:t>–   Escalar mal = costo (enlace con Clase 10).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6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60120"/>
            <a:ext cx="12191695" cy="41148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277295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Calibri"/>
              </a:rPr>
              <a:t>Politica de autoescalado (tabla, no prosa)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457200" y="1261872"/>
            <a:ext cx="11277295" cy="4773168"/>
          </a:xfrm>
          <a:prstGeom prst="roundRect">
            <a:avLst>
              <a:gd name="adj" fmla="val 12000"/>
            </a:avLst>
          </a:prstGeom>
          <a:solidFill>
            <a:srgbClr val="1E2A3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457200" y="1261872"/>
            <a:ext cx="11277295" cy="32004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85800" y="1307592"/>
            <a:ext cx="10820095" cy="256032"/>
          </a:xfrm>
          <a:prstGeom prst="rect">
            <a:avLst/>
          </a:prstGeom>
          <a:noFill/>
        </p:spPr>
        <p:txBody>
          <a:bodyPr wrap="square" anchor="ctr"/>
          <a:lstStyle/>
          <a:p>
            <a:r>
              <a:rPr sz="1000" b="1" i="0">
                <a:solidFill>
                  <a:srgbClr val="269CCB"/>
                </a:solidFill>
                <a:latin typeface="Calibri"/>
              </a:rPr>
              <a:t>● ● ●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77240" y="1719072"/>
            <a:ext cx="10637215" cy="413308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</a:pPr>
            <a:r>
              <a:rPr sz="1400" b="0" i="0">
                <a:solidFill>
                  <a:srgbClr val="FFFFFF"/>
                </a:solidFill>
                <a:latin typeface="Calibri"/>
              </a:rPr>
              <a:t>Componente   | Tipo        | Trigger up      | Min | Max | Cooldown</a:t>
            </a:r>
          </a:p>
          <a:p>
            <a:pPr>
              <a:spcAft>
                <a:spcPts val="400"/>
              </a:spcAft>
            </a:pPr>
            <a:r>
              <a:rPr sz="1400" b="0" i="0">
                <a:solidFill>
                  <a:srgbClr val="FFFFFF"/>
                </a:solidFill>
                <a:latin typeface="Calibri"/>
              </a:rPr>
              <a:t>-------------|-------------|-----------------|-----|-----|---------</a:t>
            </a:r>
          </a:p>
          <a:p>
            <a:pPr>
              <a:spcAft>
                <a:spcPts val="400"/>
              </a:spcAft>
            </a:pPr>
            <a:r>
              <a:rPr sz="1400" b="0" i="0">
                <a:solidFill>
                  <a:srgbClr val="FFFFFF"/>
                </a:solidFill>
                <a:latin typeface="Calibri"/>
              </a:rPr>
              <a:t>API          | Horizontal  | CPU &gt; 70% / 5m  |  2  |  6  | 5 min</a:t>
            </a:r>
          </a:p>
          <a:p>
            <a:pPr>
              <a:spcAft>
                <a:spcPts val="400"/>
              </a:spcAft>
            </a:pPr>
            <a:r>
              <a:rPr sz="1400" b="0" i="0">
                <a:solidFill>
                  <a:srgbClr val="FFFFFF"/>
                </a:solidFill>
                <a:latin typeface="Calibri"/>
              </a:rPr>
              <a:t>Worker cola  | Horizontal  | cola &gt; 100 msg  |  1  |  4  | 3 min</a:t>
            </a:r>
          </a:p>
          <a:p>
            <a:pPr>
              <a:spcAft>
                <a:spcPts val="400"/>
              </a:spcAft>
            </a:pPr>
            <a:r>
              <a:rPr sz="1400" b="0" i="0">
                <a:solidFill>
                  <a:srgbClr val="FFFFFF"/>
                </a:solidFill>
                <a:latin typeface="Calibri"/>
              </a:rPr>
              <a:t>BD primaria  | NO escala   | -               |  1  |  1  | -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200" y="6080760"/>
            <a:ext cx="11277295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0" i="1">
                <a:solidFill>
                  <a:srgbClr val="666666"/>
                </a:solidFill>
                <a:latin typeface="Calibri"/>
              </a:rPr>
              <a:t>El 'max' es lo que evita que la factura escale sola. La BD primaria casi nunca escala horizontal.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7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60120"/>
            <a:ext cx="12191695" cy="41148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277295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Calibri"/>
              </a:rPr>
              <a:t>Taller PI (paso a paso)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1170432"/>
            <a:ext cx="11277295" cy="52303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600" b="1" i="0">
                <a:solidFill>
                  <a:srgbClr val="333333"/>
                </a:solidFill>
                <a:latin typeface="Calibri"/>
              </a:rPr>
              <a:t>1.</a:t>
            </a:r>
            <a:r>
              <a:rPr sz="1600" b="0" i="0">
                <a:solidFill>
                  <a:srgbClr val="333333"/>
                </a:solidFill>
                <a:latin typeface="Calibri"/>
              </a:rPr>
              <a:t> Describan qué componente escala y por qué.</a:t>
            </a:r>
          </a:p>
          <a:p>
            <a:pPr>
              <a:spcAft>
                <a:spcPts val="800"/>
              </a:spcAft>
            </a:pPr>
            <a:r>
              <a:rPr sz="1600" b="0" i="0">
                <a:solidFill>
                  <a:srgbClr val="333333"/>
                </a:solidFill>
                <a:latin typeface="Calibri"/>
              </a:rPr>
              <a:t>–   </a:t>
            </a:r>
            <a:r>
              <a:rPr sz="1600" b="1" i="0">
                <a:solidFill>
                  <a:srgbClr val="333333"/>
                </a:solidFill>
                <a:latin typeface="Calibri"/>
              </a:rPr>
              <a:t>2.</a:t>
            </a:r>
            <a:r>
              <a:rPr sz="1600" b="0" i="0">
                <a:solidFill>
                  <a:srgbClr val="333333"/>
                </a:solidFill>
                <a:latin typeface="Calibri"/>
              </a:rPr>
              <a:t> Definan 2 triggers + min/max + qué NO se escala.</a:t>
            </a:r>
          </a:p>
          <a:p>
            <a:pPr>
              <a:spcAft>
                <a:spcPts val="800"/>
              </a:spcAft>
            </a:pPr>
            <a:r>
              <a:rPr sz="1600" b="0" i="0">
                <a:solidFill>
                  <a:srgbClr val="333333"/>
                </a:solidFill>
                <a:latin typeface="Calibri"/>
              </a:rPr>
              <a:t>–   </a:t>
            </a:r>
            <a:r>
              <a:rPr sz="1600" b="1" i="0">
                <a:solidFill>
                  <a:srgbClr val="333333"/>
                </a:solidFill>
                <a:latin typeface="Calibri"/>
              </a:rPr>
              <a:t>3.</a:t>
            </a:r>
            <a:r>
              <a:rPr sz="1600" b="0" i="0">
                <a:solidFill>
                  <a:srgbClr val="333333"/>
                </a:solidFill>
                <a:latin typeface="Calibri"/>
              </a:rPr>
              <a:t> Anoten impacto en costos/sostenibilidad.</a:t>
            </a:r>
          </a:p>
          <a:p>
            <a:pPr>
              <a:spcAft>
                <a:spcPts val="800"/>
              </a:spcAft>
            </a:pPr>
            <a:r>
              <a:rPr sz="1600" b="0" i="0">
                <a:solidFill>
                  <a:srgbClr val="333333"/>
                </a:solidFill>
                <a:latin typeface="Calibri"/>
              </a:rPr>
              <a:t>–   </a:t>
            </a:r>
            <a:r>
              <a:rPr sz="1600" b="1" i="0">
                <a:solidFill>
                  <a:srgbClr val="333333"/>
                </a:solidFill>
                <a:latin typeface="Calibri"/>
              </a:rPr>
              <a:t>4.</a:t>
            </a:r>
            <a:r>
              <a:rPr sz="1600" b="0" i="0">
                <a:solidFill>
                  <a:srgbClr val="333333"/>
                </a:solidFill>
                <a:latin typeface="Calibri"/>
              </a:rPr>
              <a:t> Opcional: marca «ASG/replicas» en diagrama Deployment.</a:t>
            </a:r>
          </a:p>
          <a:p>
            <a:pPr>
              <a:spcAft>
                <a:spcPts val="800"/>
              </a:spcAft>
            </a:pPr>
            <a:r>
              <a:rPr sz="1600" b="0" i="0">
                <a:solidFill>
                  <a:srgbClr val="333333"/>
                </a:solidFill>
                <a:latin typeface="Calibri"/>
              </a:rPr>
              <a:t>–   </a:t>
            </a:r>
            <a:r>
              <a:rPr sz="1600" b="1" i="0">
                <a:solidFill>
                  <a:srgbClr val="333333"/>
                </a:solidFill>
                <a:latin typeface="Calibri"/>
              </a:rPr>
              <a:t>5.</a:t>
            </a:r>
            <a:r>
              <a:rPr sz="1600" b="0" i="0">
                <a:solidFill>
                  <a:srgbClr val="333333"/>
                </a:solidFill>
                <a:latin typeface="Calibri"/>
              </a:rPr>
              <a:t> Entrega domingo 23:59 (sección Escalabilidad).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8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60120"/>
            <a:ext cx="12191695" cy="41148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277295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Calibri"/>
              </a:rPr>
              <a:t>Para continuar (PI)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457200" y="1261872"/>
            <a:ext cx="11277295" cy="1051560"/>
          </a:xfrm>
          <a:prstGeom prst="roundRect">
            <a:avLst>
              <a:gd name="adj" fmla="val 12000"/>
            </a:avLst>
          </a:prstGeom>
          <a:solidFill>
            <a:srgbClr val="E8F4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457200" y="1261872"/>
            <a:ext cx="128016" cy="1051560"/>
          </a:xfrm>
          <a:prstGeom prst="rect">
            <a:avLst/>
          </a:prstGeom>
          <a:solidFill>
            <a:srgbClr val="269CC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77240" y="1399031"/>
            <a:ext cx="10774375" cy="82295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1" i="0">
                <a:solidFill>
                  <a:srgbClr val="269CCB"/>
                </a:solidFill>
                <a:latin typeface="Calibri"/>
              </a:rPr>
              <a:t>Info</a:t>
            </a:r>
          </a:p>
          <a:p>
            <a:pPr>
              <a:spcBef>
                <a:spcPts val="400"/>
              </a:spcBef>
            </a:pPr>
            <a:r>
              <a:rPr sz="1400" b="0" i="0">
                <a:solidFill>
                  <a:srgbClr val="333333"/>
                </a:solidFill>
                <a:latin typeface="Calibri"/>
              </a:rPr>
              <a:t>Entregable: Sección Escalabilidad: triggers, límites, qué escala y qué no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457200" y="2478024"/>
            <a:ext cx="11277295" cy="1051560"/>
          </a:xfrm>
          <a:prstGeom prst="roundRect">
            <a:avLst>
              <a:gd name="adj" fmla="val 12000"/>
            </a:avLst>
          </a:prstGeom>
          <a:solidFill>
            <a:srgbClr val="FFF8E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457200" y="2478024"/>
            <a:ext cx="128016" cy="1051560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777240" y="2615184"/>
            <a:ext cx="10774375" cy="82295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1" i="0">
                <a:solidFill>
                  <a:srgbClr val="FFD000"/>
                </a:solidFill>
                <a:latin typeface="Calibri"/>
              </a:rPr>
              <a:t>Aclaración</a:t>
            </a:r>
          </a:p>
          <a:p>
            <a:pPr>
              <a:spcBef>
                <a:spcPts val="400"/>
              </a:spcBef>
            </a:pPr>
            <a:r>
              <a:rPr sz="1400" b="0" i="0">
                <a:solidFill>
                  <a:srgbClr val="333333"/>
                </a:solidFill>
                <a:latin typeface="Calibri"/>
              </a:rPr>
              <a:t>Subir evidencias al paquete CloudLite (Drive/repo) y a ExamLab (https://examlab.lovable.app/) domingo 23:59.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457200" y="3694176"/>
            <a:ext cx="11277295" cy="1051560"/>
          </a:xfrm>
          <a:prstGeom prst="roundRect">
            <a:avLst>
              <a:gd name="adj" fmla="val 12000"/>
            </a:avLst>
          </a:prstGeom>
          <a:solidFill>
            <a:srgbClr val="FBE4E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457200" y="3694176"/>
            <a:ext cx="128016" cy="1051560"/>
          </a:xfrm>
          <a:prstGeom prst="rect">
            <a:avLst/>
          </a:prstGeom>
          <a:solidFill>
            <a:srgbClr val="A0203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777240" y="3831336"/>
            <a:ext cx="10774375" cy="82295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1" i="0">
                <a:solidFill>
                  <a:srgbClr val="A02030"/>
                </a:solidFill>
                <a:latin typeface="Calibri"/>
              </a:rPr>
              <a:t>Atención</a:t>
            </a:r>
          </a:p>
          <a:p>
            <a:pPr>
              <a:spcBef>
                <a:spcPts val="400"/>
              </a:spcBef>
            </a:pPr>
            <a:r>
              <a:rPr sz="1400" b="0" i="0">
                <a:solidFill>
                  <a:srgbClr val="333333"/>
                </a:solidFill>
                <a:latin typeface="Calibri"/>
              </a:rPr>
              <a:t>Sin cloud de pago ni instalaciones obligatorias de hipervisores/Docker Desktop.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9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64592"/>
          </a:xfrm>
          <a:prstGeom prst="rect">
            <a:avLst/>
          </a:prstGeom>
          <a:solidFill>
            <a:srgbClr val="269CC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logo_uniajc_color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271455" y="5998464"/>
            <a:ext cx="1463040" cy="643233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457200" y="1737360"/>
            <a:ext cx="11277295" cy="109728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/>
            <a:r>
              <a:rPr sz="3400" b="1" i="0">
                <a:solidFill>
                  <a:srgbClr val="095292"/>
                </a:solidFill>
                <a:latin typeface="Calibri"/>
              </a:rPr>
              <a:t>Clase 13 · PI en movimiento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3017520"/>
            <a:ext cx="11277295" cy="1645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Aft>
                <a:spcPts val="600"/>
              </a:spcAft>
            </a:pPr>
            <a:r>
              <a:rPr sz="1600" b="0" i="0">
                <a:solidFill>
                  <a:srgbClr val="333333"/>
                </a:solidFill>
                <a:latin typeface="Calibri"/>
              </a:rPr>
              <a:t>Documentar política de autoescalado conceptual de CloudLite</a:t>
            </a:r>
          </a:p>
          <a:p>
            <a:pPr algn="ctr">
              <a:spcAft>
                <a:spcPts val="600"/>
              </a:spcAft>
            </a:pPr>
            <a:r>
              <a:rPr sz="1600" b="0" i="0">
                <a:solidFill>
                  <a:srgbClr val="333333"/>
                </a:solidFill>
                <a:latin typeface="Calibri"/>
              </a:rPr>
              <a:t>Evidencia: Sección Escalabilidad: triggers, límites, qué escala y qué no</a:t>
            </a:r>
          </a:p>
          <a:p>
            <a:pPr algn="ctr">
              <a:spcAft>
                <a:spcPts val="600"/>
              </a:spcAft>
            </a:pPr>
            <a:r>
              <a:rPr sz="1600" b="0" i="0">
                <a:solidFill>
                  <a:srgbClr val="333333"/>
                </a:solidFill>
                <a:latin typeface="Calibri"/>
              </a:rPr>
              <a:t>Siguiente paso = siguiente hito del PI CloudLite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4754880"/>
            <a:ext cx="11277295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000" b="1" i="0">
                <a:solidFill>
                  <a:srgbClr val="269CCB"/>
                </a:solidFill>
                <a:latin typeface="Calibri"/>
              </a:rPr>
              <a:t>Teoría al servicio del proyecto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