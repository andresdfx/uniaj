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ficha de dominio es individual, tiene cinco bloques rotulados y siempre en el mismo orden, y no vuelve a cambiar en el resto del semestre.</a:t>
            </a:r>
          </a:p>
          <a:p/>
          <a:p>
            <a:r>
              <a:t>PROBLEMA nombra en tres frases quien sufre la situacion, como se resuelve hoy sin el sistema y una cifra medible del dolor; sin esa cifra el problema es una opinion y no algo que un diseno pueda mejorar o empeorar de forma verificable.</a:t>
            </a:r>
          </a:p>
          <a:p/>
          <a:p>
            <a:r>
              <a:t>ACTORES son las personas que usan el sistema, cada una con una frase de que espera obtener, y en el mismo bloque los dos o tres sistemas externos con los que intercambia informacion (un proveedor de identidad, un servicio de correo, una pasarela de pagos)</a:t>
            </a:r>
          </a:p>
          <a:p/>
          <a:p>
            <a:r>
              <a:t>Esos sistemas externos son exactamente los que despues aparecen como System_Ext en el diagrama C4 Context, asi que se escriben aqui ANTES de dibujar.</a:t>
            </a:r>
          </a:p>
          <a:p/>
          <a:p>
            <a:r>
              <a:t>CAPACIDADES son los verbos de negocio que el sistema debe permitir (reservar, publicar, cancelar, notificar), nunca piezas tecnicas como login o cache, porque las capacidades describen el fin y la tecnologia es solo el medio.</a:t>
            </a:r>
          </a:p>
          <a:p/>
          <a:p>
            <a:r>
              <a:t>NOTAS:</a:t>
            </a:r>
          </a:p>
          <a:p/>
          <a:p>
            <a:r>
              <a:t>DOMINIO fija en una linea el problema de negocio elegido (AgendaU, BiblioLite, InventarioLab, TurnosClinica, EventosCampus u otro del mismo tamano); un dominio generico (una red social, una tienda en linea sin mas detalle) hace imposible evaluar las decisiones de las clases siguientes, porque no hay nada concreto que disenar.</a:t>
            </a:r>
          </a:p>
          <a:p/>
          <a:p>
            <a:r>
              <a:t>FUERA DE ALCANCE cierra la ficha nombrando tres cosas que el sistema no hara este semestre; ese bloque evita que el alcance crezca sin control clase 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Arquitectura = componentes + relaciones + despliegue + calidad (seguridad, escala, costo).</a:t>
            </a:r>
          </a:p>
          <a:p/>
          <a:p>
            <a:r>
              <a:t>Cloud: recursos bajo demanda, multi-tenant, API/automatización.</a:t>
            </a:r>
          </a:p>
          <a:p/>
          <a:p>
            <a:r>
              <a:t>Para CloudLite App: no «comprar servidores»; diseñar capas y simular en labs gratis.</a:t>
            </a:r>
          </a:p>
          <a:p/>
          <a:p>
            <a:r>
              <a:t>Bloques tipicos: cliente → API → lógica → datos → observabilidad.</a:t>
            </a:r>
          </a:p>
          <a:p/>
          <a:p>
            <a:r>
              <a:t>Una decisión es arquitectónica si es cara de revertir: cambiar la base de datos a los 3 meses lo es; cambiar el color de un botón, no.</a:t>
            </a:r>
          </a:p>
          <a:p/>
          <a:p>
            <a:r>
              <a:t>Atributos de calidad del curso: rendimiento, disponibilidad, seguridad y costo.</a:t>
            </a:r>
          </a:p>
          <a:p/>
          <a:p>
            <a:r>
              <a:t>DESARROLLO (para explicarlo, no se proyecta):</a:t>
            </a:r>
          </a:p>
          <a:p/>
          <a:p>
            <a:r>
              <a:t>Arquitectura de software es el conjunto de decisiones estructurales que resultan costosas o imposibles de cambiar despues: como se dividen los componentes</a:t>
            </a:r>
          </a:p>
          <a:p/>
          <a:p>
            <a:r>
              <a:t>Como se comunican, donde se despliegan y que atributos de calidad se priorizan cuando entran en conflicto.</a:t>
            </a:r>
          </a:p>
          <a:p/>
          <a:p>
            <a:r>
              <a:t>La prueba practica para saber si una decision es arquitectonica consiste en preguntar cuanto costaria revertirla en tres meses.</a:t>
            </a:r>
          </a:p>
          <a:p/>
          <a:p>
            <a:r>
              <a:t>Cambiar el color de un boton no es arquitectura; cambiar de base de datos relacional a documental si lo es, porque arrastra el modelo de datos, las consultas, el codigo de acceso y las pruebas.</a:t>
            </a:r>
          </a:p>
          <a:p/>
          <a:p>
            <a:r>
              <a:t>El stack es la lista de tecnologias concretas; la arquitectura es la estructura y las razones.</a:t>
            </a:r>
          </a:p>
          <a:p/>
          <a:p>
            <a:r>
              <a:t>Dos proyectos pueden usar el mismo stack y tener arquitecturas opuestas: uno con un solo proceso que hace todo, otro con tres servicios que se comunican por red.</a:t>
            </a:r>
          </a:p>
          <a:p/>
          <a:p>
            <a:r>
              <a:t>Los atributos de calidad son las propiedades medibles que el sistema debe exhibir, y son el vocabulario con el que se justifica cualquier decision.</a:t>
            </a:r>
          </a:p>
          <a:p/>
          <a:p>
            <a:r>
              <a:t>Los cuatro que este curso usa de forma permanente son rendimiento, disponibilidad, seguridad y costo.</a:t>
            </a:r>
          </a:p>
          <a:p/>
          <a:p>
            <a:r>
              <a:t>Disponibilidad se expresa como porcentaje de tiempo en que el sistema responde, y ahi el numero si es aritmetica exacta: 99 % permite unas 7 horas de caida al mes, 99,9 % (los llamados tres nueves) alrededor de 43 minutos, y 99,99 % poco mas de 4 minutos.</a:t>
            </a:r>
          </a:p>
          <a:p/>
          <a:p>
            <a:r>
              <a:t>El punto central es que estos atributos compiten entre si: mas disponibilidad exige redundancia, la redundancia cuesta dinero, y por eso la arquitectura es sobre todo el oficio de elegir que se sacrifica.</a:t>
            </a:r>
          </a:p>
          <a:p/>
          <a:p>
            <a:r>
              <a:t>El cambio economico que esto produce es lo relevante para la arquitectura, porque la infraestructura deja de ser una compra que se hace por adelantado y su costo se reparte en el tiempo, y pasa a ser un gasto operativo que cambia con cada decision de diseno.</a:t>
            </a:r>
          </a:p>
          <a:p/>
          <a:p>
            <a:r>
              <a:t>NOTAS:</a:t>
            </a:r>
          </a:p>
          <a:p/>
          <a:p>
            <a:r>
              <a:t>Nadie puede contestar, porque el stack no contiene esa informacion; las respuestas viven en la arquitectura.</a:t>
            </a:r>
          </a:p>
          <a:p/>
          <a:p>
            <a:r>
              <a:t>Hacer visible ese vacio en los primeros veinte minutos ahorra tres semanas de malentendidos.</a:t>
            </a:r>
          </a:p>
          <a:p/>
          <a:p>
            <a:r>
              <a:t>Nube no significa internet ni «el servidor de otra persona».</a:t>
            </a:r>
          </a:p>
          <a:p/>
          <a:p>
            <a:r>
              <a:t>(No se proyecta) Esa asimetria de costo es la razon de existir de la materia: si el docente no la instala el primer dia, el curso se percibe como una coleccion de diagramas decorativos y el estudiante concluye que la arquitectura es documentacion que se produce para la nota.</a:t>
            </a:r>
          </a:p>
          <a:p/>
          <a:p>
            <a:r>
              <a:t>(No se proyecta) Conviene separar de entrada dos cosas que el estudiante confunde siempre: el stack tecnologico y la arquitectura.</a:t>
            </a:r>
          </a:p>
          <a:p/>
          <a:p>
            <a:r>
              <a:t>(No se proyecta) Una forma rapida de demostrarlo es escribir en el tablero «React + Node + PostgreSQL» y preguntar al curso cuantos usuarios simultaneos soporta eso, o que ocurre si la base de datos deja de responder.</a:t>
            </a:r>
          </a:p>
          <a:p/>
          <a:p>
            <a:r>
              <a:t>(No se proyecta) Rendimiento se expresa en tiempo de respuesta: una convencion de usabilidad ampliamente aceptada dice que una interaccion web se siente inmediata por debajo de 100 milisegundos, aceptable hasta unos 300 y claramente lenta por encima de 1 segundo; son convenciones, no leyes fisicas, y conviene decirlo asi.</a:t>
            </a:r>
          </a:p>
          <a:p/>
          <a:p>
            <a:r>
              <a:t>(No se proyecta) Vale hacer ese calculo en el tablero, porque 43 minutos al mes es un dato que el estudiante recuerda, mientras que la expresion «alta disponibilidad» no significa nada.</a:t>
            </a:r>
          </a:p>
          <a:p/>
          <a:p>
            <a:r>
              <a:t>(No se proyecta) Es un modelo operativo con cinco rasgos que conviene enunciar tal cual, porque son el estandar con el que se define el termino: autoservicio bajo demanda, es decir que quien necesita recursos los aprovisiona sin pedir permiso ni esperar dias; acceso amplio por red; agrupacion de recursos, donde el proveedor comparte hardware fisico entre muchos clientes mediante virtualizacion, tema de la Clase 3; elasticidad rapida, con capacidad que sube y baja en minutos y no en semanas; y medicion del servicio, o pago por lo consumido.</a:t>
            </a:r>
          </a:p>
          <a:p/>
          <a:p>
            <a:r>
              <a:t>(No se proyecta) Por eso en la nube el costo se convierte en un atributo de calidad tecnico y no solo administrativo, idea que el curso retoma de forma explicita en la Clase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Aplicación web/API de un dominio realista (citas, academia, inventario liviano…).</a:t>
            </a:r>
          </a:p>
          <a:p/>
          <a:p>
            <a:r>
              <a:t>Lo que se construye en el semestre: diagramas + contenedor (lab) + CI/CD conceptual + informe.</a:t>
            </a:r>
          </a:p>
          <a:p/>
          <a:p>
            <a:r>
              <a:t>Hoy solo: problema + capacidades + boceto de contexto.</a:t>
            </a:r>
          </a:p>
          <a:p/>
          <a:p>
            <a:r>
              <a:t>Sin AWS/GCP/Oracle: draw.io, Killercoda, GitHub Actions.</a:t>
            </a:r>
          </a:p>
          <a:p/>
          <a:p>
            <a:r>
              <a:t>Ejemplo de dominio: CloudLite Turnos — el cliente reserva turno, el barbero ve su agenda, el administrador fija horarios.</a:t>
            </a:r>
          </a:p>
          <a:p/>
          <a:p>
            <a:r>
              <a:t>Error común: un dominio infinito (una red social completa) no cabe en un semestre.</a:t>
            </a:r>
          </a:p>
          <a:p/>
          <a:p>
            <a:r>
              <a:t>DESARROLLO (para explicarlo, no se proyecta):</a:t>
            </a:r>
          </a:p>
          <a:p/>
          <a:p>
            <a:r>
              <a:t>El diagrama de contexto correcto tiene una sola caja llamada CloudLite Turnos, tres actores alrededor (el cliente que reserva</a:t>
            </a:r>
          </a:p>
          <a:p/>
          <a:p>
            <a:r>
              <a:t>El barbero que consulta su agenda del dia y el administrador que configura horarios y precios) y dos o tres sistemas externos con la flecha etiquetada: una pasarela de pagos</a:t>
            </a:r>
          </a:p>
          <a:p/>
          <a:p>
            <a:r>
              <a:t>Con la etiqueta «envia solicitud de cobro y recibe confirmacion»; un proveedor de correo, con la etiqueta «envia recordatorio de turno»; y quizas un servicio de mapas.</a:t>
            </a:r>
          </a:p>
          <a:p/>
          <a:p>
            <a:r>
              <a:t>Nada mas: la API, la base de datos y el almacenamiento de fotos no aparecen todavia porque son interiores.</a:t>
            </a:r>
          </a:p>
          <a:p/>
          <a:p>
            <a:r>
              <a:t>Un sistema que depende de una pasarela de pagos hereda su disponibilidad, y esa herencia es una decision arquitectonica aunque nadie la haya escrito.</a:t>
            </a:r>
          </a:p>
          <a:p/>
          <a:p>
            <a:r>
              <a:t>NOTAS:</a:t>
            </a:r>
          </a:p>
          <a:p/>
          <a:p>
            <a:r>
              <a:t>Aterricemos en CloudLite App, el proyecto integrador que atraviesa las quince clases.</a:t>
            </a:r>
          </a:p>
          <a:p/>
          <a:p>
            <a:r>
              <a:t>Supongamos que un estudiante elige como dominio la gestion de turnos de una barberia.</a:t>
            </a:r>
          </a:p>
          <a:p/>
          <a:p>
            <a:r>
              <a:t>(No se proyecta) El valor de ese diagrama de cinco o seis elementos esta en que obliga a responder dos preguntas que el estudiante no se habia hecho: quien exactamente usa esto y de que terceros depende para funcionar.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1) Actor y problema. 2) Capacidades. 3) Contenedores lógicos. 4) Datos. 5) Riesgos.</a:t>
            </a:r>
          </a:p>
          <a:p/>
          <a:p>
            <a:r>
              <a:t>Ejemplo: *AgendaU* — estudiantes reservan tutoría; API + auth + agenda + notificaciones.</a:t>
            </a:r>
          </a:p>
          <a:p/>
          <a:p>
            <a:r>
              <a:t>Pregunta de diseño: ¿qué es núcleo vs satélite?</a:t>
            </a:r>
          </a:p>
          <a:p/>
          <a:p>
            <a:r>
              <a:t>Salida: diagrama C4 Context (sistema + actores externos).</a:t>
            </a:r>
          </a:p>
          <a:p/>
          <a:p>
            <a:r>
              <a:t>Núcleo = lo que diferencia al dominio (la agenda de turnos); satélite = lo genérico que se delega (correo, autenticación).</a:t>
            </a:r>
          </a:p>
          <a:p/>
          <a:p>
            <a:r>
              <a:t>Error común: empezar por la tecnología («usaremos Kubernetes») antes de nombrar actor y problema.</a:t>
            </a:r>
          </a:p>
          <a:p/>
          <a:p>
            <a:r>
              <a:t>DESARROLLO (para explicarlo, no se proyecta):</a:t>
            </a:r>
          </a:p>
          <a:p/>
          <a:p>
            <a:r>
              <a:t>El modelo C4 es la notacion que este curso usa para dibujar arquitectura, y su virtud es ofrecer cuatro niveles de zoom con reglas claras sobre que se muestra en cada uno, en lugar de un unico diagrama que mezcla todo.</a:t>
            </a:r>
          </a:p>
          <a:p/>
          <a:p>
            <a:r>
              <a:t>Nivel 1, Contexto: el sistema es una sola caja negra y alrededor aparecen unicamente las personas que lo usan y los sistemas externos con los que intercambia informacion.</a:t>
            </a:r>
          </a:p>
          <a:p/>
          <a:p>
            <a:r>
              <a:t>Nivel 2, Contenedores: se abre esa caja y se ven las aplicaciones, servicios y bases de datos que la componen.</a:t>
            </a:r>
          </a:p>
          <a:p/>
          <a:p>
            <a:r>
              <a:t>Nivel 3, Componentes: se abre un contenedor y se ven sus modulos internos.</a:t>
            </a:r>
          </a:p>
          <a:p/>
          <a:p>
            <a:r>
              <a:t>Nivel 4, Codigo: clases y funciones, que en la practica casi nunca se dibuja porque el codigo mismo ya lo documenta.</a:t>
            </a:r>
          </a:p>
          <a:p/>
          <a:p>
            <a:r>
              <a:t>El segundo artefacto de hoy es la ficha con cuatro capacidades y el problema en tres frases.</a:t>
            </a:r>
          </a:p>
          <a:p/>
          <a:p>
            <a:r>
              <a:t>Una capacidad se escribe como un verbo de negocio que el usuario puede ejecutar, no como una pieza tecnica: «reservar un turno disponible», «cancelar o reprogramar hasta dos horas antes», «consultar la agenda del dia» y «cobrar un anticipo» son capacidades</a:t>
            </a:r>
          </a:p>
          <a:p/>
          <a:p>
            <a:r>
              <a:t>«tener login con JWT», «usar cache» o «tener panel administrativo» no lo son, porque son medios y no fines.</a:t>
            </a:r>
          </a:p>
          <a:p/>
          <a:p>
            <a:r>
              <a:t>El limite de cuatro capacidades es una decision pedagogica deliberada y no una regla de la industria: con cada estudiante trabajando de forma individual durante doce semanas, un alcance de ocho capacidades garantiza que el proyecto no llegue a ninguna parte.</a:t>
            </a:r>
          </a:p>
          <a:p/>
          <a:p>
            <a:r>
              <a:t>El enunciado del problema debe nombrar a quien le duele y que pierde hoy, con alguna cifra aunque sea estimada: «la barberia agenda por mensajeria instantanea</a:t>
            </a:r>
          </a:p>
          <a:p/>
          <a:p>
            <a:r>
              <a:t>Pierde alrededor de tres turnos diarios por doble reserva y no tiene registro de cuantos clientes no se presentaron».</a:t>
            </a:r>
          </a:p>
          <a:p/>
          <a:p>
            <a:r>
              <a:t>NOTAS:</a:t>
            </a:r>
          </a:p>
          <a:p/>
          <a:p>
            <a:r>
              <a:t>Un problema sin afectado concreto y sin magnitud produce arquitecturas que nadie puede evaluar, porque no hay contra que comparar.</a:t>
            </a:r>
          </a:p>
          <a:p/>
          <a:p>
            <a:r>
              <a:t>(No se proyecta) Hoy se trabaja unicamente el nivel 1, y la regla es estricta: si en el diagrama de contexto aparecen las palabras PostgreSQL, Docker o Redis, el diagrama esta mal, porque eso es interior del sistema y corresponde al nivel 2 de la Clase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 diagrama de contexto tiene tres tipos de elemento: Person, System y System_Ext.</a:t>
            </a:r>
          </a:p>
          <a:p/>
          <a:p>
            <a:r>
              <a:t>Cada flecha lleva un verbo de negocio, por ejemplo «Cliente reserva turno en CloudLite Turnos» o «CloudLite Turnos envia recordatorio por el proveedor de correo».</a:t>
            </a:r>
          </a:p>
          <a:p/>
          <a:p>
            <a:r>
              <a:t>El error mas comun es dibujar la base de datos o la API en este nivel: son piezas internas y pertenecen al nivel 2, Containers.</a:t>
            </a:r>
          </a:p>
          <a:p/>
          <a:p>
            <a:r>
              <a:t>Un Context legible tiene entre 4 y 8 elementos; si tiene mas, la caja del sistema ya se esta abriendo.</a:t>
            </a:r>
          </a:p>
          <a:p/>
          <a:p>
            <a:r>
              <a:t>NOTAS:</a:t>
            </a:r>
          </a:p>
          <a:p/>
          <a:p>
            <a:r>
              <a:t>En el diagrama proyectado (System, dos Person, System_Ext) el nivel Context muestra el sistema como UNA sola caja, sin abrir por dentro.</a:t>
            </a:r>
          </a:p>
          <a:p/>
          <a:p>
            <a:r>
              <a:t>PREGUNTAS FRECUENTES Y CIERRE CONCEPTUAL ()</a:t>
            </a:r>
          </a:p>
          <a:p/>
          <a:p>
            <a:r>
              <a:t>Respuesta: es una diferencia de alcance y de reversibilidad, no de naturaleza</a:t>
            </a:r>
          </a:p>
          <a:p/>
          <a:p>
            <a:r>
              <a:t>Arquitectura son las decisiones que afectan a todo el sistema y son caras de revertir, diseno son las decisiones internas de un componente que se pueden cambiar sin tocar a los demas.</a:t>
            </a:r>
          </a:p>
          <a:p/>
          <a:p>
            <a:r>
              <a:t>La segunda: por que no usamos una cuenta real de un proveedor de nube.</a:t>
            </a:r>
          </a:p>
          <a:p/>
          <a:p>
            <a:r>
              <a:t>La tercera: cuantas cajas debe tener mi diagrama.</a:t>
            </a:r>
          </a:p>
          <a:p/>
          <a:p>
            <a:r>
              <a:t>Respuesta: en el nivel de contexto, entre cuatro y ocho elementos en total; si hay veinte, es casi seguro que se colaron piezas internas.</a:t>
            </a:r>
          </a:p>
          <a:p/>
          <a:p>
            <a:r>
              <a:t>La primera: cual es la diferencia entre arquitectura y diseno.</a:t>
            </a:r>
          </a:p>
          <a:p/>
          <a:p>
            <a:r>
              <a:t>Respuesta, y hay que darla sin disculparse: porque este curso evalua razonamiento arquitectonico y no el manejo de una consola que cambia de aspecto cada semestre; ninguna actividad exigira tarjeta de credito ni cuenta de pago, todo se hace con draw.io, Excalidraw, Killercoda y el nivel gratuito de GitHub Actions, y quien aprende a justificar un trade-off lo aplica luego en cualquier proveedor en una tarde.</a:t>
            </a:r>
          </a:p>
          <a:p/>
          <a:p>
            <a:r>
              <a:t>(No se proyecta) Es el mismo modelo C4 explicado arriba, ahora aplicado con nombres concretos, y sirve de puente directo hacia la pregunta 2 del taller en la plataforma del curso (el diagrama Mermaid que cada estudiante entrega hoy).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28800" cy="797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9CCB"/>
                </a:solidFill>
                <a:latin typeface="Calibri"/>
              </a:rPr>
              <a:t>Clase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Introducción a arquitecturas cloud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269CCB"/>
                </a:solidFill>
                <a:latin typeface="Calibri"/>
              </a:rPr>
              <a:t>Diagnóstico · la app · primer boceto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Bloque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120 min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sesión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Google Meet.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Conceptos del tema, ejemplos resueltos sobre la app y cierre conceptual.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Agenda de hoy (120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0–10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Encuadre del tema y objetivos de la clase.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10–70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Conceptos del tema, uno por lámina, con ejemplos sobre la app.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70–100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Ejemplos resueltos y demostración sobre el tema.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100–115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Práctica (opcional, guía en la carpeta de la clase).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115–120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Preguntas y cierre conceptual.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Objetivos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Ubicar el curso como diseño de arquitecturas cloud al servicio del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La app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Cerrar el dominio en una ficha de cinco bloques, con capacidades de negocio y no piezas tecnicas.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Dejar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dominio y alcance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escritos y compartibles.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ficha de dominio de 5 bloques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cha-cinco-bloqu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ficha-cinco-bloque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ficha-cinco-bloque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ficha-cinco-bloques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ficha de dominio es individual, tiene cinco bloques rotulados y siempre en el mismo orden, y no vuelve a cambiar en el resto del semestre.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PROBLEMA nombra en tres frases quien sufre la situacion, como se resuelve hoy sin el sistema y una cifra medible del dolor.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Sin esa cifra el problema es una opinion y no algo que un diseno pueda mejorar o empeorar de forma verificable.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Qué es arquitectura cloud (mapa mental)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mapa-cloud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Arquitectura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= componentes + relaciones + despliegue + calidad (seguridad, escala, costo).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Cloud: recursos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bajo demanda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multi-tenant, API/automatización.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Para la app: no «comprar servidores»;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diseñar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capas y simular en labs gratis.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Bloques tipicos: cliente → API → lógica → datos → observabilidad.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app — el hilo conductor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hilo-conducto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Aplicación web/API de un dominio realista (citas, academia, inventario liviano…).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 que se construye en el semestre: diagramas + contenedor (lab) + CI/CD conceptual + informe.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solo: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problema + capacidades + boceto de contexto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Sin AWS/GCP/Oracle: draw.io, Killercoda, GitHub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 dominio a arquitectura (mini-método)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mini-meto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1) Actor y problema. 2) Capacidades. 3) Contenedores lógicos. 4) Datos. 5) Riesgos.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Ejemplo: *AgendaU* — estudiantes reservan tutoría; API + auth + agenda + notificaciones.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Pregunta de diseño: ¿qué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núcleo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vs satélite?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Salida: diagrama C4 Context (sistema + actores externos).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Ejemplo de diagrama C4 - nivel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4-context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4-context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4-context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diagrama de contexto tiene tres tipos de elemento: Person, System y System_Ext.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flecha lleva un verbo de negocio, por ejemplo «Cliente reserva turno en la app de turnos» o…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error mas comun es dibujar la base de datos o la API en este nivel: son piezas internas y pertenecen al nivel 2, Containers.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C4 Context en Mermaid: el sistema es una sola caja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6991923" cy="361479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6991923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5894643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02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5986083" cy="302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C4Context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title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Contexto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-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App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turnos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CDCAA"/>
                </a:solidFill>
                <a:latin typeface="Consolas"/>
              </a:rPr>
              <a:t>Person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cliente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"Cliente"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"Reserva turnos"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CDCAA"/>
                </a:solidFill>
                <a:latin typeface="Consolas"/>
              </a:rPr>
              <a:t>Person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barbero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"Barbero"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"Ve su agenda"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CDCAA"/>
                </a:solidFill>
                <a:latin typeface="Consolas"/>
              </a:rPr>
              <a:t>System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app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"App de turnos"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"Agenda turnos"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CDCAA"/>
                </a:solidFill>
                <a:latin typeface="Consolas"/>
              </a:rPr>
              <a:t>System_Ext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idp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"Proveedor de identidad"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"Login"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CDCAA"/>
                </a:solidFill>
                <a:latin typeface="Consolas"/>
              </a:rPr>
              <a:t>System_Ext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correo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"Correo transaccional"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"Envia correos"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CDCAA"/>
                </a:solidFill>
                <a:latin typeface="Consolas"/>
              </a:rPr>
              <a:t>Rel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cliente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app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"Reserva un turno"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"HTTPS"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CDCAA"/>
                </a:solidFill>
                <a:latin typeface="Consolas"/>
              </a:rPr>
              <a:t>Rel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barbero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app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"Consulta su agenda"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"HTTPS"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CDCAA"/>
                </a:solidFill>
                <a:latin typeface="Consolas"/>
              </a:rPr>
              <a:t>Rel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app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idp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"Valida identidad"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"OIDC/HTTPS"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CDCAA"/>
                </a:solidFill>
                <a:latin typeface="Consolas"/>
              </a:rPr>
              <a:t>Rel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app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correo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"Pide recordatorio"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"REST/HTTPS"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CDCAA"/>
                </a:solidFill>
                <a:latin typeface="Consolas"/>
              </a:rPr>
              <a:t>Rel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correo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cliente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"Entrega el recordatorio"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"SMTP"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8579" y="1261872"/>
            <a:ext cx="4120780" cy="3318569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g-c4-context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443" y="1316736"/>
            <a:ext cx="4011052" cy="3208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3443" y="4580441"/>
            <a:ext cx="40110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Lo que dibuja este 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Ejemplo de diagrama C4 — nivel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Actor, sistema y sistema externo: el mismo esquema sirve para cualquier dominio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103120" cy="1097280"/>
          </a:xfrm>
          <a:prstGeom prst="roundRect">
            <a:avLst>
              <a:gd name="adj" fmla="val 12000"/>
            </a:avLst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Estudiante
(actor)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377440"/>
            <a:ext cx="2834640" cy="1645920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 app
(el sistema = una sola caja)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74320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Sistema externo
(ej. correo, auth)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926079" y="3200400"/>
            <a:ext cx="1920241" cy="9144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63240" y="304495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usa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0" y="3200400"/>
            <a:ext cx="1554480" cy="9144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35240" y="304495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notifica / consume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Nivel Context: el sistema es UNA caja (sin abrir por dentro). Actores a la izquierda, sistemas externos a la derecha. El interior se dibuja en Clase 4 (Containers). Cada flecha lleva un verbo de negocio («reserva turno», «envía recordatorio»); la API y la base de datos no aparecen aquí porque son piezas interiores.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Del boceto al código Mermaid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El diagrama se escribe como código: se versiona, se compara y se corrige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9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51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Diseña visual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Dibuja el diagrama como quieras en Excalidraw o draw.io: es más rápido arrastrar cajas que escribir código, y ahí es donde se piensa el modelo.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02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94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Traduce con IA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Describe tu boceto a una IA y pídele el código Mermaid usando C4Context. Revisa el resultado: la IA acierta la sintaxis, no tu modelo.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45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4251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7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Renderiza en un visor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Pega el código en un visor Mermaid (mermaid.live o la vista previa de tu editor) y míralo dibujado. Si no renderiza, corrige ahí: un end faltante o un rótulo sin comillas.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88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5394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94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180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Guarda código e imagen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 código es la fuente del diagrama: guárdalo con tu proyecto junto con el PNG exportado.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 · cierre conceptual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Ubicar el curso como diseño de arquitecturas cloud al servicio de la app.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Cerrar el dominio en una ficha de cinco bloques, con capacidades de negocio y no piezas tecnicas.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Dejar el dominio y alcance escritos y compartibles.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Teoría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