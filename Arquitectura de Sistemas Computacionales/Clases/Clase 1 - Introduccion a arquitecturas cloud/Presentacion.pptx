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9" roundtripDataSignature="AMtx7mgTI0jjX0OlyUXILBT29Q0SJmDnn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9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0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0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0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2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3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3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5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blanco.png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4320"/>
            <a:ext cx="1828800" cy="79710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Clase 1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Introducción a arquitecturas cloud</a:t>
            </a:r>
            <a:endParaRPr/>
          </a:p>
          <a:p>
            <a:pPr indent="0" lvl="0" marL="0" marR="0" rtl="0" algn="ctr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Diagnóstico · CloudLite App · primer boceto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457200" y="3200400"/>
            <a:ext cx="11277300" cy="11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Hoy avanzamos el PI en:</a:t>
            </a: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Definir dominio CloudLite App + 3–5 capacidades + problema en 2–3 frases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Bloque </a:t>
            </a:r>
            <a:r>
              <a:rPr b="1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120 min</a:t>
            </a: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Teoría breve · Taller PI · cierre.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Herramientas gratis + navegador · sin AWS/GCP/Oracle Cloud.</a:t>
            </a:r>
            <a:endParaRPr sz="1800"/>
          </a:p>
        </p:txBody>
      </p:sp>
      <p:sp>
        <p:nvSpPr>
          <p:cNvPr id="90" name="Google Shape;90;p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 de hoy (120 min)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457200" y="1170432"/>
            <a:ext cx="11277300" cy="188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0–10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Encuadre: hoy avanzamos el PI en… + entregable concreto.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10–40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Teoría Core breve (solo lo necesario para el taller PI).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40–100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Taller guiado PI (demo en vivo + avance individual).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100–115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Revisión de evidencias del PI.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115–120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Cierre: criterio de éxito + plazo domingo 23:59.</a:t>
            </a:r>
            <a:endParaRPr sz="1800"/>
          </a:p>
        </p:txBody>
      </p:sp>
      <p:sp>
        <p:nvSpPr>
          <p:cNvPr id="99" name="Google Shape;99;p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Objetivos de la clase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457200" y="1170432"/>
            <a:ext cx="11277300" cy="11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Ubicar el curso como diseño de arquitecturas cloud al servicio del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PI CloudLite App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Distinguir nube vs on-prem y los bloques de una arquitectura cloud simple.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Dejar el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dominio y alcance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del PI escritos y compartibles.</a:t>
            </a:r>
            <a:endParaRPr sz="1800"/>
          </a:p>
        </p:txBody>
      </p:sp>
      <p:sp>
        <p:nvSpPr>
          <p:cNvPr id="108" name="Google Shape;108;p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PI CloudLite — entregable de hoy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457200" y="1170432"/>
            <a:ext cx="11277300" cy="216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Entregable: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Ficha PI de 6 bloques + C4 Context en Mermaid renderizado en ExamLab (boceto previo en Excalidraw/draw.io)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Herramienta: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Padlet · Excalidraw / draw.io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Todo lo que construyan hoy entra al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informe/repo del PI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(no es lab suelto).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Ficha de 6 bloques: DOMINIO · PROBLEMA · CAPACIDADES · ACTORES · SISTEMAS EXTERNOS · FUERA DE ALCANCE.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Actividad individual: cada estudiante define su propio dominio CloudLite.</a:t>
            </a:r>
            <a:endParaRPr sz="1800"/>
          </a:p>
        </p:txBody>
      </p:sp>
      <p:sp>
        <p:nvSpPr>
          <p:cNvPr id="117" name="Google Shape;117;p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5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Qué es arquitectura cloud (mapa mental)</a:t>
            </a:r>
            <a:endParaRPr/>
          </a:p>
        </p:txBody>
      </p:sp>
      <p:sp>
        <p:nvSpPr>
          <p:cNvPr id="125" name="Google Shape;125;p5"/>
          <p:cNvSpPr txBox="1"/>
          <p:nvPr/>
        </p:nvSpPr>
        <p:spPr>
          <a:xfrm>
            <a:off x="457200" y="1170432"/>
            <a:ext cx="112773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componentes + relaciones + despliegue + calidad (seguridad, escala, costo).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Cloud: recursos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bajo demanda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, multi-tenant, API/automatización.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Para CloudLite App: no «comprar servidores»;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diseñar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capas y simular en labs gratis.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Bloques tipicos: cliente → API → lógica → datos → observabilidad.</a:t>
            </a:r>
            <a:endParaRPr sz="1800"/>
          </a:p>
        </p:txBody>
      </p:sp>
      <p:sp>
        <p:nvSpPr>
          <p:cNvPr id="126" name="Google Shape;126;p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CloudLite App — el hilo conductor</a:t>
            </a:r>
            <a:endParaRPr/>
          </a:p>
        </p:txBody>
      </p:sp>
      <p:sp>
        <p:nvSpPr>
          <p:cNvPr id="134" name="Google Shape;134;p6"/>
          <p:cNvSpPr txBox="1"/>
          <p:nvPr/>
        </p:nvSpPr>
        <p:spPr>
          <a:xfrm>
            <a:off x="457200" y="1170432"/>
            <a:ext cx="112773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Aplicación web/API de un dominio realista (citas, academia, inventario liviano…).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Entregables del semestre: diagramas + contenedor (lab) + CI/CD conceptual + informe.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Hoy solo: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problema + capacidades + boceto de contexto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Sin AWS/GCP/Oracle: draw.io, LabEx Docker Playground, GitHub Actions.</a:t>
            </a:r>
            <a:endParaRPr sz="1800"/>
          </a:p>
        </p:txBody>
      </p:sp>
      <p:sp>
        <p:nvSpPr>
          <p:cNvPr id="135" name="Google Shape;135;p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7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7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 dominio a arquitectura (mini-método)</a:t>
            </a:r>
            <a:endParaRPr/>
          </a:p>
        </p:txBody>
      </p:sp>
      <p:sp>
        <p:nvSpPr>
          <p:cNvPr id="143" name="Google Shape;143;p7"/>
          <p:cNvSpPr txBox="1"/>
          <p:nvPr/>
        </p:nvSpPr>
        <p:spPr>
          <a:xfrm>
            <a:off x="457200" y="1170432"/>
            <a:ext cx="112773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1) Actor y problema. 2) Capacidades. 3) Contenedores lógicos. 4) Datos. 5) Riesgos.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Ejemplo: *AgendaU* — estudiantes reservan tutoría; API + auth + agenda + notificaciones.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Pregunta de diseño: ¿qué es </a:t>
            </a:r>
            <a:r>
              <a:rPr b="1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núcleo</a:t>
            </a: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vs satélite?</a:t>
            </a:r>
            <a:endParaRPr sz="1800"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Salida: diagrama C4 Context (sistema + actores externos).</a:t>
            </a:r>
            <a:endParaRPr sz="1800"/>
          </a:p>
        </p:txBody>
      </p:sp>
      <p:sp>
        <p:nvSpPr>
          <p:cNvPr id="144" name="Google Shape;144;p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8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Ejemplo de diagrama C4 — nivel Context</a:t>
            </a:r>
            <a:endParaRPr/>
          </a:p>
        </p:txBody>
      </p:sp>
      <p:sp>
        <p:nvSpPr>
          <p:cNvPr id="152" name="Google Shape;152;p8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Reemplacen actor / sistema / externo por su propio dominio CloudLite</a:t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822960" y="2743200"/>
            <a:ext cx="2103120" cy="1097280"/>
          </a:xfrm>
          <a:prstGeom prst="roundRect">
            <a:avLst>
              <a:gd fmla="val 12000" name="adj"/>
            </a:avLst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Estudiante</a:t>
            </a:r>
            <a:b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(actor)</a:t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4846320" y="2377440"/>
            <a:ext cx="2834640" cy="1645920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CloudLite App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(el sistema = una sola caja)</a:t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9235440" y="2743200"/>
            <a:ext cx="2286000" cy="1097280"/>
          </a:xfrm>
          <a:prstGeom prst="roundRect">
            <a:avLst>
              <a:gd fmla="val 12000" name="adj"/>
            </a:avLst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Sistema externo</a:t>
            </a:r>
            <a:b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(ej. correo, auth)</a:t>
            </a:r>
            <a:endParaRPr/>
          </a:p>
        </p:txBody>
      </p:sp>
      <p:cxnSp>
        <p:nvCxnSpPr>
          <p:cNvPr id="156" name="Google Shape;156;p8"/>
          <p:cNvCxnSpPr/>
          <p:nvPr/>
        </p:nvCxnSpPr>
        <p:spPr>
          <a:xfrm flipH="1" rot="10800000">
            <a:off x="2926079" y="3200400"/>
            <a:ext cx="1920241" cy="91440"/>
          </a:xfrm>
          <a:prstGeom prst="straightConnector1">
            <a:avLst/>
          </a:prstGeom>
          <a:noFill/>
          <a:ln cap="flat" cmpd="sng" w="22225">
            <a:solidFill>
              <a:srgbClr val="66666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7" name="Google Shape;157;p8"/>
          <p:cNvSpPr txBox="1"/>
          <p:nvPr/>
        </p:nvSpPr>
        <p:spPr>
          <a:xfrm>
            <a:off x="3063240" y="3044951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usa</a:t>
            </a:r>
            <a:endParaRPr/>
          </a:p>
        </p:txBody>
      </p:sp>
      <p:cxnSp>
        <p:nvCxnSpPr>
          <p:cNvPr id="158" name="Google Shape;158;p8"/>
          <p:cNvCxnSpPr/>
          <p:nvPr/>
        </p:nvCxnSpPr>
        <p:spPr>
          <a:xfrm>
            <a:off x="7680960" y="3200400"/>
            <a:ext cx="1554480" cy="91440"/>
          </a:xfrm>
          <a:prstGeom prst="straightConnector1">
            <a:avLst/>
          </a:prstGeom>
          <a:noFill/>
          <a:ln cap="flat" cmpd="sng" w="22225">
            <a:solidFill>
              <a:srgbClr val="666666"/>
            </a:solidFill>
            <a:prstDash val="solid"/>
            <a:round/>
            <a:headEnd len="sm" w="sm" type="none"/>
            <a:tailEnd len="med" w="med" type="triangle"/>
          </a:ln>
          <a:effectLst>
            <a:outerShdw blurRad="40000" rotWithShape="0" dir="5400000" dist="20000">
              <a:srgbClr val="000000">
                <a:alpha val="38039"/>
              </a:srgbClr>
            </a:outerShdw>
          </a:effectLst>
        </p:spPr>
      </p:cxnSp>
      <p:sp>
        <p:nvSpPr>
          <p:cNvPr id="159" name="Google Shape;159;p8"/>
          <p:cNvSpPr txBox="1"/>
          <p:nvPr/>
        </p:nvSpPr>
        <p:spPr>
          <a:xfrm>
            <a:off x="7635240" y="3044951"/>
            <a:ext cx="1645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notifica / consume</a:t>
            </a:r>
            <a:endParaRPr/>
          </a:p>
        </p:txBody>
      </p:sp>
      <p:sp>
        <p:nvSpPr>
          <p:cNvPr id="160" name="Google Shape;160;p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Nivel Context: el sistema es UNA caja (sin abrir por dentro). Actores a la izquierda, sistemas externos a la derecha. El interior se dibuja en Clase 4 (Containers).</a:t>
            </a:r>
            <a:endParaRPr/>
          </a:p>
        </p:txBody>
      </p:sp>
      <p:sp>
        <p:nvSpPr>
          <p:cNvPr id="161" name="Google Shape;161;p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9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9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9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 hoy</a:t>
            </a:r>
            <a:endParaRPr/>
          </a:p>
        </p:txBody>
      </p:sp>
      <p:sp>
        <p:nvSpPr>
          <p:cNvPr id="169" name="Google Shape;169;p9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Gratis · navegador o free tier · sin cuenta de pago</a:t>
            </a:r>
            <a:endParaRPr/>
          </a:p>
        </p:txBody>
      </p:sp>
      <p:sp>
        <p:nvSpPr>
          <p:cNvPr id="170" name="Google Shape;170;p9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adlet.png" id="173" name="Google Shape;173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9331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Padlet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Rompehielos</a:t>
            </a:r>
            <a:endParaRPr/>
          </a:p>
        </p:txBody>
      </p:sp>
      <p:sp>
        <p:nvSpPr>
          <p:cNvPr id="175" name="Google Shape;175;p9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9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calidraw.png" id="178" name="Google Shape;178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5485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9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Excalidraw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Boceto rapido</a:t>
            </a:r>
            <a:endParaRPr/>
          </a:p>
        </p:txBody>
      </p:sp>
      <p:sp>
        <p:nvSpPr>
          <p:cNvPr id="180" name="Google Shape;180;p9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9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rawio.png" id="183" name="Google Shape;183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311640" y="1847087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draw.io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C4 Context</a:t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2370277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2370277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2370277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mermaid.png" id="188" name="Google Shape;18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572408" y="4311396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9"/>
          <p:cNvSpPr txBox="1"/>
          <p:nvPr/>
        </p:nvSpPr>
        <p:spPr>
          <a:xfrm>
            <a:off x="2443429" y="5623560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Mermaid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Codigo del diagrama</a:t>
            </a:r>
            <a:endParaRPr/>
          </a:p>
        </p:txBody>
      </p:sp>
      <p:sp>
        <p:nvSpPr>
          <p:cNvPr id="190" name="Google Shape;190;p9"/>
          <p:cNvSpPr/>
          <p:nvPr/>
        </p:nvSpPr>
        <p:spPr>
          <a:xfrm>
            <a:off x="6196431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6196431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6196431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amlab.png" id="193" name="Google Shape;193;p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398562" y="4311396"/>
            <a:ext cx="1220724" cy="122072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9"/>
          <p:cNvSpPr txBox="1"/>
          <p:nvPr/>
        </p:nvSpPr>
        <p:spPr>
          <a:xfrm>
            <a:off x="6269583" y="5623560"/>
            <a:ext cx="3478682" cy="6217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Donde se entrega</a:t>
            </a:r>
            <a:endParaRPr/>
          </a:p>
        </p:txBody>
      </p:sp>
      <p:sp>
        <p:nvSpPr>
          <p:cNvPr id="195" name="Google Shape;195;p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 boceto a ExamLab (diagrama)</a:t>
            </a:r>
            <a:endParaRPr/>
          </a:p>
        </p:txBody>
      </p:sp>
      <p:sp>
        <p:nvSpPr>
          <p:cNvPr id="203" name="Google Shape;203;p10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El diagrama se entrega como código Mermaid dentro de ExamLab, no como imagen</a:t>
            </a:r>
            <a:endParaRPr/>
          </a:p>
        </p:txBody>
      </p:sp>
      <p:sp>
        <p:nvSpPr>
          <p:cNvPr id="204" name="Google Shape;204;p10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207" name="Google Shape;207;p10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Dise</a:t>
            </a:r>
            <a:r>
              <a:rPr b="1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ñ</a:t>
            </a: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a visual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Dibuja el diagrama como quieras en Excalidraw o draw.io: es mas rapido arrastrar cajas que escribir codigo, y ahi es donde piensas el modelo.</a:t>
            </a:r>
            <a:endParaRPr/>
          </a:p>
        </p:txBody>
      </p:sp>
      <p:sp>
        <p:nvSpPr>
          <p:cNvPr id="208" name="Google Shape;208;p10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211" name="Google Shape;211;p10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Traduce con IA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Copia o describe tu boceto a una IA y pidele el codigo Mermaid: «convierte este diagrama a Mermaid usando C4Context». Revisa el resultado: la IA acierta la sintaxis, no tu modelo.</a:t>
            </a:r>
            <a:endParaRPr/>
          </a:p>
        </p:txBody>
      </p:sp>
      <p:sp>
        <p:nvSpPr>
          <p:cNvPr id="212" name="Google Shape;212;p10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215" name="Google Shape;215;p10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Pega y renderiza en ExamLab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  <a:endParaRPr/>
          </a:p>
        </p:txBody>
      </p:sp>
      <p:sp>
        <p:nvSpPr>
          <p:cNvPr id="216" name="Google Shape;216;p10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fmla="val 12000" name="adj"/>
            </a:avLst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0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219" name="Google Shape;219;p1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Guarda el PNG para tu PI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Exporta tambien la imagen a la carpeta de tu Proyecto Integrador. Esa copia es para tu informe; no reemplaza la respuesta en la plataforma.</a:t>
            </a:r>
            <a:endParaRPr/>
          </a:p>
        </p:txBody>
      </p:sp>
      <p:sp>
        <p:nvSpPr>
          <p:cNvPr id="220" name="Google Shape;220;p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1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Taller PI (paso a paso)</a:t>
            </a:r>
            <a:endParaRPr/>
          </a:p>
        </p:txBody>
      </p:sp>
      <p:sp>
        <p:nvSpPr>
          <p:cNvPr id="228" name="Google Shape;228;p11"/>
          <p:cNvSpPr txBox="1"/>
          <p:nvPr/>
        </p:nvSpPr>
        <p:spPr>
          <a:xfrm>
            <a:off x="457200" y="1170432"/>
            <a:ext cx="11277300" cy="483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Paso 1: elija un dominio concreto entre AgendaU, BiblioLite, InventarioLab, TurnosClinica o EventosCampus (o uno propio del mismo tamano) y escriba el problema en exactamente 3 frases: quien sufre el problema, como se resuelve hoy sin CloudLite y una cifra medible del dolor (por ejemplo 40 correos por semana para cuadrar 12 asesorias), verificando que en ninguna de las 3 frases aparezca una expresion generica como app de la universidad o red social; el resultado queda en la seccion 1 Dominio y problema del informe del PI.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Paso 2: liste exactamente 4 capacidades con la forma verbo mas objeto de negocio (reservar cita, publicar cupo, cancelar reserva, notificar recordatorio), 3 actores humanos con lo que espera cada uno, 2 o 3 sistemas externos con los que CloudLite intercambia informacion (por ejemplo proveedor de identidad, correo transaccional o pasarela de pagos) y 3 elementos de fuera de alcance, verificando que ninguna capacidad nombre tecnologia (nada de usar PostgreSQL ni desplegar en Docker) y que las 4 capacidades se lean como frases del negocio; queda en la seccion 1 del informe y se pega tal cual en la pregunta 1 de ExamLab.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Paso 3: dibuje primero el boceto del C4 Context en Excalidraw o draw.io, que es donde se piensa el modelo, y despues pidale a una IA que lo traduzca a Mermaid («convierte este diagrama a Mermaid usando C4Context»); pegue ese codigo en la pregunta de tipo diagrama de ExamLab y verifique que renderice ahi mismo, con exactamente 1 System para CloudLite, 2 Person, 2 System_Ext y 5 relaciones etiquetadas con verbo de negocio y protocolo, verificando en el diagrama ya renderizado que no aparezca ninguna caja interna (ni base de datos ni API ni worker, eso es Clase 4) y que cada flecha se lea en voz alta como una frase completa.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Paso 4: resuelva la tabla comparativa de 4 filas nube frente a on-premise, cierre con el veredicto de 2 frases que sera la entrada del ADR-001 de la Clase 2, y suba a ExamLab (modulo Talleres) las 5 preguntas resueltas antes del domingo 23:59, verificando que la ficha, el diagrama renderizado y el veredicto usen exactamente los mismos nombres de actores y de sistemas externos.</a:t>
            </a:r>
            <a:endParaRPr/>
          </a:p>
        </p:txBody>
      </p:sp>
      <p:sp>
        <p:nvSpPr>
          <p:cNvPr id="229" name="Google Shape;229;p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 continuar (PI)</a:t>
            </a:r>
            <a:endParaRPr/>
          </a:p>
        </p:txBody>
      </p:sp>
      <p:sp>
        <p:nvSpPr>
          <p:cNvPr id="237" name="Google Shape;237;p12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2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2"/>
          <p:cNvSpPr txBox="1"/>
          <p:nvPr/>
        </p:nvSpPr>
        <p:spPr>
          <a:xfrm>
            <a:off x="777240" y="1399031"/>
            <a:ext cx="10774500" cy="6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Info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Entregable: Ficha PI de 6 bloques + C4 Context en Mermaid </a:t>
            </a:r>
            <a:r>
              <a:rPr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renderizado</a:t>
            </a:r>
            <a:r>
              <a:rPr b="0" i="0"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ExamLab (boceto previo en Excalidraw/draw.io)</a:t>
            </a:r>
            <a:endParaRPr/>
          </a:p>
        </p:txBody>
      </p:sp>
      <p:sp>
        <p:nvSpPr>
          <p:cNvPr id="240" name="Google Shape;240;p12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FF8E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2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2"/>
          <p:cNvSpPr txBox="1"/>
          <p:nvPr/>
        </p:nvSpPr>
        <p:spPr>
          <a:xfrm>
            <a:off x="777240" y="2615184"/>
            <a:ext cx="10774500" cy="57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FFD000"/>
                </a:solidFill>
                <a:latin typeface="Calibri"/>
                <a:ea typeface="Calibri"/>
                <a:cs typeface="Calibri"/>
                <a:sym typeface="Calibri"/>
              </a:rPr>
              <a:t>Aclaración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Subir evidencias al paquete CloudLite (Drive/repo) y a ExamLab (https://uniaj.examlab.workers.dev/) domingo 23:59.</a:t>
            </a:r>
            <a:endParaRPr sz="1600"/>
          </a:p>
        </p:txBody>
      </p:sp>
      <p:sp>
        <p:nvSpPr>
          <p:cNvPr id="243" name="Google Shape;243;p12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fmla="val 12000" name="adj"/>
            </a:avLst>
          </a:prstGeom>
          <a:solidFill>
            <a:srgbClr val="FBE4E4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2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2"/>
          <p:cNvSpPr txBox="1"/>
          <p:nvPr/>
        </p:nvSpPr>
        <p:spPr>
          <a:xfrm>
            <a:off x="777240" y="3831336"/>
            <a:ext cx="107745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>
                <a:solidFill>
                  <a:srgbClr val="A02030"/>
                </a:solidFill>
                <a:latin typeface="Calibri"/>
                <a:ea typeface="Calibri"/>
                <a:cs typeface="Calibri"/>
                <a:sym typeface="Calibri"/>
              </a:rPr>
              <a:t>Atención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Sin cloud de pago ni instalaciones obligatorias de</a:t>
            </a:r>
            <a:r>
              <a:rPr b="1" lang="en-US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hipervisores/Docker Desktop.</a:t>
            </a:r>
            <a:endParaRPr/>
          </a:p>
        </p:txBody>
      </p:sp>
      <p:sp>
        <p:nvSpPr>
          <p:cNvPr id="246" name="Google Shape;246;p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color.png" id="252" name="Google Shape;25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5998464"/>
            <a:ext cx="1463040" cy="643233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1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Clase 1 · PI en movimiento</a:t>
            </a:r>
            <a:endParaRPr/>
          </a:p>
        </p:txBody>
      </p:sp>
      <p:sp>
        <p:nvSpPr>
          <p:cNvPr id="254" name="Google Shape;254;p13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Definir dominio CloudLite App + 3–5 capacidades + problema en 2–3 frases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Evidencia: Ficha PI de 6 bloques + C4 Context en Mermaid renderizado en ExamLab (boceto previo en Excalidraw/draw.io)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Siguiente paso = siguiente hito del PI CloudLite</a:t>
            </a:r>
            <a:endParaRPr/>
          </a:p>
        </p:txBody>
      </p:sp>
      <p:sp>
        <p:nvSpPr>
          <p:cNvPr id="255" name="Google Shape;255;p13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Teoría al servicio del proyecto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