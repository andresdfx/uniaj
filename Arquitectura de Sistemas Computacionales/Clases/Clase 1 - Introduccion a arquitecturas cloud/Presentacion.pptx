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Introducción a arquitecturas cloud</a:t>
            </a:r>
          </a:p>
          <a:p>
            <a:pPr algn="ctr">
              <a:spcBef>
                <a:spcPts val="800"/>
              </a:spcBef>
            </a:pPr>
            <a:r>
              <a:rPr sz="1500" b="0" i="0">
                <a:solidFill>
                  <a:srgbClr val="269CCB"/>
                </a:solidFill>
                <a:latin typeface="Calibri"/>
              </a:rPr>
              <a:t>Diagnóstico · CloudLite App · primer boceto</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Definir dominio CloudLite App + 3–5 capacidades + problema en 2–3 frases</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0–10</a:t>
            </a:r>
            <a:r>
              <a:rPr sz="1600" b="0" i="0">
                <a:solidFill>
                  <a:srgbClr val="333333"/>
                </a:solidFill>
                <a:latin typeface="Calibri"/>
              </a:rPr>
              <a:t> Encuadre: hoy avanzamos el PI en… + entregable concreto.</a:t>
            </a:r>
          </a:p>
          <a:p>
            <a:pPr>
              <a:spcAft>
                <a:spcPts val="800"/>
              </a:spcAft>
            </a:pPr>
            <a:r>
              <a:rPr sz="1600" b="1" i="0">
                <a:solidFill>
                  <a:srgbClr val="333333"/>
                </a:solidFill>
                <a:latin typeface="Calibri"/>
              </a:rPr>
              <a:t>10–40</a:t>
            </a:r>
            <a:r>
              <a:rPr sz="1600" b="0" i="0">
                <a:solidFill>
                  <a:srgbClr val="333333"/>
                </a:solidFill>
                <a:latin typeface="Calibri"/>
              </a:rPr>
              <a:t> Teoría Core breve (solo lo necesario para el taller PI).</a:t>
            </a:r>
          </a:p>
          <a:p>
            <a:pPr>
              <a:spcAft>
                <a:spcPts val="800"/>
              </a:spcAft>
            </a:pPr>
            <a:r>
              <a:rPr sz="1600" b="0" i="0">
                <a:solidFill>
                  <a:srgbClr val="333333"/>
                </a:solidFill>
                <a:latin typeface="Calibri"/>
              </a:rPr>
              <a:t>–   </a:t>
            </a:r>
            <a:r>
              <a:rPr sz="1600" b="1" i="0">
                <a:solidFill>
                  <a:srgbClr val="333333"/>
                </a:solidFill>
                <a:latin typeface="Calibri"/>
              </a:rPr>
              <a:t>40–100</a:t>
            </a:r>
            <a:r>
              <a:rPr sz="1600" b="0" i="0">
                <a:solidFill>
                  <a:srgbClr val="333333"/>
                </a:solidFill>
                <a:latin typeface="Calibri"/>
              </a:rPr>
              <a:t> Taller guiado PI (demo en vivo + trabajo de equipo).</a:t>
            </a:r>
          </a:p>
          <a:p>
            <a:pPr>
              <a:spcAft>
                <a:spcPts val="800"/>
              </a:spcAft>
            </a:pPr>
            <a:r>
              <a:rPr sz="1600" b="1" i="0">
                <a:solidFill>
                  <a:srgbClr val="333333"/>
                </a:solidFill>
                <a:latin typeface="Calibri"/>
              </a:rPr>
              <a:t>100–115</a:t>
            </a:r>
            <a:r>
              <a:rPr sz="1600" b="0" i="0">
                <a:solidFill>
                  <a:srgbClr val="333333"/>
                </a:solidFill>
                <a:latin typeface="Calibri"/>
              </a:rPr>
              <a:t> Revisión de evidencias del PI.</a:t>
            </a:r>
          </a:p>
          <a:p>
            <a:pPr>
              <a:spcAft>
                <a:spcPts val="800"/>
              </a:spcAft>
            </a:pPr>
            <a:r>
              <a:rPr sz="1600" b="1" i="0">
                <a:solidFill>
                  <a:srgbClr val="333333"/>
                </a:solidFill>
                <a:latin typeface="Calibri"/>
              </a:rPr>
              <a:t>115–120</a:t>
            </a:r>
            <a:r>
              <a:rPr sz="1600" b="0" i="0">
                <a:solidFill>
                  <a:srgbClr val="333333"/>
                </a:solidFill>
                <a:latin typeface="Calibri"/>
              </a:rPr>
              <a:t> Cierre: criterio de éxito + plazo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Ubicar el curso como diseño de arquitecturas cloud al servicio del </a:t>
            </a:r>
            <a:r>
              <a:rPr sz="1600" b="1" i="0">
                <a:solidFill>
                  <a:srgbClr val="333333"/>
                </a:solidFill>
                <a:latin typeface="Calibri"/>
              </a:rPr>
              <a:t>PI CloudLite App</a:t>
            </a:r>
            <a:r>
              <a:rPr sz="1600" b="0" i="0">
                <a:solidFill>
                  <a:srgbClr val="333333"/>
                </a:solidFill>
                <a:latin typeface="Calibri"/>
              </a:rPr>
              <a:t>.</a:t>
            </a:r>
          </a:p>
          <a:p>
            <a:pPr>
              <a:spcAft>
                <a:spcPts val="800"/>
              </a:spcAft>
            </a:pPr>
            <a:r>
              <a:rPr sz="1600" b="0" i="0">
                <a:solidFill>
                  <a:srgbClr val="333333"/>
                </a:solidFill>
                <a:latin typeface="Calibri"/>
              </a:rPr>
              <a:t>–   Distinguir nube vs on-prem y los bloques de una arquitectura cloud simple.</a:t>
            </a:r>
          </a:p>
          <a:p>
            <a:pPr>
              <a:spcAft>
                <a:spcPts val="800"/>
              </a:spcAft>
            </a:pPr>
            <a:r>
              <a:rPr sz="1600" b="0" i="0">
                <a:solidFill>
                  <a:srgbClr val="333333"/>
                </a:solidFill>
                <a:latin typeface="Calibri"/>
              </a:rPr>
              <a:t>–   Dejar el </a:t>
            </a:r>
            <a:r>
              <a:rPr sz="1600" b="1" i="0">
                <a:solidFill>
                  <a:srgbClr val="333333"/>
                </a:solidFill>
                <a:latin typeface="Calibri"/>
              </a:rPr>
              <a:t>dominio y alcance</a:t>
            </a:r>
            <a:r>
              <a:rPr sz="1600" b="0" i="0">
                <a:solidFill>
                  <a:srgbClr val="333333"/>
                </a:solidFill>
                <a:latin typeface="Calibri"/>
              </a:rPr>
              <a:t> del PI escritos y compartibles.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Ficha PI: dominio, capacidades, actores y boceto C4 Context (Excalidraw/draw.io)</a:t>
            </a:r>
          </a:p>
          <a:p>
            <a:pPr>
              <a:spcAft>
                <a:spcPts val="800"/>
              </a:spcAft>
            </a:pPr>
            <a:r>
              <a:rPr sz="1600" b="0" i="0">
                <a:solidFill>
                  <a:srgbClr val="333333"/>
                </a:solidFill>
                <a:latin typeface="Calibri"/>
              </a:rPr>
              <a:t>–   Herramienta: </a:t>
            </a:r>
            <a:r>
              <a:rPr sz="1600" b="1" i="0">
                <a:solidFill>
                  <a:srgbClr val="333333"/>
                </a:solidFill>
                <a:latin typeface="Calibri"/>
              </a:rPr>
              <a:t>Padlet · Excalidraw / draw.io</a:t>
            </a:r>
          </a:p>
          <a:p>
            <a:pPr>
              <a:spcAft>
                <a:spcPts val="800"/>
              </a:spcAft>
            </a:pPr>
            <a:r>
              <a:rPr sz="1600" b="0" i="0">
                <a:solidFill>
                  <a:srgbClr val="333333"/>
                </a:solidFill>
                <a:latin typeface="Calibri"/>
              </a:rPr>
              <a:t>–   Todo lo que construyan hoy entra al </a:t>
            </a:r>
            <a:r>
              <a:rPr sz="1600" b="1" i="0">
                <a:solidFill>
                  <a:srgbClr val="333333"/>
                </a:solidFill>
                <a:latin typeface="Calibri"/>
              </a:rPr>
              <a:t>informe/repo del PI</a:t>
            </a:r>
            <a:r>
              <a:rPr sz="1600" b="0" i="0">
                <a:solidFill>
                  <a:srgbClr val="333333"/>
                </a:solidFill>
                <a:latin typeface="Calibri"/>
              </a:rPr>
              <a:t> (no es lab suelto).</a:t>
            </a:r>
          </a:p>
          <a:p>
            <a:pPr>
              <a:spcAft>
                <a:spcPts val="800"/>
              </a:spcAft>
            </a:pPr>
            <a:r>
              <a:rPr sz="1600" b="0" i="0">
                <a:solidFill>
                  <a:srgbClr val="333333"/>
                </a:solidFill>
                <a:latin typeface="Calibri"/>
              </a:rPr>
              <a:t>–   Equipos 2–3 · todos deben poder explicar el artefacto.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arquitectura cloud (mapa mental)</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Arquitectura</a:t>
            </a:r>
            <a:r>
              <a:rPr sz="1600" b="0" i="0">
                <a:solidFill>
                  <a:srgbClr val="333333"/>
                </a:solidFill>
                <a:latin typeface="Calibri"/>
              </a:rPr>
              <a:t> = componentes + relaciones + despliegue + calidad (seguridad, escala, costo).</a:t>
            </a:r>
          </a:p>
          <a:p>
            <a:pPr>
              <a:spcAft>
                <a:spcPts val="800"/>
              </a:spcAft>
            </a:pPr>
            <a:r>
              <a:rPr sz="1600" b="0" i="0">
                <a:solidFill>
                  <a:srgbClr val="333333"/>
                </a:solidFill>
                <a:latin typeface="Calibri"/>
              </a:rPr>
              <a:t>–   Cloud: recursos </a:t>
            </a:r>
            <a:r>
              <a:rPr sz="1600" b="1" i="0">
                <a:solidFill>
                  <a:srgbClr val="333333"/>
                </a:solidFill>
                <a:latin typeface="Calibri"/>
              </a:rPr>
              <a:t>bajo demanda</a:t>
            </a:r>
            <a:r>
              <a:rPr sz="1600" b="0" i="0">
                <a:solidFill>
                  <a:srgbClr val="333333"/>
                </a:solidFill>
                <a:latin typeface="Calibri"/>
              </a:rPr>
              <a:t>, multi-tenant, API/automatización.</a:t>
            </a:r>
          </a:p>
          <a:p>
            <a:pPr>
              <a:spcAft>
                <a:spcPts val="800"/>
              </a:spcAft>
            </a:pPr>
            <a:r>
              <a:rPr sz="1600" b="0" i="0">
                <a:solidFill>
                  <a:srgbClr val="333333"/>
                </a:solidFill>
                <a:latin typeface="Calibri"/>
              </a:rPr>
              <a:t>–   Para CloudLite App: no «comprar servidores»; </a:t>
            </a:r>
            <a:r>
              <a:rPr sz="1600" b="1" i="0">
                <a:solidFill>
                  <a:srgbClr val="333333"/>
                </a:solidFill>
                <a:latin typeface="Calibri"/>
              </a:rPr>
              <a:t>diseñar</a:t>
            </a:r>
            <a:r>
              <a:rPr sz="1600" b="0" i="0">
                <a:solidFill>
                  <a:srgbClr val="333333"/>
                </a:solidFill>
                <a:latin typeface="Calibri"/>
              </a:rPr>
              <a:t> capas y simular en labs gratis.</a:t>
            </a:r>
          </a:p>
          <a:p>
            <a:pPr>
              <a:spcAft>
                <a:spcPts val="800"/>
              </a:spcAft>
            </a:pPr>
            <a:r>
              <a:rPr sz="1600" b="0" i="0">
                <a:solidFill>
                  <a:srgbClr val="333333"/>
                </a:solidFill>
                <a:latin typeface="Calibri"/>
              </a:rPr>
              <a:t>–   Bloques tipicos: cliente → API → lógica → datos → observabilidad.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CloudLite App — el hilo conductor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Aplicación web/API de un dominio realista (citas, academia, inventario liviano…).</a:t>
            </a:r>
          </a:p>
          <a:p>
            <a:pPr>
              <a:spcAft>
                <a:spcPts val="800"/>
              </a:spcAft>
            </a:pPr>
            <a:r>
              <a:rPr sz="1600" b="0" i="0">
                <a:solidFill>
                  <a:srgbClr val="333333"/>
                </a:solidFill>
                <a:latin typeface="Calibri"/>
              </a:rPr>
              <a:t>–   Entregables del semestre: diagramas + contenedor (lab) + CI/CD conceptual + informe.</a:t>
            </a:r>
          </a:p>
          <a:p>
            <a:pPr>
              <a:spcAft>
                <a:spcPts val="800"/>
              </a:spcAft>
            </a:pPr>
            <a:r>
              <a:rPr sz="1600" b="0" i="0">
                <a:solidFill>
                  <a:srgbClr val="333333"/>
                </a:solidFill>
                <a:latin typeface="Calibri"/>
              </a:rPr>
              <a:t>–   Hoy solo: </a:t>
            </a:r>
            <a:r>
              <a:rPr sz="1600" b="1" i="0">
                <a:solidFill>
                  <a:srgbClr val="333333"/>
                </a:solidFill>
                <a:latin typeface="Calibri"/>
              </a:rPr>
              <a:t>problema + capacidades + boceto de contexto</a:t>
            </a:r>
            <a:r>
              <a:rPr sz="1600" b="0" i="0">
                <a:solidFill>
                  <a:srgbClr val="333333"/>
                </a:solidFill>
                <a:latin typeface="Calibri"/>
              </a:rPr>
              <a:t>.</a:t>
            </a:r>
          </a:p>
          <a:p>
            <a:pPr>
              <a:spcAft>
                <a:spcPts val="800"/>
              </a:spcAft>
            </a:pPr>
            <a:r>
              <a:rPr sz="1600" b="0" i="0">
                <a:solidFill>
                  <a:srgbClr val="333333"/>
                </a:solidFill>
                <a:latin typeface="Calibri"/>
              </a:rPr>
              <a:t>–   Sin AWS/GCP/Oracle: draw.io, Play with Docker, GitHub Actions.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dominio a arquitectura (mini-método)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1) Actor y problema. 2) Capacidades. 3) Contenedores lógicos. 4) Datos. 5) Riesgos.</a:t>
            </a:r>
          </a:p>
          <a:p>
            <a:pPr>
              <a:spcAft>
                <a:spcPts val="800"/>
              </a:spcAft>
            </a:pPr>
            <a:r>
              <a:rPr sz="1600" b="0" i="0">
                <a:solidFill>
                  <a:srgbClr val="333333"/>
                </a:solidFill>
                <a:latin typeface="Calibri"/>
              </a:rPr>
              <a:t>–   Ejemplo: *AgendaU* — estudiantes reservan tutoría; API + auth + agenda + notificaciones.</a:t>
            </a:r>
          </a:p>
          <a:p>
            <a:pPr>
              <a:spcAft>
                <a:spcPts val="800"/>
              </a:spcAft>
            </a:pPr>
            <a:r>
              <a:rPr sz="1600" b="0" i="0">
                <a:solidFill>
                  <a:srgbClr val="333333"/>
                </a:solidFill>
                <a:latin typeface="Calibri"/>
              </a:rPr>
              <a:t>–   Pregunta de diseño: ¿qué es </a:t>
            </a:r>
            <a:r>
              <a:rPr sz="1600" b="1" i="0">
                <a:solidFill>
                  <a:srgbClr val="333333"/>
                </a:solidFill>
                <a:latin typeface="Calibri"/>
              </a:rPr>
              <a:t>núcleo</a:t>
            </a:r>
            <a:r>
              <a:rPr sz="1600" b="0" i="0">
                <a:solidFill>
                  <a:srgbClr val="333333"/>
                </a:solidFill>
                <a:latin typeface="Calibri"/>
              </a:rPr>
              <a:t> vs satélite?</a:t>
            </a:r>
          </a:p>
          <a:p>
            <a:pPr>
              <a:spcAft>
                <a:spcPts val="800"/>
              </a:spcAft>
            </a:pPr>
            <a:r>
              <a:rPr sz="1600" b="0" i="0">
                <a:solidFill>
                  <a:srgbClr val="333333"/>
                </a:solidFill>
                <a:latin typeface="Calibri"/>
              </a:rPr>
              <a:t>–   Salida: diagrama C4 Context (sistema + actores externos).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C4 — nivel Context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Reemplacen actor / sistema / externo por su propio dominio CloudLite</a:t>
            </a:r>
          </a:p>
        </p:txBody>
      </p:sp>
      <p:sp>
        <p:nvSpPr>
          <p:cNvPr id="6" name="Rounded Rectangle 5"/>
          <p:cNvSpPr/>
          <p:nvPr/>
        </p:nvSpPr>
        <p:spPr>
          <a:xfrm>
            <a:off x="822960" y="2743200"/>
            <a:ext cx="2103120" cy="10972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Estudiante
(actor)</a:t>
            </a:r>
          </a:p>
        </p:txBody>
      </p:sp>
      <p:sp>
        <p:nvSpPr>
          <p:cNvPr id="7" name="Rounded Rectangle 6"/>
          <p:cNvSpPr/>
          <p:nvPr/>
        </p:nvSpPr>
        <p:spPr>
          <a:xfrm>
            <a:off x="4846320" y="2377440"/>
            <a:ext cx="2834640" cy="164592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CloudLite App
(el sistema = una sola caja)</a:t>
            </a:r>
          </a:p>
        </p:txBody>
      </p:sp>
      <p:sp>
        <p:nvSpPr>
          <p:cNvPr id="8" name="Rounded Rectangle 7"/>
          <p:cNvSpPr/>
          <p:nvPr/>
        </p:nvSpPr>
        <p:spPr>
          <a:xfrm>
            <a:off x="9235440" y="2743200"/>
            <a:ext cx="2286000" cy="10972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Sistema externo
(ej. correo, auth)</a:t>
            </a:r>
          </a:p>
        </p:txBody>
      </p:sp>
      <p:cxnSp>
        <p:nvCxnSpPr>
          <p:cNvPr id="9" name="Connector 8"/>
          <p:cNvCxnSpPr/>
          <p:nvPr/>
        </p:nvCxnSpPr>
        <p:spPr>
          <a:xfrm flipV="1">
            <a:off x="2926079" y="3200400"/>
            <a:ext cx="1920241" cy="9144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63240" y="3044951"/>
            <a:ext cx="1645920" cy="320040"/>
          </a:xfrm>
          <a:prstGeom prst="rect">
            <a:avLst/>
          </a:prstGeom>
          <a:noFill/>
        </p:spPr>
        <p:txBody>
          <a:bodyPr wrap="square">
            <a:spAutoFit/>
          </a:bodyPr>
          <a:lstStyle/>
          <a:p>
            <a:pPr algn="ctr"/>
            <a:r>
              <a:rPr sz="1000" b="0" i="1">
                <a:solidFill>
                  <a:srgbClr val="666666"/>
                </a:solidFill>
                <a:latin typeface="Calibri"/>
              </a:rPr>
              <a:t>usa</a:t>
            </a:r>
          </a:p>
        </p:txBody>
      </p:sp>
      <p:cxnSp>
        <p:nvCxnSpPr>
          <p:cNvPr id="11" name="Connector 10"/>
          <p:cNvCxnSpPr/>
          <p:nvPr/>
        </p:nvCxnSpPr>
        <p:spPr>
          <a:xfrm>
            <a:off x="7680960" y="3200400"/>
            <a:ext cx="1554480" cy="9144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635240" y="3044951"/>
            <a:ext cx="1645920" cy="320040"/>
          </a:xfrm>
          <a:prstGeom prst="rect">
            <a:avLst/>
          </a:prstGeom>
          <a:noFill/>
        </p:spPr>
        <p:txBody>
          <a:bodyPr wrap="square">
            <a:spAutoFit/>
          </a:bodyPr>
          <a:lstStyle/>
          <a:p>
            <a:pPr algn="ctr"/>
            <a:r>
              <a:rPr sz="1000" b="0" i="1">
                <a:solidFill>
                  <a:srgbClr val="666666"/>
                </a:solidFill>
                <a:latin typeface="Calibri"/>
              </a:rPr>
              <a:t>notifica / consume</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Nivel Context: el sistema es UNA caja (sin abrir por dentro). Actores a la izquierda, sistemas externos a la derecha. El interior se dibuja en Clase 4 (Containers).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1" i="0">
                <a:solidFill>
                  <a:srgbClr val="333333"/>
                </a:solidFill>
                <a:latin typeface="Calibri"/>
              </a:rPr>
              <a:t>1.</a:t>
            </a:r>
            <a:r>
              <a:rPr sz="1600" b="0" i="0">
                <a:solidFill>
                  <a:srgbClr val="333333"/>
                </a:solidFill>
                <a:latin typeface="Calibri"/>
              </a:rPr>
              <a:t> Paso 1: conforme el equipo de 2 o 3 integrantes y registre en la ficha del PI el nombre del equipo mas un rol unico por integrante (responsable de diagramas, responsable de informe, responsable de laboratorio), verificando que ningun integrante tenga dos roles y que el nombre del equipo quede escrito igual en la ficha y en la pregunta 1 del taller de ExamLab.</a:t>
            </a:r>
          </a:p>
          <a:p>
            <a:pPr>
              <a:spcAft>
                <a:spcPts val="800"/>
              </a:spcAft>
            </a:pPr>
            <a:r>
              <a:rPr sz="1600" b="0" i="0">
                <a:solidFill>
                  <a:srgbClr val="333333"/>
                </a:solidFill>
                <a:latin typeface="Calibri"/>
              </a:rPr>
              <a:t>–   </a:t>
            </a:r>
            <a:r>
              <a:rPr sz="1600" b="1" i="0">
                <a:solidFill>
                  <a:srgbClr val="333333"/>
                </a:solidFill>
                <a:latin typeface="Calibri"/>
              </a:rPr>
              <a:t>2.</a:t>
            </a:r>
            <a:r>
              <a:rPr sz="1600" b="0" i="0">
                <a:solidFill>
                  <a:srgbClr val="333333"/>
                </a:solidFill>
                <a:latin typeface="Calibri"/>
              </a:rPr>
              <a:t> Paso 2: elija un dominio concreto entre AgendaU, BiblioLite, InventarioLab, TurnosClinica o EventosCampus (o uno propio del mismo tamano) y escriba el problema en exactamente 3 frases: quien sufre el problema, como se resuelve hoy sin CloudLite y una cifra medible del dolor (por ejemplo 40 correos por semana para cuadrar 12 asesorias), verificando que en ninguna de las 3 frases aparezca una expresion generica como app de la universidad o red social; el resultado queda en la seccion 1 Dominio y problema del informe del PI.</a:t>
            </a:r>
          </a:p>
          <a:p>
            <a:pPr>
              <a:spcAft>
                <a:spcPts val="800"/>
              </a:spcAft>
            </a:pPr>
            <a:r>
              <a:rPr sz="1600" b="0" i="0">
                <a:solidFill>
                  <a:srgbClr val="333333"/>
                </a:solidFill>
                <a:latin typeface="Calibri"/>
              </a:rPr>
              <a:t>–   </a:t>
            </a:r>
            <a:r>
              <a:rPr sz="1600" b="1" i="0">
                <a:solidFill>
                  <a:srgbClr val="333333"/>
                </a:solidFill>
                <a:latin typeface="Calibri"/>
              </a:rPr>
              <a:t>3.</a:t>
            </a:r>
            <a:r>
              <a:rPr sz="1600" b="0" i="0">
                <a:solidFill>
                  <a:srgbClr val="333333"/>
                </a:solidFill>
                <a:latin typeface="Calibri"/>
              </a:rPr>
              <a:t> Paso 3: liste exactamente 4 capacidades con la forma verbo mas objeto de negocio (reservar cita, publicar cupo, cancelar reserva, notificar recordatorio), 3 actores humanos con lo que espera cada uno y 3 elementos de fuera de alcance, verificando que ninguna capacidad nombre tecnologia (nada de usar PostgreSQL ni desplegar en Docker) y que las 4 capacidades se lean como frases del negocio; queda en la seccion 1 del informe y se pega tal cual en la pregunta 1 de ExamLab.</a:t>
            </a:r>
          </a:p>
          <a:p>
            <a:pPr>
              <a:spcAft>
                <a:spcPts val="800"/>
              </a:spcAft>
            </a:pPr>
            <a:r>
              <a:rPr sz="1600" b="0" i="0">
                <a:solidFill>
                  <a:srgbClr val="333333"/>
                </a:solidFill>
                <a:latin typeface="Calibri"/>
              </a:rPr>
              <a:t>–   </a:t>
            </a:r>
            <a:r>
              <a:rPr sz="1600" b="1" i="0">
                <a:solidFill>
                  <a:srgbClr val="333333"/>
                </a:solidFill>
                <a:latin typeface="Calibri"/>
              </a:rPr>
              <a:t>4.</a:t>
            </a:r>
            <a:r>
              <a:rPr sz="1600" b="0" i="0">
                <a:solidFill>
                  <a:srgbClr val="333333"/>
                </a:solidFill>
                <a:latin typeface="Calibri"/>
              </a:rPr>
              <a:t> Paso 4: escriba en la pregunta de tipo diagrama de ExamLab el C4 Context en Mermaid con exactamente 1 System para CloudLite, 2 Person, 2 System_Ext y 5 relaciones etiquetadas con verbo de negocio y protocolo, verificando al renderizar dentro de la plataforma que no aparezca ninguna caja interna (ni base de datos ni API ni worker, eso es Clase 4) y que cada flecha se lea en voz alta como una frase completa.</a:t>
            </a:r>
          </a:p>
          <a:p>
            <a:pPr>
              <a:spcAft>
                <a:spcPts val="800"/>
              </a:spcAft>
            </a:pPr>
            <a:r>
              <a:rPr sz="1600" b="0" i="0">
                <a:solidFill>
                  <a:srgbClr val="333333"/>
                </a:solidFill>
                <a:latin typeface="Calibri"/>
              </a:rPr>
              <a:t>–   </a:t>
            </a:r>
            <a:r>
              <a:rPr sz="1600" b="1" i="0">
                <a:solidFill>
                  <a:srgbClr val="333333"/>
                </a:solidFill>
                <a:latin typeface="Calibri"/>
              </a:rPr>
              <a:t>5.</a:t>
            </a:r>
            <a:r>
              <a:rPr sz="1600" b="0" i="0">
                <a:solidFill>
                  <a:srgbClr val="333333"/>
                </a:solidFill>
                <a:latin typeface="Calibri"/>
              </a:rPr>
              <a:t> Paso 5: resuelva la tabla comparativa de 4 filas nube frente a on-premise, cierre con el veredicto de 2 frases que sera la entrada del ADR-001 de la Clase 2, y suba a ExamLab (modulo Talleres) las 5 preguntas resueltas antes del domingo 23:59, verificando que la ficha, el diagrama renderizado y el veredicto usen exactamente los mismos nombres de actores y de sistemas externos.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Ficha PI: dominio, capacidades, actores y boceto C4 Context (Excalidraw/draw.io)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ExamLab (https://examlab.lovable.app/) domingo 23:59.</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Definir dominio CloudLite App + 3–5 capacidades + problema en 2–3 frases</a:t>
            </a:r>
          </a:p>
          <a:p>
            <a:pPr algn="ctr">
              <a:spcAft>
                <a:spcPts val="600"/>
              </a:spcAft>
            </a:pPr>
            <a:r>
              <a:rPr sz="1600" b="0" i="0">
                <a:solidFill>
                  <a:srgbClr val="333333"/>
                </a:solidFill>
                <a:latin typeface="Calibri"/>
              </a:rPr>
              <a:t>Evidencia: Ficha PI: dominio, capacidades, actores y boceto C4 Context (Excalidraw/draw.io)</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