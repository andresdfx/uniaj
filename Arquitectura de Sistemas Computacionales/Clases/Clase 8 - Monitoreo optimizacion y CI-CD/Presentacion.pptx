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27432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43200"/>
            <a:ext cx="121916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uniajc_blanco.png"/>
          <p:cNvPicPr>
            <a:picLocks noChangeAspect="1"/>
          </p:cNvPicPr>
          <p:nvPr/>
        </p:nvPicPr>
        <p:blipFill>
          <a:blip r:embed="rId2"/>
          <a:stretch>
            <a:fillRect/>
          </a:stretch>
        </p:blipFill>
        <p:spPr>
          <a:xfrm>
            <a:off x="457200" y="274320"/>
            <a:ext cx="1828800" cy="797105"/>
          </a:xfrm>
          <a:prstGeom prst="rect">
            <a:avLst/>
          </a:prstGeom>
        </p:spPr>
      </p:pic>
      <p:sp>
        <p:nvSpPr>
          <p:cNvPr id="5" name="TextBox 4"/>
          <p:cNvSpPr txBox="1"/>
          <p:nvPr/>
        </p:nvSpPr>
        <p:spPr>
          <a:xfrm>
            <a:off x="10180015" y="320040"/>
            <a:ext cx="1645920" cy="365760"/>
          </a:xfrm>
          <a:prstGeom prst="rect">
            <a:avLst/>
          </a:prstGeom>
          <a:noFill/>
        </p:spPr>
        <p:txBody>
          <a:bodyPr wrap="square">
            <a:spAutoFit/>
          </a:bodyPr>
          <a:lstStyle/>
          <a:p>
            <a:pPr algn="r"/>
            <a:r>
              <a:rPr sz="1200" b="1" i="0">
                <a:solidFill>
                  <a:srgbClr val="269CCB"/>
                </a:solidFill>
                <a:latin typeface="Calibri"/>
              </a:rPr>
              <a:t>Clase 8</a:t>
            </a:r>
          </a:p>
        </p:txBody>
      </p:sp>
      <p:sp>
        <p:nvSpPr>
          <p:cNvPr id="6" name="TextBox 5"/>
          <p:cNvSpPr txBox="1"/>
          <p:nvPr/>
        </p:nvSpPr>
        <p:spPr>
          <a:xfrm>
            <a:off x="457200" y="914400"/>
            <a:ext cx="11277295" cy="1371600"/>
          </a:xfrm>
          <a:prstGeom prst="rect">
            <a:avLst/>
          </a:prstGeom>
          <a:noFill/>
        </p:spPr>
        <p:txBody>
          <a:bodyPr wrap="square" anchor="ctr"/>
          <a:lstStyle/>
          <a:p>
            <a:pPr algn="ctr"/>
            <a:r>
              <a:rPr sz="2800" b="1" i="0">
                <a:solidFill>
                  <a:srgbClr val="FFFFFF"/>
                </a:solidFill>
                <a:latin typeface="Calibri"/>
              </a:rPr>
              <a:t>Monitoreo y optimización · CI/CD</a:t>
            </a:r>
          </a:p>
          <a:p>
            <a:pPr algn="ctr">
              <a:spcBef>
                <a:spcPts val="800"/>
              </a:spcBef>
            </a:pPr>
            <a:r>
              <a:rPr sz="1500" b="0" i="0">
                <a:solidFill>
                  <a:srgbClr val="269CCB"/>
                </a:solidFill>
                <a:latin typeface="Calibri"/>
              </a:rPr>
              <a:t>GitHub Actions + plan de observabilidad</a:t>
            </a:r>
          </a:p>
        </p:txBody>
      </p:sp>
      <p:sp>
        <p:nvSpPr>
          <p:cNvPr id="7" name="TextBox 6"/>
          <p:cNvSpPr txBox="1"/>
          <p:nvPr/>
        </p:nvSpPr>
        <p:spPr>
          <a:xfrm>
            <a:off x="457200" y="3200400"/>
            <a:ext cx="11277295" cy="2560320"/>
          </a:xfrm>
          <a:prstGeom prst="rect">
            <a:avLst/>
          </a:prstGeom>
          <a:noFill/>
        </p:spPr>
        <p:txBody>
          <a:bodyPr wrap="square">
            <a:spAutoFit/>
          </a:bodyPr>
          <a:lstStyle/>
          <a:p>
            <a:pPr>
              <a:spcAft>
                <a:spcPts val="800"/>
              </a:spcAft>
            </a:pPr>
            <a:r>
              <a:rPr sz="1500" b="1" i="0">
                <a:solidFill>
                  <a:srgbClr val="333333"/>
                </a:solidFill>
                <a:latin typeface="Calibri"/>
              </a:rPr>
              <a:t>Hoy avanzamos el PI en:</a:t>
            </a:r>
            <a:r>
              <a:rPr sz="1500" b="0" i="0">
                <a:solidFill>
                  <a:srgbClr val="333333"/>
                </a:solidFill>
                <a:latin typeface="Calibri"/>
              </a:rPr>
              <a:t> Workflow Actions (build/test/simulate) + métricas de monitoreo del PI</a:t>
            </a:r>
          </a:p>
          <a:p>
            <a:pPr>
              <a:spcAft>
                <a:spcPts val="800"/>
              </a:spcAft>
            </a:pPr>
            <a:r>
              <a:rPr sz="1500" b="0" i="0">
                <a:solidFill>
                  <a:srgbClr val="333333"/>
                </a:solidFill>
                <a:latin typeface="Calibri"/>
              </a:rPr>
              <a:t>Bloque </a:t>
            </a:r>
            <a:r>
              <a:rPr sz="1500" b="1" i="0">
                <a:solidFill>
                  <a:srgbClr val="333333"/>
                </a:solidFill>
                <a:latin typeface="Calibri"/>
              </a:rPr>
              <a:t>120 min</a:t>
            </a:r>
            <a:r>
              <a:rPr sz="1500" b="0" i="0">
                <a:solidFill>
                  <a:srgbClr val="333333"/>
                </a:solidFill>
                <a:latin typeface="Calibri"/>
              </a:rPr>
              <a:t> · Teoría breve · Taller PI · cierre.</a:t>
            </a:r>
          </a:p>
          <a:p>
            <a:pPr>
              <a:spcAft>
                <a:spcPts val="800"/>
              </a:spcAft>
            </a:pPr>
            <a:r>
              <a:rPr sz="1500" b="0" i="0">
                <a:solidFill>
                  <a:srgbClr val="333333"/>
                </a:solidFill>
                <a:latin typeface="Calibri"/>
              </a:rPr>
              <a:t>Herramientas gratis + navegador · sin AWS/GCP/Oracle Cloud.</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Agenda de hoy (120 min)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0–10</a:t>
            </a:r>
            <a:r>
              <a:rPr sz="2000" b="0" i="0">
                <a:solidFill>
                  <a:srgbClr val="333333"/>
                </a:solidFill>
                <a:latin typeface="Calibri"/>
              </a:rPr>
              <a:t> Encuadre: hoy avanzamos el PI en… + entregable concreto.</a:t>
            </a:r>
          </a:p>
          <a:p>
            <a:pPr>
              <a:spcAft>
                <a:spcPts val="800"/>
              </a:spcAft>
            </a:pPr>
            <a:r>
              <a:rPr sz="2000" b="1" i="0">
                <a:solidFill>
                  <a:srgbClr val="333333"/>
                </a:solidFill>
                <a:latin typeface="Calibri"/>
              </a:rPr>
              <a:t>10–40</a:t>
            </a:r>
            <a:r>
              <a:rPr sz="2000" b="0" i="0">
                <a:solidFill>
                  <a:srgbClr val="333333"/>
                </a:solidFill>
                <a:latin typeface="Calibri"/>
              </a:rPr>
              <a:t> Teoría Core breve (solo lo necesario para el taller PI).</a:t>
            </a:r>
          </a:p>
          <a:p>
            <a:pPr>
              <a:spcAft>
                <a:spcPts val="800"/>
              </a:spcAft>
            </a:pPr>
            <a:r>
              <a:rPr sz="2000" b="0" i="0">
                <a:solidFill>
                  <a:srgbClr val="333333"/>
                </a:solidFill>
                <a:latin typeface="Calibri"/>
              </a:rPr>
              <a:t>–   </a:t>
            </a:r>
            <a:r>
              <a:rPr sz="2000" b="1" i="0">
                <a:solidFill>
                  <a:srgbClr val="333333"/>
                </a:solidFill>
                <a:latin typeface="Calibri"/>
              </a:rPr>
              <a:t>40–100</a:t>
            </a:r>
            <a:r>
              <a:rPr sz="2000" b="0" i="0">
                <a:solidFill>
                  <a:srgbClr val="333333"/>
                </a:solidFill>
                <a:latin typeface="Calibri"/>
              </a:rPr>
              <a:t> Trabajo guiado del PI (demo en vivo + avance individual).</a:t>
            </a:r>
          </a:p>
          <a:p>
            <a:pPr>
              <a:spcAft>
                <a:spcPts val="800"/>
              </a:spcAft>
            </a:pPr>
            <a:r>
              <a:rPr sz="2000" b="1" i="0">
                <a:solidFill>
                  <a:srgbClr val="333333"/>
                </a:solidFill>
                <a:latin typeface="Calibri"/>
              </a:rPr>
              <a:t>100–115</a:t>
            </a:r>
            <a:r>
              <a:rPr sz="2000" b="0" i="0">
                <a:solidFill>
                  <a:srgbClr val="333333"/>
                </a:solidFill>
                <a:latin typeface="Calibri"/>
              </a:rPr>
              <a:t> Revisión de evidencias del PI.</a:t>
            </a:r>
          </a:p>
          <a:p>
            <a:pPr>
              <a:spcAft>
                <a:spcPts val="800"/>
              </a:spcAft>
            </a:pPr>
            <a:r>
              <a:rPr sz="2000" b="1" i="0">
                <a:solidFill>
                  <a:srgbClr val="333333"/>
                </a:solidFill>
                <a:latin typeface="Calibri"/>
              </a:rPr>
              <a:t>115–120</a:t>
            </a:r>
            <a:r>
              <a:rPr sz="2000" b="0" i="0">
                <a:solidFill>
                  <a:srgbClr val="333333"/>
                </a:solidFill>
                <a:latin typeface="Calibri"/>
              </a:rPr>
              <a:t> Cierre: criterio de éxito + plazo en la fecha que indique el docente.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Objetivos de la clase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Explicar pipeline CI vs CD y qué es realista sin cloud de pago.</a:t>
            </a:r>
          </a:p>
          <a:p>
            <a:pPr>
              <a:spcAft>
                <a:spcPts val="800"/>
              </a:spcAft>
            </a:pPr>
            <a:r>
              <a:rPr sz="2000" b="0" i="0">
                <a:solidFill>
                  <a:srgbClr val="333333"/>
                </a:solidFill>
                <a:latin typeface="Calibri"/>
              </a:rPr>
              <a:t>–   Crear un workflow Actions que construya/pruebe un stub.</a:t>
            </a:r>
          </a:p>
          <a:p>
            <a:pPr>
              <a:spcAft>
                <a:spcPts val="800"/>
              </a:spcAft>
            </a:pPr>
            <a:r>
              <a:rPr sz="2000" b="0" i="0">
                <a:solidFill>
                  <a:srgbClr val="333333"/>
                </a:solidFill>
                <a:latin typeface="Calibri"/>
              </a:rPr>
              <a:t>–   Definir 4–6 señales de monitoreo para CloudLite.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CI/CD sin tarjeta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CI: build + test en cada push. CD: deploy — aquí </a:t>
            </a:r>
            <a:r>
              <a:rPr sz="2000" b="1" i="0">
                <a:solidFill>
                  <a:srgbClr val="333333"/>
                </a:solidFill>
                <a:latin typeface="Calibri"/>
              </a:rPr>
              <a:t>simulado</a:t>
            </a:r>
            <a:r>
              <a:rPr sz="2000" b="0" i="0">
                <a:solidFill>
                  <a:srgbClr val="333333"/>
                </a:solidFill>
                <a:latin typeface="Calibri"/>
              </a:rPr>
              <a:t> (echo/artifact).</a:t>
            </a:r>
          </a:p>
          <a:p>
            <a:pPr>
              <a:spcAft>
                <a:spcPts val="800"/>
              </a:spcAft>
            </a:pPr>
            <a:r>
              <a:rPr sz="2000" b="0" i="0">
                <a:solidFill>
                  <a:srgbClr val="333333"/>
                </a:solidFill>
                <a:latin typeface="Calibri"/>
              </a:rPr>
              <a:t>–   GitHub Actions free: runners hosted; YAML en «.github/workflows/».</a:t>
            </a:r>
          </a:p>
          <a:p>
            <a:pPr>
              <a:spcAft>
                <a:spcPts val="800"/>
              </a:spcAft>
            </a:pPr>
            <a:r>
              <a:rPr sz="2000" b="0" i="0">
                <a:solidFill>
                  <a:srgbClr val="333333"/>
                </a:solidFill>
                <a:latin typeface="Calibri"/>
              </a:rPr>
              <a:t>–   </a:t>
            </a:r>
            <a:r>
              <a:rPr sz="2000" b="1" i="0">
                <a:solidFill>
                  <a:srgbClr val="333333"/>
                </a:solidFill>
                <a:latin typeface="Calibri"/>
              </a:rPr>
              <a:t>«Ya tenemos CD» porque el YAML tiene un paso «deploy» resta puntos.</a:t>
            </a:r>
            <a:r>
              <a:rPr sz="2000" b="0" i="0">
                <a:solidFill>
                  <a:srgbClr val="333333"/>
                </a:solidFill>
                <a:latin typeface="Calibri"/>
              </a:rPr>
              <a:t> Aquí llega a «listo para desplegar».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YAML mínimo</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Tres bloques que se califican: </a:t>
            </a:r>
            <a:r>
              <a:rPr sz="2000" b="1" i="0">
                <a:solidFill>
                  <a:srgbClr val="333333"/>
                </a:solidFill>
                <a:latin typeface="Calibri"/>
              </a:rPr>
              <a:t>disparadores</a:t>
            </a:r>
            <a:r>
              <a:rPr sz="2000" b="0" i="0">
                <a:solidFill>
                  <a:srgbClr val="333333"/>
                </a:solidFill>
                <a:latin typeface="Calibri"/>
              </a:rPr>
              <a:t> («on») · </a:t>
            </a:r>
            <a:r>
              <a:rPr sz="2000" b="1" i="0">
                <a:solidFill>
                  <a:srgbClr val="333333"/>
                </a:solidFill>
                <a:latin typeface="Calibri"/>
              </a:rPr>
              <a:t>entorno</a:t>
            </a:r>
            <a:r>
              <a:rPr sz="2000" b="0" i="0">
                <a:solidFill>
                  <a:srgbClr val="333333"/>
                </a:solidFill>
                <a:latin typeface="Calibri"/>
              </a:rPr>
              <a:t> («runs-on») · </a:t>
            </a:r>
            <a:r>
              <a:rPr sz="2000" b="1" i="0">
                <a:solidFill>
                  <a:srgbClr val="333333"/>
                </a:solidFill>
                <a:latin typeface="Calibri"/>
              </a:rPr>
              <a:t>pasos</a:t>
            </a:r>
            <a:r>
              <a:rPr sz="2000" b="0" i="0">
                <a:solidFill>
                  <a:srgbClr val="333333"/>
                </a:solidFill>
                <a:latin typeface="Calibri"/>
              </a:rPr>
              <a:t>.</a:t>
            </a:r>
          </a:p>
          <a:p>
            <a:pPr>
              <a:spcAft>
                <a:spcPts val="800"/>
              </a:spcAft>
            </a:pPr>
            <a:r>
              <a:rPr sz="2000" b="0" i="0">
                <a:solidFill>
                  <a:srgbClr val="333333"/>
                </a:solidFill>
                <a:latin typeface="Calibri"/>
              </a:rPr>
              <a:t>–   Los pasos, en este orden: </a:t>
            </a:r>
            <a:r>
              <a:rPr sz="2000" b="1" i="0">
                <a:solidFill>
                  <a:srgbClr val="333333"/>
                </a:solidFill>
                <a:latin typeface="Calibri"/>
              </a:rPr>
              <a:t>construcción</a:t>
            </a:r>
            <a:r>
              <a:rPr sz="2000" b="0" i="0">
                <a:solidFill>
                  <a:srgbClr val="333333"/>
                </a:solidFill>
                <a:latin typeface="Calibri"/>
              </a:rPr>
              <a:t> → </a:t>
            </a:r>
            <a:r>
              <a:rPr sz="2000" b="1" i="0">
                <a:solidFill>
                  <a:srgbClr val="333333"/>
                </a:solidFill>
                <a:latin typeface="Calibri"/>
              </a:rPr>
              <a:t>prueba</a:t>
            </a:r>
            <a:r>
              <a:rPr sz="2000" b="0" i="0">
                <a:solidFill>
                  <a:srgbClr val="333333"/>
                </a:solidFill>
                <a:latin typeface="Calibri"/>
              </a:rPr>
              <a:t> → </a:t>
            </a:r>
            <a:r>
              <a:rPr sz="2000" b="1" i="0">
                <a:solidFill>
                  <a:srgbClr val="333333"/>
                </a:solidFill>
                <a:latin typeface="Calibri"/>
              </a:rPr>
              <a:t>despliegue simulado</a:t>
            </a:r>
            <a:r>
              <a:rPr sz="2000" b="0" i="0">
                <a:solidFill>
                  <a:srgbClr val="333333"/>
                </a:solidFill>
                <a:latin typeface="Calibri"/>
              </a:rPr>
              <a:t>.</a:t>
            </a:r>
          </a:p>
          <a:p>
            <a:pPr>
              <a:spcAft>
                <a:spcPts val="800"/>
              </a:spcAft>
            </a:pPr>
            <a:r>
              <a:rPr sz="2000" b="0" i="0">
                <a:solidFill>
                  <a:srgbClr val="333333"/>
                </a:solidFill>
                <a:latin typeface="Calibri"/>
              </a:rPr>
              <a:t>–   Secrets solo vía Settings; nunca en el YAML en claro (</a:t>
            </a:r>
            <a:r>
              <a:rPr sz="2000" b="1" i="0">
                <a:solidFill>
                  <a:srgbClr val="333333"/>
                </a:solidFill>
                <a:latin typeface="Calibri"/>
              </a:rPr>
              <a:t>cero en la pregunta si aparece uno</a:t>
            </a:r>
            <a:r>
              <a:rPr sz="2000" b="0" i="0">
                <a:solidFill>
                  <a:srgbClr val="333333"/>
                </a:solidFill>
                <a:latin typeface="Calibri"/>
              </a:rPr>
              <a:t>).</a:t>
            </a:r>
          </a:p>
          <a:p>
            <a:pPr>
              <a:spcAft>
                <a:spcPts val="800"/>
              </a:spcAft>
            </a:pPr>
            <a:r>
              <a:rPr sz="2000" b="0" i="0">
                <a:solidFill>
                  <a:srgbClr val="333333"/>
                </a:solidFill>
                <a:latin typeface="Calibri"/>
              </a:rPr>
              <a:t>–   </a:t>
            </a:r>
            <a:r>
              <a:rPr sz="2000" b="1" i="0">
                <a:solidFill>
                  <a:srgbClr val="333333"/>
                </a:solidFill>
                <a:latin typeface="Calibri"/>
              </a:rPr>
              <a:t>Un CI que solo imprime «OK» no es CI:</a:t>
            </a:r>
            <a:r>
              <a:rPr sz="2000" b="0" i="0">
                <a:solidFill>
                  <a:srgbClr val="333333"/>
                </a:solidFill>
                <a:latin typeface="Calibri"/>
              </a:rPr>
              <a:t> tienes que poder decir qué error lo pondría rojo.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Monitoreo y optimización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Golden signals-lite: latencia, tráfico, errores, saturación.</a:t>
            </a:r>
          </a:p>
          <a:p>
            <a:pPr>
              <a:spcAft>
                <a:spcPts val="800"/>
              </a:spcAft>
            </a:pPr>
            <a:r>
              <a:rPr sz="2000" b="0" i="0">
                <a:solidFill>
                  <a:srgbClr val="333333"/>
                </a:solidFill>
                <a:latin typeface="Calibri"/>
              </a:rPr>
              <a:t>–   </a:t>
            </a:r>
            <a:r>
              <a:rPr sz="2000" b="1" i="0">
                <a:solidFill>
                  <a:srgbClr val="333333"/>
                </a:solidFill>
                <a:latin typeface="Calibri"/>
              </a:rPr>
              <a:t>Cada señal va con su umbral</a:t>
            </a:r>
            <a:r>
              <a:rPr sz="2000" b="0" i="0">
                <a:solidFill>
                  <a:srgbClr val="333333"/>
                </a:solidFill>
                <a:latin typeface="Calibri"/>
              </a:rPr>
              <a:t>: «medimos la latencia» no permite decidir nada.</a:t>
            </a:r>
          </a:p>
          <a:p>
            <a:pPr>
              <a:spcAft>
                <a:spcPts val="800"/>
              </a:spcAft>
            </a:pPr>
            <a:r>
              <a:rPr sz="2000" b="0" i="0">
                <a:solidFill>
                  <a:srgbClr val="333333"/>
                </a:solidFill>
                <a:latin typeface="Calibri"/>
              </a:rPr>
              <a:t>–   Al menos una debe ser un </a:t>
            </a:r>
            <a:r>
              <a:rPr sz="2000" b="1" i="0">
                <a:solidFill>
                  <a:srgbClr val="333333"/>
                </a:solidFill>
                <a:latin typeface="Calibri"/>
              </a:rPr>
              <a:t>registro</a:t>
            </a:r>
            <a:r>
              <a:rPr sz="2000" b="0" i="0">
                <a:solidFill>
                  <a:srgbClr val="333333"/>
                </a:solidFill>
                <a:latin typeface="Calibri"/>
              </a:rPr>
              <a:t> (log), no una métrica numérica.</a:t>
            </a:r>
          </a:p>
          <a:p>
            <a:pPr>
              <a:spcAft>
                <a:spcPts val="800"/>
              </a:spcAft>
            </a:pPr>
            <a:r>
              <a:rPr sz="2000" b="0" i="0">
                <a:solidFill>
                  <a:srgbClr val="333333"/>
                </a:solidFill>
                <a:latin typeface="Calibri"/>
              </a:rPr>
              <a:t>–   Optimización: caché conceptual, paginación, límites de rate (anotar en informe).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Integracion continua: el problema que resuelve, en definicion operativa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Esta clase junta dos temas que parecen distintos y son el mismo asunto en dos momentos: automatizar la verificacion antes de que un cambio llegue a los usuarios, y observar el sistema despues de que llego.</a:t>
            </a:r>
          </a:p>
          <a:p>
            <a:pPr>
              <a:spcAft>
                <a:spcPts val="800"/>
              </a:spcAft>
            </a:pPr>
            <a:r>
              <a:rPr sz="2000" b="0" i="0">
                <a:solidFill>
                  <a:srgbClr val="333333"/>
                </a:solidFill>
                <a:latin typeface="Calibri"/>
              </a:rPr>
              <a:t>–   El problema que resuelve la integracion continua tiene nombre historico, infierno de integracion: varios desarrolladores trabajan semanas por separado y al juntar el codigo aparecen conflictos y fallas que nadie sabe de donde vienen.</a:t>
            </a:r>
          </a:p>
          <a:p>
            <a:pPr>
              <a:spcAft>
                <a:spcPts val="800"/>
              </a:spcAft>
            </a:pPr>
            <a:r>
              <a:rPr sz="2000" b="0" i="0">
                <a:solidFill>
                  <a:srgbClr val="333333"/>
                </a:solidFill>
                <a:latin typeface="Calibri"/>
              </a:rPr>
              <a:t>–   Su version cotidiana en un equipo de estudiantes es la frase «en mi maquina funciona».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Integracion continua: el problema que resuelve, en definicion operativa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Integracion continua, definida operativamente, es esto: cada vez que alguien sube un cambio al repositorio, un servidor automatico toma el codigo en un entorno limpio, lo construye, le corre las pruebas y avisa en minutos si algo se rompio.</a:t>
            </a:r>
          </a:p>
          <a:p>
            <a:pPr>
              <a:spcAft>
                <a:spcPts val="800"/>
              </a:spcAft>
            </a:pPr>
            <a:r>
              <a:rPr sz="2000" b="0" i="0">
                <a:solidFill>
                  <a:srgbClr val="333333"/>
                </a:solidFill>
                <a:latin typeface="Calibri"/>
              </a:rPr>
              <a:t>–   El valor no esta en la automatizacion sino en el intervalo de retroalimentacion: encontrar el error tres minutos despues de escribirlo, cuando el autor recuerda que hizo, cuesta una fraccion de hallarlo tres semanas despues en el computador de otra persona.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Entrega continua y despliegue continuo: la sigla CD es ambigua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sigla CD es ambigua y ahi esta la confusion que hay que desarmar en el primer minuto.</a:t>
            </a:r>
          </a:p>
          <a:p>
            <a:pPr>
              <a:spcAft>
                <a:spcPts val="800"/>
              </a:spcAft>
            </a:pPr>
            <a:r>
              <a:rPr sz="2000" b="0" i="0">
                <a:solidFill>
                  <a:srgbClr val="333333"/>
                </a:solidFill>
                <a:latin typeface="Calibri"/>
              </a:rPr>
              <a:t>–   Despliegue continuo significa que ese ultimo paso tambien es automatico y el cambio llega a produccion sin intervencion.</a:t>
            </a:r>
          </a:p>
          <a:p>
            <a:pPr>
              <a:spcAft>
                <a:spcPts val="800"/>
              </a:spcAft>
            </a:pPr>
            <a:r>
              <a:rPr sz="2000" b="0" i="0">
                <a:solidFill>
                  <a:srgbClr val="333333"/>
                </a:solidFill>
                <a:latin typeface="Calibri"/>
              </a:rPr>
              <a:t>–   Las dos comparten la sigla CD, no son lo mismo, y ninguna es sinonimo de integracion continua: CI valida, CD entrega o despliega.</a:t>
            </a:r>
          </a:p>
          <a:p>
            <a:pPr>
              <a:spcAft>
                <a:spcPts val="800"/>
              </a:spcAft>
            </a:pPr>
            <a:r>
              <a:rPr sz="2000" b="0" i="0">
                <a:solidFill>
                  <a:srgbClr val="333333"/>
                </a:solidFill>
                <a:latin typeface="Calibri"/>
              </a:rPr>
              <a:t>–   Se puede tener CI sin nada de CD, y es lo que se construye hoy porque el curso no usa infraestructura de pago ni pide tarjeta de credito.</a:t>
            </a:r>
          </a:p>
          <a:p>
            <a:pPr>
              <a:spcAft>
                <a:spcPts val="800"/>
              </a:spcAft>
            </a:pPr>
            <a:r>
              <a:rPr sz="2000" b="0" i="0">
                <a:solidFill>
                  <a:srgbClr val="333333"/>
                </a:solidFill>
                <a:latin typeface="Calibri"/>
              </a:rPr>
              <a:t>–   Y hay que anunciar como se califica esa frontera, porque es contraintuitivo para el estudiante que cree que reconocer un limite es admitir una carencia: la pregunta 9 SUMA un punto por ubicar correctamente el propio trabajo y decir que llega hasta «listo para desplegar», y DESCUENTA la mitad de la pregunta a quien afirme haber construido CD.</a:t>
            </a:r>
          </a:p>
          <a:p>
            <a:pPr>
              <a:spcAft>
                <a:spcPts val="800"/>
              </a:spcAft>
            </a:pPr>
            <a:r>
              <a:rPr sz="2000" b="0" i="0">
                <a:solidFill>
                  <a:srgbClr val="333333"/>
                </a:solidFill>
                <a:latin typeface="Calibri"/>
              </a:rPr>
              <a:t>–   La forma tipica del error es tener un paso llamado deploy que solo imprime un mensaje y concluir que ya hay despliegue continuo; el nombre del paso no despliega nada.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GitHub Actions en cinco palabras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GitHub Actions es la herramienta del dia porque es gratis, corre en el navegador y produce evidencia verificable.</a:t>
            </a:r>
          </a:p>
          <a:p>
            <a:pPr>
              <a:spcAft>
                <a:spcPts val="800"/>
              </a:spcAft>
            </a:pPr>
            <a:r>
              <a:rPr sz="2000" b="0" i="0">
                <a:solidFill>
                  <a:srgbClr val="333333"/>
                </a:solidFill>
                <a:latin typeface="Calibri"/>
              </a:rPr>
              <a:t>–   Un workflow es un archivo YAML en la carpeta.github/workflows; el nombre es libre y ci.yml es la convencion.</a:t>
            </a:r>
          </a:p>
          <a:p>
            <a:pPr>
              <a:spcAft>
                <a:spcPts val="800"/>
              </a:spcAft>
            </a:pPr>
            <a:r>
              <a:rPr sz="2000" b="0" i="0">
                <a:solidFill>
                  <a:srgbClr val="333333"/>
                </a:solidFill>
                <a:latin typeface="Calibri"/>
              </a:rPr>
              <a:t>–   El evento o disparador declara cuando corre: on push para cada subida, on pull_request para cada propuesta de cambio, workflow_dispatch para un boton manual, schedule para una hora fija.</a:t>
            </a:r>
          </a:p>
          <a:p>
            <a:pPr>
              <a:spcAft>
                <a:spcPts val="800"/>
              </a:spcAft>
            </a:pPr>
            <a:r>
              <a:rPr sz="2000" b="0" i="0">
                <a:solidFill>
                  <a:srgbClr val="333333"/>
                </a:solidFill>
                <a:latin typeface="Calibri"/>
              </a:rPr>
              <a:t>–   Un job es un conjunto de pasos que corre en un runner, una maquina virtual limpia que se crea para esa ejecucion y se destruye al terminar.</a:t>
            </a:r>
          </a:p>
          <a:p>
            <a:pPr>
              <a:spcAft>
                <a:spcPts val="800"/>
              </a:spcAft>
            </a:pPr>
            <a:r>
              <a:rPr sz="2000" b="0" i="0">
                <a:solidFill>
                  <a:srgbClr val="333333"/>
                </a:solidFill>
                <a:latin typeface="Calibri"/>
              </a:rPr>
              <a:t>–   Un step es un comando o el uso de una action, unidad reutilizable publicada por otros.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GitHub Actions en cinco palabras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Que el runner sea limpio y efimero es el punto pedagogico central: demuestra que la construccion no depende de nada instalado a mano en el portatil de nadie.</a:t>
            </a:r>
          </a:p>
          <a:p>
            <a:pPr>
              <a:spcAft>
                <a:spcPts val="800"/>
              </a:spcAft>
            </a:pPr>
            <a:r>
              <a:rPr sz="2000" b="0" i="0">
                <a:solidFill>
                  <a:srgbClr val="333333"/>
                </a:solidFill>
                <a:latin typeface="Calibri"/>
              </a:rPr>
              <a:t>–   Advertencias: el YAML se indenta con espacios y nunca con tabulaciones, causa numero uno de un pipeline que no arranca</a:t>
            </a:r>
          </a:p>
          <a:p>
            <a:pPr>
              <a:spcAft>
                <a:spcPts val="800"/>
              </a:spcAft>
            </a:pPr>
            <a:r>
              <a:rPr sz="2000" b="0" i="0">
                <a:solidFill>
                  <a:srgbClr val="333333"/>
                </a:solidFill>
                <a:latin typeface="Calibri"/>
              </a:rPr>
              <a:t>–   Y en el nivel gratuito los repositorios publicos tienen minutos ilimitados mientras los privados tienen una cuota del orden de 2000 minutos al mes, cifra que conviene confirmar en la pagina de facturacion porque el proveedor la cambia.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Los tres bloques que la pregunta 7 califica, y el orden de los pasos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pregunta 7 no pide «un workflow»: pide tres bloques nombrados y tres pasos en orden, y el reparto de sus 10 puntos hay que dictarlo tal cual porque decide como se estudia.</a:t>
            </a:r>
          </a:p>
          <a:p>
            <a:pPr>
              <a:spcAft>
                <a:spcPts val="800"/>
              </a:spcAft>
            </a:pPr>
            <a:r>
              <a:rPr sz="2000" b="0" i="0">
                <a:solidFill>
                  <a:srgbClr val="333333"/>
                </a:solidFill>
                <a:latin typeface="Calibri"/>
              </a:rPr>
              <a:t>–   Dos puntos son los DISPARADORES, es decir la clave on, y basta con on push y pull_request bien escritos.</a:t>
            </a:r>
          </a:p>
          <a:p>
            <a:pPr>
              <a:spcAft>
                <a:spcPts val="800"/>
              </a:spcAft>
            </a:pPr>
            <a:r>
              <a:rPr sz="2000" b="0" i="0">
                <a:solidFill>
                  <a:srgbClr val="333333"/>
                </a:solidFill>
                <a:latin typeface="Calibri"/>
              </a:rPr>
              <a:t>–   Un punto y medio es el ENTORNO de ejecucion, la clave runs-on, tipicamente ubuntu-latest; es el bloque que el estudiante omite mas y el mas facil de recuperar.</a:t>
            </a:r>
          </a:p>
          <a:p>
            <a:pPr>
              <a:spcAft>
                <a:spcPts val="800"/>
              </a:spcAft>
            </a:pPr>
            <a:r>
              <a:rPr sz="2000" b="0" i="0">
                <a:solidFill>
                  <a:srgbClr val="333333"/>
                </a:solidFill>
                <a:latin typeface="Calibri"/>
              </a:rPr>
              <a:t>–   Cuatro puntos, casi la mitad, son los tres PASOS presentes y en ORDEN: construccion, prueba y despliegue simulado.</a:t>
            </a:r>
          </a:p>
          <a:p>
            <a:pPr>
              <a:spcAft>
                <a:spcPts val="800"/>
              </a:spcAft>
            </a:pPr>
            <a:r>
              <a:rPr sz="2000" b="0" i="0">
                <a:solidFill>
                  <a:srgbClr val="333333"/>
                </a:solidFill>
                <a:latin typeface="Calibri"/>
              </a:rPr>
              <a:t>–   El orden no es capricho ni estetica: probar antes de construir no prueba el artefacto que se va a entregar, y desplegar antes de probar es exactamente lo que la integracion continua existe para impedir.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Los tres bloques que la pregunta 7 califica, y el orden de los pasos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 punto y medio adicional es que el paso de despliegue este ROTULADO como simulado y no prometa un despliegue real; con escribir «Despliegue SIMULADO (no despliega a ningun servidor)» en el nombre del paso se cumple.</a:t>
            </a:r>
          </a:p>
          <a:p>
            <a:pPr>
              <a:spcAft>
                <a:spcPts val="800"/>
              </a:spcAft>
            </a:pPr>
            <a:r>
              <a:rPr sz="2000" b="0" i="0">
                <a:solidFill>
                  <a:srgbClr val="333333"/>
                </a:solidFill>
                <a:latin typeface="Calibri"/>
              </a:rPr>
              <a:t>–   Y un punto es la coherencia con el Dockerfile del Corte 1: la misma imagen y el mismo puerto, es decir cloudlite-api con su etiqueta 0.1.0 y el 8080 del EXPOSE de la Clase 3.</a:t>
            </a:r>
          </a:p>
          <a:p>
            <a:pPr>
              <a:spcAft>
                <a:spcPts val="800"/>
              </a:spcAft>
            </a:pPr>
            <a:r>
              <a:rPr sz="2000" b="0" i="0">
                <a:solidFill>
                  <a:srgbClr val="333333"/>
                </a:solidFill>
                <a:latin typeface="Calibri"/>
              </a:rPr>
              <a:t>–   Falta la sancion, que conviene anunciar dos veces: la pregunta vale CERO completa si aparece un secreto escrito en claro dentro del YAML, sin importar lo bien que este el resto.</a:t>
            </a:r>
          </a:p>
          <a:p>
            <a:pPr>
              <a:spcAft>
                <a:spcPts val="800"/>
              </a:spcAft>
            </a:pPr>
            <a:r>
              <a:rPr sz="2000" b="0" i="0">
                <a:solidFill>
                  <a:srgbClr val="333333"/>
                </a:solidFill>
                <a:latin typeface="Calibri"/>
              </a:rPr>
              <a:t>–   Es la misma politica que el estudiante escribio en la pregunta 3 del Corte 2, y esta es la clase donde se comprueba si la cumple.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Monitorear y observar: la segunda mitad cambia de lado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segunda mitad de la clase cambia de lado: ya no se trata de validar antes, sino de saber que pasa despues.</a:t>
            </a:r>
          </a:p>
          <a:p>
            <a:pPr>
              <a:spcAft>
                <a:spcPts val="800"/>
              </a:spcAft>
            </a:pPr>
            <a:r>
              <a:rPr sz="2000" b="0" i="0">
                <a:solidFill>
                  <a:srgbClr val="333333"/>
                </a:solidFill>
                <a:latin typeface="Calibri"/>
              </a:rPr>
              <a:t>–   Monitorear es vigilar indicadores decididos de antemano; observabilidad es la capacidad de responder preguntas nuevas sobre el sistema a partir de lo que el sistema emite, sin agregar codigo por cada duda.</a:t>
            </a:r>
          </a:p>
          <a:p>
            <a:pPr>
              <a:spcAft>
                <a:spcPts val="800"/>
              </a:spcAft>
            </a:pPr>
            <a:r>
              <a:rPr sz="2000" b="0" i="0">
                <a:solidFill>
                  <a:srgbClr val="333333"/>
                </a:solidFill>
                <a:latin typeface="Calibri"/>
              </a:rPr>
              <a:t>–   Las metricas son numeros medidos en el tiempo, baratas porque se agregan, y detectan que algo cambio.</a:t>
            </a:r>
          </a:p>
          <a:p>
            <a:pPr>
              <a:spcAft>
                <a:spcPts val="800"/>
              </a:spcAft>
            </a:pPr>
            <a:r>
              <a:rPr sz="2000" b="0" i="0">
                <a:solidFill>
                  <a:srgbClr val="333333"/>
                </a:solidFill>
                <a:latin typeface="Calibri"/>
              </a:rPr>
              <a:t>–   Los logs, o registros, son eventos discretos con contexto, caros en volumen, y explican por que cambio.</a:t>
            </a:r>
          </a:p>
          <a:p>
            <a:pPr>
              <a:spcAft>
                <a:spcPts val="800"/>
              </a:spcAft>
            </a:pPr>
            <a:r>
              <a:rPr sz="2000" b="0" i="0">
                <a:solidFill>
                  <a:srgbClr val="333333"/>
                </a:solidFill>
                <a:latin typeface="Calibri"/>
              </a:rPr>
              <a:t>–   Las trazas siguen el recorrido de una sola peticion por varios servicios y son necesarias porque la Clase 4 convirtio el sistema en distribuido: cuando la peticion pasa por la API y por el servicio de notificaciones, saber cual de los dos tardo es imposible con metricas agregadas.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Monitorear y observar: la segunda mitad cambia de lado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distincion entre metrica y registro no es teorica hoy: la pregunta 10 da un punto por que al menos una de las senales listadas sea un REGISTRO y no una metrica numerica, es decir algo que se escribe para poder reconstruir que paso despues.</a:t>
            </a:r>
          </a:p>
          <a:p>
            <a:pPr>
              <a:spcAft>
                <a:spcPts val="800"/>
              </a:spcAft>
            </a:pPr>
            <a:r>
              <a:rPr sz="2000" b="0" i="0">
                <a:solidFill>
                  <a:srgbClr val="333333"/>
                </a:solidFill>
                <a:latin typeface="Calibri"/>
              </a:rPr>
              <a:t>–   La practica minima documentable es el log estructurado: cada linea es un objeto con campos fijos como fecha, nivel, identificador de peticion, ruta, codigo de estado y duracion en milisegundos.</a:t>
            </a:r>
          </a:p>
          <a:p>
            <a:pPr>
              <a:spcAft>
                <a:spcPts val="800"/>
              </a:spcAft>
            </a:pPr>
            <a:r>
              <a:rPr sz="2000" b="0" i="0">
                <a:solidFill>
                  <a:srgbClr val="333333"/>
                </a:solidFill>
                <a:latin typeface="Calibri"/>
              </a:rPr>
              <a:t>–   Con ese identificador propagado entre servicios se reconstruye el recorrido: una traza pobre, pero real.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Las cuatro senales de oro, con definicion operativa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Las cuatro senales de oro son latencia, trafico, errores y saturacion, y cada una necesita definicion operativa.</a:t>
            </a:r>
          </a:p>
          <a:p>
            <a:pPr>
              <a:spcAft>
                <a:spcPts val="800"/>
              </a:spcAft>
            </a:pPr>
            <a:r>
              <a:rPr sz="2000" b="0" i="0">
                <a:solidFill>
                  <a:srgbClr val="333333"/>
                </a:solidFill>
                <a:latin typeface="Calibri"/>
              </a:rPr>
              <a:t>–   Trafico es cuanta demanda llega, en peticiones por segundo o por minuto.</a:t>
            </a:r>
          </a:p>
          <a:p>
            <a:pPr>
              <a:spcAft>
                <a:spcPts val="800"/>
              </a:spcAft>
            </a:pPr>
            <a:r>
              <a:rPr sz="2000" b="0" i="0">
                <a:solidFill>
                  <a:srgbClr val="333333"/>
                </a:solidFill>
                <a:latin typeface="Calibri"/>
              </a:rPr>
              <a:t>–   Saturacion es que tan cerca esta el recurso mas escaso de su limite: CPU, memoria, disco o, en la mayoria de las APIs reales, las conexiones libres del pool de la base de datos</a:t>
            </a:r>
          </a:p>
          <a:p>
            <a:pPr>
              <a:spcAft>
                <a:spcPts val="800"/>
              </a:spcAft>
            </a:pPr>
            <a:r>
              <a:rPr sz="2000" b="0" i="0">
                <a:solidFill>
                  <a:srgbClr val="333333"/>
                </a:solidFill>
                <a:latin typeface="Calibri"/>
              </a:rPr>
              <a:t>–   La convencion es alertar cuando un recurso pasa del 70 u 80 por ciento sostenido, y es convencion, no ley.</a:t>
            </a:r>
          </a:p>
          <a:p>
            <a:pPr>
              <a:spcAft>
                <a:spcPts val="800"/>
              </a:spcAft>
            </a:pPr>
            <a:r>
              <a:rPr sz="2000" b="0" i="0">
                <a:solidFill>
                  <a:srgbClr val="333333"/>
                </a:solidFill>
                <a:latin typeface="Calibri"/>
              </a:rPr>
              <a:t>–   Latencia merece explicacion aparte porque introduce el percentil, el valor por debajo del cual cae un porcentaje dado de las mediciones: si el p95 de la API es 300 milisegundos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Las cuatro senales de oro, con definicion operativa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95 de cada 100 peticiones respondieron en 300 milisegundos o menos y 5 tardaron mas.</a:t>
            </a:r>
          </a:p>
          <a:p>
            <a:pPr>
              <a:spcAft>
                <a:spcPts val="800"/>
              </a:spcAft>
            </a:pPr>
            <a:r>
              <a:rPr sz="2000" b="0" i="0">
                <a:solidFill>
                  <a:srgbClr val="333333"/>
                </a:solidFill>
                <a:latin typeface="Calibri"/>
              </a:rPr>
              <a:t>–   Es mas honesto que el promedio, y el ejemplo lo prueba: 99 peticiones de 50 milisegundos y una de 5 segundos dan un promedio de 99 milisegundos, que parece excelente, mientras el p99 es 5 segundos y corresponde a un usuario mirando una pantalla congelada.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tabla de senales de la pregunta 10, con sus tres columnas exactas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entregable de la segunda mitad es una tabla de entre 4 y 6 filas, y el formato que califica la pregunta 10 tiene TRES columnas cuyos nombres hay que dictar: «Senal», «Que se mide en MI dominio» y «Umbral u objetivo».</a:t>
            </a:r>
          </a:p>
          <a:p>
            <a:pPr>
              <a:spcAft>
                <a:spcPts val="800"/>
              </a:spcAft>
            </a:pPr>
            <a:r>
              <a:rPr sz="2000" b="0" i="0">
                <a:solidFill>
                  <a:srgbClr val="333333"/>
                </a:solidFill>
                <a:latin typeface="Calibri"/>
              </a:rPr>
              <a:t>–   El reparto de sus 6 puntos es un punto por senal bien formada con su umbral hasta la cuarta, hasta un punto adicional entre las senales quinta y sexta, y un punto por que al menos una sea un registro.</a:t>
            </a:r>
          </a:p>
          <a:p>
            <a:pPr>
              <a:spcAft>
                <a:spcPts val="800"/>
              </a:spcAft>
            </a:pPr>
            <a:r>
              <a:rPr sz="2000" b="0" i="0">
                <a:solidFill>
                  <a:srgbClr val="333333"/>
                </a:solidFill>
                <a:latin typeface="Calibri"/>
              </a:rPr>
              <a:t>–   La regla que decide la mitad de la nota se dice en una frase: una senal sin umbral NO SUMA, aunque este bien elegida.</a:t>
            </a:r>
          </a:p>
          <a:p>
            <a:pPr>
              <a:spcAft>
                <a:spcPts val="800"/>
              </a:spcAft>
            </a:pPr>
            <a:r>
              <a:rPr sz="2000" b="0" i="0">
                <a:solidFill>
                  <a:srgbClr val="333333"/>
                </a:solidFill>
                <a:latin typeface="Calibri"/>
              </a:rPr>
              <a:t>–   «el listado de disponibilidad debe responder en menos de 400 milisegundos y si pasa de 800 se revisa» si, porque define cuando hay que actuar.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tabla de senales de la pregunta 10, con sus tres columnas exactas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umbral puede ser discutible, y hay que decir que se acepta discutible: lo que no puede es faltar.</a:t>
            </a:r>
          </a:p>
          <a:p>
            <a:pPr>
              <a:spcAft>
                <a:spcPts val="800"/>
              </a:spcAft>
            </a:pPr>
            <a:r>
              <a:rPr sz="2000" b="0" i="0">
                <a:solidFill>
                  <a:srgbClr val="333333"/>
                </a:solidFill>
                <a:latin typeface="Calibri"/>
              </a:rPr>
              <a:t>–   La segunda columna tambien se califica: se descuenta si las senales no se refieren a operaciones del dominio propio, asi que «el sistema» no es una respuesta y «el listado de disponibilidad de canchas» o «el registro de una reserva» si.</a:t>
            </a:r>
          </a:p>
          <a:p>
            <a:pPr>
              <a:spcAft>
                <a:spcPts val="800"/>
              </a:spcAft>
            </a:pPr>
            <a:r>
              <a:rPr sz="2000" b="0" i="0">
                <a:solidFill>
                  <a:srgbClr val="333333"/>
                </a:solidFill>
                <a:latin typeface="Calibri"/>
              </a:rPr>
              <a:t>–   Falta una advertencia de formato: en clase vale la pena preguntar siempre que se HACE cuando se cruza el umbral, porque es lo que convierte una lista de metricas en un plan de operacion</a:t>
            </a:r>
          </a:p>
          <a:p>
            <a:pPr>
              <a:spcAft>
                <a:spcPts val="800"/>
              </a:spcAft>
            </a:pPr>
            <a:r>
              <a:rPr sz="2000" b="0" i="0">
                <a:solidFill>
                  <a:srgbClr val="333333"/>
                </a:solidFill>
                <a:latin typeface="Calibri"/>
              </a:rPr>
              <a:t>–   Pero ese «que se hace» NO es una cuarta columna de la respuesta; se escribe dentro del umbral, como en el ejemplo del listado.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pipeline del stub de CloudLite, paso por paso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ejemplo concreto es el pipeline del stub de CloudLite, que ya existe desde la Clase 3 como Dockerfile y contenedor, y la diapositiva del ci.yml es el molde que se puede copiar.</a:t>
            </a:r>
          </a:p>
          <a:p>
            <a:pPr>
              <a:spcAft>
                <a:spcPts val="800"/>
              </a:spcAft>
            </a:pPr>
            <a:r>
              <a:rPr sz="2000" b="0" i="0">
                <a:solidFill>
                  <a:srgbClr val="333333"/>
                </a:solidFill>
                <a:latin typeface="Calibri"/>
              </a:rPr>
              <a:t>–   Un job corre en ubuntu-latest y hace, en este orden: descargar el codigo con la action de checkout, instalar el runtime con la action de setup del lenguaje</a:t>
            </a:r>
          </a:p>
          <a:p>
            <a:pPr>
              <a:spcAft>
                <a:spcPts val="800"/>
              </a:spcAft>
            </a:pPr>
            <a:r>
              <a:rPr sz="2000" b="0" i="0">
                <a:solidFill>
                  <a:srgbClr val="333333"/>
                </a:solidFill>
                <a:latin typeface="Calibri"/>
              </a:rPr>
              <a:t>–   Un paso Construir que instala dependencias y ejecuta docker build con la imagen etiquetada, un paso Probar que corre las pruebas</a:t>
            </a:r>
          </a:p>
          <a:p>
            <a:pPr>
              <a:spcAft>
                <a:spcPts val="800"/>
              </a:spcAft>
            </a:pPr>
            <a:r>
              <a:rPr sz="2000" b="0" i="0">
                <a:solidFill>
                  <a:srgbClr val="333333"/>
                </a:solidFill>
                <a:latin typeface="Calibri"/>
              </a:rPr>
              <a:t>–   Y un paso final rotulado como despliegue simulado que imprime la etiqueta de version y publica un artefacto, un archivo que queda guardado junto a la corrida.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pipeline del stub de CloudLite, paso por paso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Que docker build forme parte de la construccion tiene un valor extra que conviene senalar: comprueba en cada cambio que el Dockerfile sigue siendo valido, que es una de las cosas que se rompen en silencio.</a:t>
            </a:r>
          </a:p>
          <a:p>
            <a:pPr>
              <a:spcAft>
                <a:spcPts val="800"/>
              </a:spcAft>
            </a:pPr>
            <a:r>
              <a:rPr sz="2000" b="0" i="0">
                <a:solidFill>
                  <a:srgbClr val="333333"/>
                </a:solidFill>
                <a:latin typeface="Calibri"/>
              </a:rPr>
              <a:t>–   La evidencia del entregable es doble: el archivo ci.yml en el repositorio y la captura de una corrida en verde con los nombres de los pasos visibles</a:t>
            </a:r>
          </a:p>
          <a:p>
            <a:pPr>
              <a:spcAft>
                <a:spcPts val="800"/>
              </a:spcAft>
            </a:pPr>
            <a:r>
              <a:rPr sz="2000" b="0" i="0">
                <a:solidFill>
                  <a:srgbClr val="333333"/>
                </a:solidFill>
                <a:latin typeface="Calibri"/>
              </a:rPr>
              <a:t>–   Si Actions falla por cuota o por red se acepta el YAML con la explicacion paso por paso, pero eso es plan B y hay que decir que lo es.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condicion de fallo: la pregunta que separa un CI de una decoracion verde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pregunta 8 vale 5 puntos y no pregunta por CI en general: pregunta por el ci.yml del estudiante, en tres campos.</a:t>
            </a:r>
          </a:p>
          <a:p>
            <a:pPr>
              <a:spcAft>
                <a:spcPts val="800"/>
              </a:spcAft>
            </a:pPr>
            <a:r>
              <a:rPr sz="2000" b="0" i="0">
                <a:solidFill>
                  <a:srgbClr val="333333"/>
                </a:solidFill>
                <a:latin typeface="Calibri"/>
              </a:rPr>
              <a:t>–   Y dos puntos, el corazon de la pregunta, con que condicion el pipeline debe FALLAR.</a:t>
            </a:r>
          </a:p>
          <a:p>
            <a:pPr>
              <a:spcAft>
                <a:spcPts val="800"/>
              </a:spcAft>
            </a:pPr>
            <a:r>
              <a:rPr sz="2000" b="0" i="0">
                <a:solidFill>
                  <a:srgbClr val="333333"/>
                </a:solidFill>
                <a:latin typeface="Calibri"/>
              </a:rPr>
              <a:t>–   Ese ultimo campo vale CERO si el pipeline no puede fallar nunca, y hay que explicar por que no es una crueldad de la rubrica: un workflow cuyo unico paso imprime un mensaje de exito siempre sale verde</a:t>
            </a:r>
          </a:p>
          <a:p>
            <a:pPr>
              <a:spcAft>
                <a:spcPts val="800"/>
              </a:spcAft>
            </a:pPr>
            <a:r>
              <a:rPr sz="2000" b="0" i="0">
                <a:solidFill>
                  <a:srgbClr val="333333"/>
                </a:solidFill>
                <a:latin typeface="Calibri"/>
              </a:rPr>
              <a:t>–   Y un check que siempre sale verde no aporta ninguna informacion; es una decoracion.</a:t>
            </a:r>
          </a:p>
          <a:p>
            <a:pPr>
              <a:spcAft>
                <a:spcPts val="800"/>
              </a:spcAft>
            </a:pPr>
            <a:r>
              <a:rPr sz="2000" b="0" i="0">
                <a:solidFill>
                  <a:srgbClr val="333333"/>
                </a:solidFill>
                <a:latin typeface="Calibri"/>
              </a:rPr>
              <a:t>–   Aqui es donde aparece la pregunta previsible del grupo, y hay que salir a su encuentro: para que escribir pruebas de un stub que casi no hace nada.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Donde se ejecuta de verdad la politica de secretos de la Clase 6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pipeline es tambien donde se ejecuta de verdad la politica de secretos escrita en la Clase 6.</a:t>
            </a:r>
          </a:p>
          <a:p>
            <a:pPr>
              <a:spcAft>
                <a:spcPts val="800"/>
              </a:spcAft>
            </a:pPr>
            <a:r>
              <a:rPr sz="2000" b="0" i="0">
                <a:solidFill>
                  <a:srgbClr val="333333"/>
                </a:solidFill>
                <a:latin typeface="Calibri"/>
              </a:rPr>
              <a:t>–   La plataforma enmascara los secretos en el registro de salida, pero enmascarar no es impedir la fuga: si un paso imprime el valor transformado, por ejemplo codificado, sale en claro; la regla es no imprimir secretos nunca.</a:t>
            </a:r>
          </a:p>
          <a:p>
            <a:pPr>
              <a:spcAft>
                <a:spcPts val="800"/>
              </a:spcAft>
            </a:pPr>
            <a:r>
              <a:rPr sz="2000" b="0" i="0">
                <a:solidFill>
                  <a:srgbClr val="333333"/>
                </a:solidFill>
                <a:latin typeface="Calibri"/>
              </a:rPr>
              <a:t>–   Y por diseno los secretos no se entregan a las corridas disparadas por un pull_request que viene de un fork, para que un extrano no pueda proponer un cambio que los imprima.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Donde se ejecuta de verdad la politica de secretos de la Clase 6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consecuencia practica es que la validacion de un cambio externo no puede depender de credenciales, y por eso las pruebas del stub deben correr sin acceso a servicios reales, con valores ficticios o un doble simulado.</a:t>
            </a:r>
          </a:p>
          <a:p>
            <a:pPr>
              <a:spcAft>
                <a:spcPts val="800"/>
              </a:spcAft>
            </a:pPr>
            <a:r>
              <a:rPr sz="2000" b="0" i="0">
                <a:solidFill>
                  <a:srgbClr val="333333"/>
                </a:solidFill>
                <a:latin typeface="Calibri"/>
              </a:rPr>
              <a:t>–   Y el recordatorio de calificacion: un secreto en claro en el YAML no descuenta, anula la pregunta 7 entera.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Preguntas frecuentes del grupo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«Si no tenemos usuarios reales, que monitoreamos?» El entregable es el plan, no los datos: la pregunta pide que senales observaria en una produccion hipotetica, con sus umbrales.</a:t>
            </a:r>
          </a:p>
          <a:p>
            <a:pPr>
              <a:spcAft>
                <a:spcPts val="800"/>
              </a:spcAft>
            </a:pPr>
            <a:r>
              <a:rPr sz="2000" b="0" i="0">
                <a:solidFill>
                  <a:srgbClr val="333333"/>
                </a:solidFill>
                <a:latin typeface="Calibri"/>
              </a:rPr>
              <a:t>–   Y algo si es real: el chequeo de salud que consulta el balanceador de la Clase 7 ya es monitoreo, y el check de Actions ya es una senal de que el sistema construye.</a:t>
            </a:r>
          </a:p>
          <a:p>
            <a:pPr>
              <a:spcAft>
                <a:spcPts val="800"/>
              </a:spcAft>
            </a:pPr>
            <a:r>
              <a:rPr sz="2000" b="0" i="0">
                <a:solidFill>
                  <a:srgbClr val="333333"/>
                </a:solidFill>
                <a:latin typeface="Calibri"/>
              </a:rPr>
              <a:t>–   «De donde saco los umbrales si nunca he medido?» De tres fuentes legitimas, y conviene nombrarlas: una convencion del oficio citada como tal, por ejemplo 300 milisegundos de p95 o el 80 por ciento de saturacion</a:t>
            </a:r>
          </a:p>
          <a:p>
            <a:pPr>
              <a:spcAft>
                <a:spcPts val="800"/>
              </a:spcAft>
            </a:pPr>
            <a:r>
              <a:rPr sz="2000" b="0" i="0">
                <a:solidFill>
                  <a:srgbClr val="333333"/>
                </a:solidFill>
                <a:latin typeface="Calibri"/>
              </a:rPr>
              <a:t>–   Una expectativa del usuario redactada en el dominio, por ejemplo que una reserva no tarde mas de dos segundos; o una aritmetica de servilleta a partir del escenario de carga, que es justamente lo que se formaliza en la Clase 12.</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Preguntas frecuentes del grupo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«Mi proyecto no tiene pruebas automatizadas, que pongo en el paso Probar?» Una prueba, aunque sea una: que el proceso arranca y que /health responde 200.</a:t>
            </a:r>
          </a:p>
          <a:p>
            <a:pPr>
              <a:spcAft>
                <a:spcPts val="800"/>
              </a:spcAft>
            </a:pPr>
            <a:r>
              <a:rPr sz="2000" b="0" i="0">
                <a:solidFill>
                  <a:srgbClr val="333333"/>
                </a:solidFill>
                <a:latin typeface="Calibri"/>
              </a:rPr>
              <a:t>–   Es preferible una prueba real y pequena a tres pruebas inventadas que no se ejecutan, porque la pregunta 8 evalua si el pipeline puede fallar.</a:t>
            </a:r>
          </a:p>
          <a:p>
            <a:pPr>
              <a:spcAft>
                <a:spcPts val="800"/>
              </a:spcAft>
            </a:pPr>
            <a:r>
              <a:rPr sz="2000" b="0" i="0">
                <a:solidFill>
                  <a:srgbClr val="333333"/>
                </a:solidFill>
                <a:latin typeface="Calibri"/>
              </a:rPr>
              <a:t>–   «Puedo poner solo metricas numericas?» No sin perder un punto: al menos una senal tiene que ser un registro.</a:t>
            </a:r>
          </a:p>
          <a:p>
            <a:pPr>
              <a:spcAft>
                <a:spcPts val="800"/>
              </a:spcAft>
            </a:pPr>
            <a:r>
              <a:rPr sz="2000" b="0" i="0">
                <a:solidFill>
                  <a:srgbClr val="333333"/>
                </a:solidFill>
                <a:latin typeface="Calibri"/>
              </a:rPr>
              <a:t>–   La mas facil de justificar es el log de los rechazos de negocio del propio dominio, que ademas es la unica forma de contestar despues por que se rechazo una operacion concreta.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workflow de CI: el archivo completo</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5181447" cy="4453128"/>
          </a:xfrm>
          <a:prstGeom prst="rect">
            <a:avLst/>
          </a:prstGeom>
          <a:noFill/>
        </p:spPr>
        <p:txBody>
          <a:bodyPr wrap="square">
            <a:spAutoFit/>
          </a:bodyPr>
          <a:lstStyle/>
          <a:p>
            <a:pPr>
              <a:spcAft>
                <a:spcPts val="400"/>
              </a:spcAft>
            </a:pPr>
            <a:r>
              <a:rPr sz="1400" b="0" i="0">
                <a:solidFill>
                  <a:srgbClr val="FFFFFF"/>
                </a:solidFill>
                <a:latin typeface="Calibri"/>
              </a:rPr>
              <a:t># .github/workflows/ci.yml</a:t>
            </a:r>
          </a:p>
          <a:p>
            <a:pPr>
              <a:spcAft>
                <a:spcPts val="400"/>
              </a:spcAft>
            </a:pPr>
            <a:r>
              <a:rPr sz="1400" b="0" i="0">
                <a:solidFill>
                  <a:srgbClr val="FFFFFF"/>
                </a:solidFill>
                <a:latin typeface="Calibri"/>
              </a:rPr>
              <a:t>name: CI</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on:</a:t>
            </a:r>
          </a:p>
          <a:p>
            <a:pPr>
              <a:spcAft>
                <a:spcPts val="400"/>
              </a:spcAft>
            </a:pPr>
            <a:r>
              <a:rPr sz="1400" b="0" i="0">
                <a:solidFill>
                  <a:srgbClr val="FFFFFF"/>
                </a:solidFill>
                <a:latin typeface="Calibri"/>
              </a:rPr>
              <a:t>  push:</a:t>
            </a:r>
          </a:p>
          <a:p>
            <a:pPr>
              <a:spcAft>
                <a:spcPts val="400"/>
              </a:spcAft>
            </a:pPr>
            <a:r>
              <a:rPr sz="1400" b="0" i="0">
                <a:solidFill>
                  <a:srgbClr val="FFFFFF"/>
                </a:solidFill>
                <a:latin typeface="Calibri"/>
              </a:rPr>
              <a:t>    branches: [main]</a:t>
            </a:r>
          </a:p>
          <a:p>
            <a:pPr>
              <a:spcAft>
                <a:spcPts val="400"/>
              </a:spcAft>
            </a:pPr>
            <a:r>
              <a:rPr sz="1400" b="0" i="0">
                <a:solidFill>
                  <a:srgbClr val="FFFFFF"/>
                </a:solidFill>
                <a:latin typeface="Calibri"/>
              </a:rPr>
              <a:t>  pull_request:</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jobs:</a:t>
            </a:r>
          </a:p>
          <a:p>
            <a:pPr>
              <a:spcAft>
                <a:spcPts val="400"/>
              </a:spcAft>
            </a:pPr>
            <a:r>
              <a:rPr sz="1400" b="0" i="0">
                <a:solidFill>
                  <a:srgbClr val="FFFFFF"/>
                </a:solidFill>
                <a:latin typeface="Calibri"/>
              </a:rPr>
              <a:t>  construir-y-probar:</a:t>
            </a:r>
          </a:p>
          <a:p>
            <a:pPr>
              <a:spcAft>
                <a:spcPts val="400"/>
              </a:spcAft>
            </a:pPr>
            <a:r>
              <a:rPr sz="1400" b="0" i="0">
                <a:solidFill>
                  <a:srgbClr val="FFFFFF"/>
                </a:solidFill>
                <a:latin typeface="Calibri"/>
              </a:rPr>
              <a:t>    runs-on: ubuntu-latest</a:t>
            </a:r>
          </a:p>
        </p:txBody>
      </p:sp>
      <p:sp>
        <p:nvSpPr>
          <p:cNvPr id="9" name="TextBox 8"/>
          <p:cNvSpPr txBox="1"/>
          <p:nvPr/>
        </p:nvSpPr>
        <p:spPr>
          <a:xfrm>
            <a:off x="6233007" y="1719072"/>
            <a:ext cx="5181447" cy="4453128"/>
          </a:xfrm>
          <a:prstGeom prst="rect">
            <a:avLst/>
          </a:prstGeom>
          <a:noFill/>
        </p:spPr>
        <p:txBody>
          <a:bodyPr wrap="square">
            <a:spAutoFit/>
          </a:bodyPr>
          <a:lstStyle/>
          <a:p>
            <a:pPr>
              <a:spcAft>
                <a:spcPts val="400"/>
              </a:spcAft>
            </a:pPr>
            <a:r>
              <a:rPr sz="1400" b="0" i="0">
                <a:solidFill>
                  <a:srgbClr val="FFFFFF"/>
                </a:solidFill>
                <a:latin typeface="Calibri"/>
              </a:rPr>
              <a:t>    steps:</a:t>
            </a:r>
          </a:p>
          <a:p>
            <a:pPr>
              <a:spcAft>
                <a:spcPts val="400"/>
              </a:spcAft>
            </a:pPr>
            <a:r>
              <a:rPr sz="1400" b="0" i="0">
                <a:solidFill>
                  <a:srgbClr val="FFFFFF"/>
                </a:solidFill>
                <a:latin typeface="Calibri"/>
              </a:rPr>
              <a:t>      - uses: actions/checkout@v4</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 uses: actions/setup-node@v4</a:t>
            </a:r>
          </a:p>
          <a:p>
            <a:pPr>
              <a:spcAft>
                <a:spcPts val="400"/>
              </a:spcAft>
            </a:pPr>
            <a:r>
              <a:rPr sz="1400" b="0" i="0">
                <a:solidFill>
                  <a:srgbClr val="FFFFFF"/>
                </a:solidFill>
                <a:latin typeface="Calibri"/>
              </a:rPr>
              <a:t>        with:</a:t>
            </a:r>
          </a:p>
          <a:p>
            <a:pPr>
              <a:spcAft>
                <a:spcPts val="400"/>
              </a:spcAft>
            </a:pPr>
            <a:r>
              <a:rPr sz="1400" b="0" i="0">
                <a:solidFill>
                  <a:srgbClr val="FFFFFF"/>
                </a:solidFill>
                <a:latin typeface="Calibri"/>
              </a:rPr>
              <a:t>          node-version: '20'</a:t>
            </a:r>
          </a:p>
          <a:p>
            <a:pPr>
              <a:spcAft>
                <a:spcPts val="400"/>
              </a:spcAft>
            </a:pPr>
            <a:r>
              <a:rPr sz="1400" b="0" i="0">
                <a:solidFill>
                  <a:srgbClr val="FFFFFF"/>
                </a:solidFill>
                <a:latin typeface="Calibri"/>
              </a:rPr>
              <a:t>          cache: 'npm'</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 run: npm ci</a:t>
            </a:r>
          </a:p>
          <a:p>
            <a:pPr>
              <a:spcAft>
                <a:spcPts val="400"/>
              </a:spcAft>
            </a:pPr>
            <a:r>
              <a:rPr sz="1400" b="0" i="0">
                <a:solidFill>
                  <a:srgbClr val="FFFFFF"/>
                </a:solidFill>
                <a:latin typeface="Calibri"/>
              </a:rPr>
              <a:t>      - run: npm test -- --ci</a:t>
            </a:r>
          </a:p>
          <a:p>
            <a:pPr>
              <a:spcAft>
                <a:spcPts val="400"/>
              </a:spcAft>
            </a:pPr>
            <a:r>
              <a:rPr sz="1400" b="0" i="0">
                <a:solidFill>
                  <a:srgbClr val="FFFFFF"/>
                </a:solidFill>
                <a:latin typeface="Calibri"/>
              </a:rPr>
              <a:t>      - run: docker build -t cloudlite-api:${{ github.sha }}.</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Los secretos en el workflow, y hasta donde llega el pipeline</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      - name: Desplegar</a:t>
            </a:r>
          </a:p>
          <a:p>
            <a:pPr>
              <a:spcAft>
                <a:spcPts val="400"/>
              </a:spcAft>
            </a:pPr>
            <a:r>
              <a:rPr sz="1400" b="0" i="0">
                <a:solidFill>
                  <a:srgbClr val="FFFFFF"/>
                </a:solidFill>
                <a:latin typeface="Calibri"/>
              </a:rPr>
              <a:t>        env:</a:t>
            </a:r>
          </a:p>
          <a:p>
            <a:pPr>
              <a:spcAft>
                <a:spcPts val="400"/>
              </a:spcAft>
            </a:pPr>
            <a:r>
              <a:rPr sz="1400" b="0" i="0">
                <a:solidFill>
                  <a:srgbClr val="FFFFFF"/>
                </a:solidFill>
                <a:latin typeface="Calibri"/>
              </a:rPr>
              <a:t>          TOKEN: ${{ secrets.DEPLOY_TOKEN }}   # del almacen, nunca en claro</a:t>
            </a:r>
          </a:p>
          <a:p>
            <a:pPr>
              <a:spcAft>
                <a:spcPts val="400"/>
              </a:spcAft>
            </a:pPr>
            <a:r>
              <a:rPr sz="1400" b="0" i="0">
                <a:solidFill>
                  <a:srgbClr val="FFFFFF"/>
                </a:solidFill>
                <a:latin typeface="Calibri"/>
              </a:rPr>
              <a:t>        run: ./deploy.sh</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CI  = construir y probar en cada push. Esto SI es realista aqui.</a:t>
            </a:r>
          </a:p>
          <a:p>
            <a:pPr>
              <a:spcAft>
                <a:spcPts val="400"/>
              </a:spcAft>
            </a:pPr>
            <a:r>
              <a:rPr sz="1400" b="0" i="0">
                <a:solidFill>
                  <a:srgbClr val="FFFFFF"/>
                </a:solidFill>
                <a:latin typeface="Calibri"/>
              </a:rPr>
              <a:t># CD  = desplegar automaticamente a produccion. Necesita un proveedor</a:t>
            </a:r>
          </a:p>
          <a:p>
            <a:pPr>
              <a:spcAft>
                <a:spcPts val="400"/>
              </a:spcAft>
            </a:pPr>
            <a:r>
              <a:rPr sz="1400" b="0" i="0">
                <a:solidFill>
                  <a:srgbClr val="FFFFFF"/>
                </a:solidFill>
                <a:latin typeface="Calibri"/>
              </a:rPr>
              <a:t>#       con credenciales, asi que en el PI se declara como SIMULADO</a:t>
            </a:r>
          </a:p>
          <a:p>
            <a:pPr>
              <a:spcAft>
                <a:spcPts val="400"/>
              </a:spcAft>
            </a:pPr>
            <a:r>
              <a:rPr sz="1400" b="0" i="0">
                <a:solidFill>
                  <a:srgbClr val="FFFFFF"/>
                </a:solidFill>
                <a:latin typeface="Calibri"/>
              </a:rPr>
              <a:t>#       y el ultimo paso se rotula como tal. Decirlo vale puntos;</a:t>
            </a:r>
          </a:p>
          <a:p>
            <a:pPr>
              <a:spcAft>
                <a:spcPts val="400"/>
              </a:spcAft>
            </a:pPr>
            <a:r>
              <a:rPr sz="1400" b="0" i="0">
                <a:solidFill>
                  <a:srgbClr val="FFFFFF"/>
                </a:solidFill>
                <a:latin typeface="Calibri"/>
              </a:rPr>
              <a:t>#       fingirlo los quita.</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.github/workflows/ci.yml — CI real, no un echo</a:t>
            </a:r>
          </a:p>
        </p:txBody>
      </p:sp>
      <p:sp>
        <p:nvSpPr>
          <p:cNvPr id="5" name="Rounded Rectangle 4"/>
          <p:cNvSpPr/>
          <p:nvPr/>
        </p:nvSpPr>
        <p:spPr>
          <a:xfrm>
            <a:off x="457200" y="1261872"/>
            <a:ext cx="11277295" cy="477316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133087"/>
          </a:xfrm>
          <a:prstGeom prst="rect">
            <a:avLst/>
          </a:prstGeom>
          <a:noFill/>
        </p:spPr>
        <p:txBody>
          <a:bodyPr wrap="square">
            <a:spAutoFit/>
          </a:bodyPr>
          <a:lstStyle/>
          <a:p>
            <a:pPr>
              <a:spcAft>
                <a:spcPts val="400"/>
              </a:spcAft>
            </a:pPr>
            <a:r>
              <a:rPr sz="1400" b="0" i="0">
                <a:solidFill>
                  <a:srgbClr val="FFFFFF"/>
                </a:solidFill>
                <a:latin typeface="Calibri"/>
              </a:rPr>
              <a:t>name: CI</a:t>
            </a:r>
          </a:p>
          <a:p>
            <a:pPr>
              <a:spcAft>
                <a:spcPts val="400"/>
              </a:spcAft>
            </a:pPr>
            <a:r>
              <a:rPr sz="1400" b="0" i="0">
                <a:solidFill>
                  <a:srgbClr val="FFFFFF"/>
                </a:solidFill>
                <a:latin typeface="Calibri"/>
              </a:rPr>
              <a:t>on: [push, pull_request]          # 1. disparadores</a:t>
            </a:r>
          </a:p>
          <a:p>
            <a:pPr>
              <a:spcAft>
                <a:spcPts val="400"/>
              </a:spcAft>
            </a:pPr>
            <a:r>
              <a:rPr sz="1400" b="0" i="0">
                <a:solidFill>
                  <a:srgbClr val="FFFFFF"/>
                </a:solidFill>
                <a:latin typeface="Calibri"/>
              </a:rPr>
              <a:t>jobs:</a:t>
            </a:r>
          </a:p>
          <a:p>
            <a:pPr>
              <a:spcAft>
                <a:spcPts val="400"/>
              </a:spcAft>
            </a:pPr>
            <a:r>
              <a:rPr sz="1400" b="0" i="0">
                <a:solidFill>
                  <a:srgbClr val="FFFFFF"/>
                </a:solidFill>
                <a:latin typeface="Calibri"/>
              </a:rPr>
              <a:t>  build:</a:t>
            </a:r>
          </a:p>
          <a:p>
            <a:pPr>
              <a:spcAft>
                <a:spcPts val="400"/>
              </a:spcAft>
            </a:pPr>
            <a:r>
              <a:rPr sz="1400" b="0" i="0">
                <a:solidFill>
                  <a:srgbClr val="FFFFFF"/>
                </a:solidFill>
                <a:latin typeface="Calibri"/>
              </a:rPr>
              <a:t>    runs-on: ubuntu-latest        # 2. entorno de ejecucion</a:t>
            </a:r>
          </a:p>
          <a:p>
            <a:pPr>
              <a:spcAft>
                <a:spcPts val="400"/>
              </a:spcAft>
            </a:pPr>
            <a:r>
              <a:rPr sz="1400" b="0" i="0">
                <a:solidFill>
                  <a:srgbClr val="FFFFFF"/>
                </a:solidFill>
                <a:latin typeface="Calibri"/>
              </a:rPr>
              <a:t>    steps:</a:t>
            </a:r>
          </a:p>
          <a:p>
            <a:pPr>
              <a:spcAft>
                <a:spcPts val="400"/>
              </a:spcAft>
            </a:pPr>
            <a:r>
              <a:rPr sz="1400" b="0" i="0">
                <a:solidFill>
                  <a:srgbClr val="FFFFFF"/>
                </a:solidFill>
                <a:latin typeface="Calibri"/>
              </a:rPr>
              <a:t>      - uses: actions/checkout@v4</a:t>
            </a:r>
          </a:p>
          <a:p>
            <a:pPr>
              <a:spcAft>
                <a:spcPts val="400"/>
              </a:spcAft>
            </a:pPr>
            <a:r>
              <a:rPr sz="1400" b="0" i="0">
                <a:solidFill>
                  <a:srgbClr val="FFFFFF"/>
                </a:solidFill>
                <a:latin typeface="Calibri"/>
              </a:rPr>
              <a:t>      - uses: actions/setup-node@v4</a:t>
            </a:r>
          </a:p>
          <a:p>
            <a:pPr>
              <a:spcAft>
                <a:spcPts val="400"/>
              </a:spcAft>
            </a:pPr>
            <a:r>
              <a:rPr sz="1400" b="0" i="0">
                <a:solidFill>
                  <a:srgbClr val="FFFFFF"/>
                </a:solidFill>
                <a:latin typeface="Calibri"/>
              </a:rPr>
              <a:t>        with: { node-version: '20' }</a:t>
            </a:r>
          </a:p>
          <a:p>
            <a:pPr>
              <a:spcAft>
                <a:spcPts val="400"/>
              </a:spcAft>
            </a:pPr>
            <a:r>
              <a:rPr sz="1400" b="0" i="0">
                <a:solidFill>
                  <a:srgbClr val="FFFFFF"/>
                </a:solidFill>
                <a:latin typeface="Calibri"/>
              </a:rPr>
              <a:t>      - name: Construir</a:t>
            </a:r>
          </a:p>
          <a:p>
            <a:pPr>
              <a:spcAft>
                <a:spcPts val="400"/>
              </a:spcAft>
            </a:pPr>
            <a:r>
              <a:rPr sz="1400" b="0" i="0">
                <a:solidFill>
                  <a:srgbClr val="FFFFFF"/>
                </a:solidFill>
                <a:latin typeface="Calibri"/>
              </a:rPr>
              <a:t>        run: npm ci &amp;&amp; docker build -t cloudlite-api:0.1.0.</a:t>
            </a:r>
          </a:p>
          <a:p>
            <a:pPr>
              <a:spcAft>
                <a:spcPts val="400"/>
              </a:spcAft>
            </a:pPr>
            <a:r>
              <a:rPr sz="1400" b="0" i="0">
                <a:solidFill>
                  <a:srgbClr val="FFFFFF"/>
                </a:solidFill>
                <a:latin typeface="Calibri"/>
              </a:rPr>
              <a:t>      - name: Probar</a:t>
            </a:r>
          </a:p>
          <a:p>
            <a:pPr>
              <a:spcAft>
                <a:spcPts val="400"/>
              </a:spcAft>
            </a:pPr>
            <a:r>
              <a:rPr sz="1400" b="0" i="0">
                <a:solidFill>
                  <a:srgbClr val="FFFFFF"/>
                </a:solidFill>
                <a:latin typeface="Calibri"/>
              </a:rPr>
              <a:t>        run: npm test              # &lt;- si esto no puede fallar, no es CI</a:t>
            </a:r>
          </a:p>
          <a:p>
            <a:pPr>
              <a:spcAft>
                <a:spcPts val="400"/>
              </a:spcAft>
            </a:pPr>
            <a:r>
              <a:rPr sz="1400" b="0" i="0">
                <a:solidFill>
                  <a:srgbClr val="FFFFFF"/>
                </a:solidFill>
                <a:latin typeface="Calibri"/>
              </a:rPr>
              <a:t>      - name: Despliegue SIMULADO (no despliega a ningun servidor)</a:t>
            </a:r>
          </a:p>
          <a:p>
            <a:pPr>
              <a:spcAft>
                <a:spcPts val="400"/>
              </a:spcAft>
            </a:pPr>
            <a:r>
              <a:rPr sz="1400" b="0" i="0">
                <a:solidFill>
                  <a:srgbClr val="FFFFFF"/>
                </a:solidFill>
                <a:latin typeface="Calibri"/>
              </a:rPr>
              <a:t>        run: echo "Artefacto cloudlite-api:0.1.0 listo para desplegar"</a:t>
            </a:r>
          </a:p>
        </p:txBody>
      </p:sp>
      <p:sp>
        <p:nvSpPr>
          <p:cNvPr id="9" name="TextBox 8"/>
          <p:cNvSpPr txBox="1"/>
          <p:nvPr/>
        </p:nvSpPr>
        <p:spPr>
          <a:xfrm>
            <a:off x="457200" y="6080760"/>
            <a:ext cx="11277295" cy="320040"/>
          </a:xfrm>
          <a:prstGeom prst="rect">
            <a:avLst/>
          </a:prstGeom>
          <a:noFill/>
        </p:spPr>
        <p:txBody>
          <a:bodyPr wrap="square">
            <a:spAutoFit/>
          </a:bodyPr>
          <a:lstStyle/>
          <a:p>
            <a:pPr algn="ctr"/>
            <a:r>
              <a:rPr sz="1200" b="0" i="1">
                <a:solidFill>
                  <a:srgbClr val="666666"/>
                </a:solidFill>
                <a:latin typeface="Calibri"/>
              </a:rPr>
              <a:t>Los tres pasos, en orden, y el ultimo rotulado como simulado. Secretos con ${{ secrets.NOMBRE }}, NUNCA en claro dentro del YAML.</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Herramientas de hoy</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Gratis · navegador o free tier · sin cuenta de pago</a:t>
            </a:r>
          </a:p>
        </p:txBody>
      </p:sp>
      <p:sp>
        <p:nvSpPr>
          <p:cNvPr id="6" name="Rounded Rectangle 5"/>
          <p:cNvSpPr/>
          <p:nvPr/>
        </p:nvSpPr>
        <p:spPr>
          <a:xfrm>
            <a:off x="457200" y="1591056"/>
            <a:ext cx="3624986" cy="233172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github_actions.png"/>
          <p:cNvPicPr>
            <a:picLocks noChangeAspect="1"/>
          </p:cNvPicPr>
          <p:nvPr/>
        </p:nvPicPr>
        <p:blipFill>
          <a:blip r:embed="rId2"/>
          <a:stretch>
            <a:fillRect/>
          </a:stretch>
        </p:blipFill>
        <p:spPr>
          <a:xfrm>
            <a:off x="1643329" y="1847087"/>
            <a:ext cx="1252728" cy="1252728"/>
          </a:xfrm>
          <a:prstGeom prst="rect">
            <a:avLst/>
          </a:prstGeom>
        </p:spPr>
      </p:pic>
      <p:sp>
        <p:nvSpPr>
          <p:cNvPr id="10" name="TextBox 9"/>
          <p:cNvSpPr txBox="1"/>
          <p:nvPr/>
        </p:nvSpPr>
        <p:spPr>
          <a:xfrm>
            <a:off x="530352" y="3191256"/>
            <a:ext cx="3478682" cy="621792"/>
          </a:xfrm>
          <a:prstGeom prst="rect">
            <a:avLst/>
          </a:prstGeom>
          <a:noFill/>
        </p:spPr>
        <p:txBody>
          <a:bodyPr wrap="square" anchor="t"/>
          <a:lstStyle/>
          <a:p>
            <a:pPr algn="ctr"/>
            <a:r>
              <a:rPr sz="1300" b="1" i="0">
                <a:solidFill>
                  <a:srgbClr val="095292"/>
                </a:solidFill>
                <a:latin typeface="Calibri"/>
              </a:rPr>
              <a:t>GitHub Actions</a:t>
            </a:r>
          </a:p>
          <a:p>
            <a:pPr algn="ctr">
              <a:spcBef>
                <a:spcPts val="200"/>
              </a:spcBef>
            </a:pPr>
            <a:r>
              <a:rPr sz="1000" b="0" i="0">
                <a:solidFill>
                  <a:srgbClr val="666666"/>
                </a:solidFill>
                <a:latin typeface="Calibri"/>
              </a:rPr>
              <a:t>CI del PI</a:t>
            </a:r>
          </a:p>
        </p:txBody>
      </p:sp>
      <p:sp>
        <p:nvSpPr>
          <p:cNvPr id="11" name="Rounded Rectangle 10"/>
          <p:cNvSpPr/>
          <p:nvPr/>
        </p:nvSpPr>
        <p:spPr>
          <a:xfrm>
            <a:off x="4283354" y="1591056"/>
            <a:ext cx="3624986" cy="233172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83354"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83354"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google_docs.png"/>
          <p:cNvPicPr>
            <a:picLocks noChangeAspect="1"/>
          </p:cNvPicPr>
          <p:nvPr/>
        </p:nvPicPr>
        <p:blipFill>
          <a:blip r:embed="rId3"/>
          <a:stretch>
            <a:fillRect/>
          </a:stretch>
        </p:blipFill>
        <p:spPr>
          <a:xfrm>
            <a:off x="5469483" y="1847087"/>
            <a:ext cx="1252728" cy="1252728"/>
          </a:xfrm>
          <a:prstGeom prst="rect">
            <a:avLst/>
          </a:prstGeom>
        </p:spPr>
      </p:pic>
      <p:sp>
        <p:nvSpPr>
          <p:cNvPr id="15" name="TextBox 14"/>
          <p:cNvSpPr txBox="1"/>
          <p:nvPr/>
        </p:nvSpPr>
        <p:spPr>
          <a:xfrm>
            <a:off x="4356506" y="3191256"/>
            <a:ext cx="3478682" cy="621792"/>
          </a:xfrm>
          <a:prstGeom prst="rect">
            <a:avLst/>
          </a:prstGeom>
          <a:noFill/>
        </p:spPr>
        <p:txBody>
          <a:bodyPr wrap="square" anchor="t"/>
          <a:lstStyle/>
          <a:p>
            <a:pPr algn="ctr"/>
            <a:r>
              <a:rPr sz="1300" b="1" i="0">
                <a:solidFill>
                  <a:srgbClr val="095292"/>
                </a:solidFill>
                <a:latin typeface="Calibri"/>
              </a:rPr>
              <a:t>Google Docs</a:t>
            </a:r>
          </a:p>
          <a:p>
            <a:pPr algn="ctr">
              <a:spcBef>
                <a:spcPts val="200"/>
              </a:spcBef>
            </a:pPr>
            <a:r>
              <a:rPr sz="1000" b="0" i="0">
                <a:solidFill>
                  <a:srgbClr val="666666"/>
                </a:solidFill>
                <a:latin typeface="Calibri"/>
              </a:rPr>
              <a:t>Informe PI</a:t>
            </a:r>
          </a:p>
        </p:txBody>
      </p:sp>
      <p:sp>
        <p:nvSpPr>
          <p:cNvPr id="16" name="Rounded Rectangle 15"/>
          <p:cNvSpPr/>
          <p:nvPr/>
        </p:nvSpPr>
        <p:spPr>
          <a:xfrm>
            <a:off x="8109508" y="1591056"/>
            <a:ext cx="3624986" cy="233172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09508"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09508"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examlab.png"/>
          <p:cNvPicPr>
            <a:picLocks noChangeAspect="1"/>
          </p:cNvPicPr>
          <p:nvPr/>
        </p:nvPicPr>
        <p:blipFill>
          <a:blip r:embed="rId4"/>
          <a:stretch>
            <a:fillRect/>
          </a:stretch>
        </p:blipFill>
        <p:spPr>
          <a:xfrm>
            <a:off x="9295638" y="1847087"/>
            <a:ext cx="1252728" cy="1252728"/>
          </a:xfrm>
          <a:prstGeom prst="rect">
            <a:avLst/>
          </a:prstGeom>
        </p:spPr>
      </p:pic>
      <p:sp>
        <p:nvSpPr>
          <p:cNvPr id="20" name="TextBox 19"/>
          <p:cNvSpPr txBox="1"/>
          <p:nvPr/>
        </p:nvSpPr>
        <p:spPr>
          <a:xfrm>
            <a:off x="8182660" y="3191256"/>
            <a:ext cx="3478682" cy="621792"/>
          </a:xfrm>
          <a:prstGeom prst="rect">
            <a:avLst/>
          </a:prstGeom>
          <a:noFill/>
        </p:spPr>
        <p:txBody>
          <a:bodyPr wrap="square" anchor="t"/>
          <a:lstStyle/>
          <a:p>
            <a:pPr algn="ctr"/>
            <a:r>
              <a:rPr sz="1300" b="1" i="0">
                <a:solidFill>
                  <a:srgbClr val="095292"/>
                </a:solidFill>
                <a:latin typeface="Calibri"/>
              </a:rPr>
              <a:t>la plataforma del curso</a:t>
            </a:r>
          </a:p>
          <a:p>
            <a:pPr algn="ctr">
              <a:spcBef>
                <a:spcPts val="200"/>
              </a:spcBef>
            </a:pPr>
            <a:r>
              <a:rPr sz="1000" b="0" i="0">
                <a:solidFill>
                  <a:srgbClr val="666666"/>
                </a:solidFill>
                <a:latin typeface="Calibri"/>
              </a:rPr>
              <a:t>Donde se entrega</a:t>
            </a:r>
          </a:p>
        </p:txBody>
      </p:sp>
      <p:sp>
        <p:nvSpPr>
          <p:cNvPr id="21" name="TextBox 20"/>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PI CloudLite — entregable de hoy</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Entregable:</a:t>
            </a:r>
            <a:r>
              <a:rPr sz="2000" b="0" i="0">
                <a:solidFill>
                  <a:srgbClr val="333333"/>
                </a:solidFill>
                <a:latin typeface="Calibri"/>
              </a:rPr>
              <a:t> .github/workflows/ci.yml + sección Monitoreo/CI del informe</a:t>
            </a:r>
          </a:p>
          <a:p>
            <a:pPr>
              <a:spcAft>
                <a:spcPts val="800"/>
              </a:spcAft>
            </a:pPr>
            <a:r>
              <a:rPr sz="2000" b="0" i="0">
                <a:solidFill>
                  <a:srgbClr val="333333"/>
                </a:solidFill>
                <a:latin typeface="Calibri"/>
              </a:rPr>
              <a:t>–   Herramienta: </a:t>
            </a:r>
            <a:r>
              <a:rPr sz="2000" b="1" i="0">
                <a:solidFill>
                  <a:srgbClr val="333333"/>
                </a:solidFill>
                <a:latin typeface="Calibri"/>
              </a:rPr>
              <a:t>GitHub Actions · Google Docs</a:t>
            </a:r>
          </a:p>
          <a:p>
            <a:pPr>
              <a:spcAft>
                <a:spcPts val="800"/>
              </a:spcAft>
            </a:pPr>
            <a:r>
              <a:rPr sz="2000" b="0" i="0">
                <a:solidFill>
                  <a:srgbClr val="333333"/>
                </a:solidFill>
                <a:latin typeface="Calibri"/>
              </a:rPr>
              <a:t>–   Todo lo que construyan hoy entra al </a:t>
            </a:r>
            <a:r>
              <a:rPr sz="2000" b="1" i="0">
                <a:solidFill>
                  <a:srgbClr val="333333"/>
                </a:solidFill>
                <a:latin typeface="Calibri"/>
              </a:rPr>
              <a:t>informe/repo del PI</a:t>
            </a:r>
            <a:r>
              <a:rPr sz="2000" b="0" i="0">
                <a:solidFill>
                  <a:srgbClr val="333333"/>
                </a:solidFill>
                <a:latin typeface="Calibri"/>
              </a:rPr>
              <a:t> (no es lab suelto).</a:t>
            </a:r>
          </a:p>
          <a:p>
            <a:pPr>
              <a:spcAft>
                <a:spcPts val="800"/>
              </a:spcAft>
            </a:pPr>
            <a:r>
              <a:rPr sz="2000" b="0" i="0">
                <a:solidFill>
                  <a:srgbClr val="333333"/>
                </a:solidFill>
                <a:latin typeface="Calibri"/>
              </a:rPr>
              <a:t>–   Individual por defecto · el docente puede autorizar equipos de 2–3; la entrega en la plataforma del curso siempre es individual.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Manos a la obra (paso a paso)</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1" i="0">
                <a:solidFill>
                  <a:srgbClr val="333333"/>
                </a:solidFill>
                <a:latin typeface="Calibri"/>
              </a:rPr>
              <a:t>1.</a:t>
            </a:r>
            <a:r>
              <a:rPr sz="2000" b="0" i="0">
                <a:solidFill>
                  <a:srgbClr val="333333"/>
                </a:solidFill>
                <a:latin typeface="Calibri"/>
              </a:rPr>
              <a:t> Paso 1: escriba en la pregunta 7 el contenido completo del ci.yml con disparadores, entorno y los pasos de construccion, prueba y despliegue simulado, usando la imagen y el puerto del Dockerfile del Corte 1; verifique que ningun secreto quede escrito en claro dentro del YAML.</a:t>
            </a:r>
          </a:p>
          <a:p>
            <a:pPr>
              <a:spcAft>
                <a:spcPts val="800"/>
              </a:spcAft>
            </a:pPr>
            <a:r>
              <a:rPr sz="2000" b="0" i="0">
                <a:solidFill>
                  <a:srgbClr val="333333"/>
                </a:solidFill>
                <a:latin typeface="Calibri"/>
              </a:rPr>
              <a:t>–   </a:t>
            </a:r>
            <a:r>
              <a:rPr sz="2000" b="1" i="0">
                <a:solidFill>
                  <a:srgbClr val="333333"/>
                </a:solidFill>
                <a:latin typeface="Calibri"/>
              </a:rPr>
              <a:t>2.</a:t>
            </a:r>
            <a:r>
              <a:rPr sz="2000" b="0" i="0">
                <a:solidFill>
                  <a:srgbClr val="333333"/>
                </a:solidFill>
                <a:latin typeface="Calibri"/>
              </a:rPr>
              <a:t> Paso 2: explique en la pregunta 8 que se compila o instala, que se ejecuta en la prueba y con que condicion el pipeline debe fallar; hagase la prueba mental de que error tendria que introducir para que el check salga rojo, y si no encuentra ninguno, su pipeline todavia no valida nada.</a:t>
            </a:r>
          </a:p>
          <a:p>
            <a:pPr>
              <a:spcAft>
                <a:spcPts val="800"/>
              </a:spcAft>
            </a:pPr>
            <a:r>
              <a:rPr sz="2000" b="0" i="0">
                <a:solidFill>
                  <a:srgbClr val="333333"/>
                </a:solidFill>
                <a:latin typeface="Calibri"/>
              </a:rPr>
              <a:t>–   </a:t>
            </a:r>
            <a:r>
              <a:rPr sz="2000" b="1" i="0">
                <a:solidFill>
                  <a:srgbClr val="333333"/>
                </a:solidFill>
                <a:latin typeface="Calibri"/>
              </a:rPr>
              <a:t>3.</a:t>
            </a:r>
            <a:r>
              <a:rPr sz="2000" b="0" i="0">
                <a:solidFill>
                  <a:srgbClr val="333333"/>
                </a:solidFill>
                <a:latin typeface="Calibri"/>
              </a:rPr>
              <a:t> Paso 3: distinga en la pregunta 9 que valida CI y que hace CD, ubique cual de los dos construyo y diga que le faltaria para CD real; reconocer que su pipeline llega hasta «listo para desplegar» suma puntos, afirmar que ya tiene CD los resta.</a:t>
            </a:r>
          </a:p>
          <a:p>
            <a:pPr>
              <a:spcAft>
                <a:spcPts val="800"/>
              </a:spcAft>
            </a:pPr>
            <a:r>
              <a:rPr sz="2000" b="0" i="0">
                <a:solidFill>
                  <a:srgbClr val="333333"/>
                </a:solidFill>
                <a:latin typeface="Calibri"/>
              </a:rPr>
              <a:t>–   </a:t>
            </a:r>
            <a:r>
              <a:rPr sz="2000" b="1" i="0">
                <a:solidFill>
                  <a:srgbClr val="333333"/>
                </a:solidFill>
                <a:latin typeface="Calibri"/>
              </a:rPr>
              <a:t>4.</a:t>
            </a:r>
            <a:r>
              <a:rPr sz="2000" b="0" i="0">
                <a:solidFill>
                  <a:srgbClr val="333333"/>
                </a:solidFill>
                <a:latin typeface="Calibri"/>
              </a:rPr>
              <a:t> Paso 4: liste en la pregunta 10 entre 4 y 6 senales con su umbral, atadas a operaciones de su dominio, y verifique que al menos una sea un registro y no una metrica numerica; una senal sin umbral no sirve para operar y no suma.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Para continuar (PI)</a:t>
            </a:r>
          </a:p>
        </p:txBody>
      </p:sp>
      <p:sp>
        <p:nvSpPr>
          <p:cNvPr id="5" name="Rounded Rectangle 4"/>
          <p:cNvSpPr/>
          <p:nvPr/>
        </p:nvSpPr>
        <p:spPr>
          <a:xfrm>
            <a:off x="457200" y="1261872"/>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28016" cy="105156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99031"/>
            <a:ext cx="10774375" cy="822959"/>
          </a:xfrm>
          <a:prstGeom prst="rect">
            <a:avLst/>
          </a:prstGeom>
          <a:noFill/>
        </p:spPr>
        <p:txBody>
          <a:bodyPr wrap="square">
            <a:spAutoFit/>
          </a:bodyPr>
          <a:lstStyle/>
          <a:p>
            <a:r>
              <a:rPr sz="1200" b="1" i="0">
                <a:solidFill>
                  <a:srgbClr val="269CCB"/>
                </a:solidFill>
                <a:latin typeface="Calibri"/>
              </a:rPr>
              <a:t>Info</a:t>
            </a:r>
          </a:p>
          <a:p>
            <a:pPr>
              <a:spcBef>
                <a:spcPts val="400"/>
              </a:spcBef>
            </a:pPr>
            <a:r>
              <a:rPr sz="1400" b="0" i="0">
                <a:solidFill>
                  <a:srgbClr val="333333"/>
                </a:solidFill>
                <a:latin typeface="Calibri"/>
              </a:rPr>
              <a:t>Entregable: .github/workflows/ci.yml + sección Monitoreo/CI del informe</a:t>
            </a:r>
          </a:p>
        </p:txBody>
      </p:sp>
      <p:sp>
        <p:nvSpPr>
          <p:cNvPr id="8" name="Rounded Rectangle 7"/>
          <p:cNvSpPr/>
          <p:nvPr/>
        </p:nvSpPr>
        <p:spPr>
          <a:xfrm>
            <a:off x="457200" y="2478024"/>
            <a:ext cx="11277295" cy="1051560"/>
          </a:xfrm>
          <a:prstGeom prst="roundRect">
            <a:avLst>
              <a:gd name="adj" fmla="val 12000"/>
            </a:avLst>
          </a:prstGeom>
          <a:solidFill>
            <a:srgbClr val="FFF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78024"/>
            <a:ext cx="128016" cy="105156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615184"/>
            <a:ext cx="10774375" cy="822959"/>
          </a:xfrm>
          <a:prstGeom prst="rect">
            <a:avLst/>
          </a:prstGeom>
          <a:noFill/>
        </p:spPr>
        <p:txBody>
          <a:bodyPr wrap="square">
            <a:spAutoFit/>
          </a:bodyPr>
          <a:lstStyle/>
          <a:p>
            <a:r>
              <a:rPr sz="1200" b="1" i="0">
                <a:solidFill>
                  <a:srgbClr val="FFD000"/>
                </a:solidFill>
                <a:latin typeface="Calibri"/>
              </a:rPr>
              <a:t>Aclaración</a:t>
            </a:r>
          </a:p>
          <a:p>
            <a:pPr>
              <a:spcBef>
                <a:spcPts val="400"/>
              </a:spcBef>
            </a:pPr>
            <a:r>
              <a:rPr sz="1400" b="0" i="0">
                <a:solidFill>
                  <a:srgbClr val="333333"/>
                </a:solidFill>
                <a:latin typeface="Calibri"/>
              </a:rPr>
              <a:t>Subir evidencias al paquete CloudLite (Drive/repo) y a la plataforma del curso en la fecha que indique el docente.</a:t>
            </a:r>
          </a:p>
        </p:txBody>
      </p:sp>
      <p:sp>
        <p:nvSpPr>
          <p:cNvPr id="11" name="Rounded Rectangle 10"/>
          <p:cNvSpPr/>
          <p:nvPr/>
        </p:nvSpPr>
        <p:spPr>
          <a:xfrm>
            <a:off x="457200" y="3694176"/>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3694176"/>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831336"/>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0" i="0">
                <a:solidFill>
                  <a:srgbClr val="333333"/>
                </a:solidFill>
                <a:latin typeface="Calibri"/>
              </a:rPr>
              <a:t>Sin cloud de pago ni instalaciones obligatorias de hipervisores/Docker Desktop.</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8 · PI en movimiento</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Workflow Actions (build/test/simulate) + métricas de monitoreo del PI</a:t>
            </a:r>
          </a:p>
          <a:p>
            <a:pPr algn="ctr">
              <a:spcAft>
                <a:spcPts val="600"/>
              </a:spcAft>
            </a:pPr>
            <a:r>
              <a:rPr sz="1600" b="0" i="0">
                <a:solidFill>
                  <a:srgbClr val="333333"/>
                </a:solidFill>
                <a:latin typeface="Calibri"/>
              </a:rPr>
              <a:t>Evidencia: .github/workflows/ci.yml + sección Monitoreo/CI del informe</a:t>
            </a:r>
          </a:p>
          <a:p>
            <a:pPr algn="ctr">
              <a:spcAft>
                <a:spcPts val="600"/>
              </a:spcAft>
            </a:pPr>
            <a:r>
              <a:rPr sz="1600" b="0" i="0">
                <a:solidFill>
                  <a:srgbClr val="333333"/>
                </a:solidFill>
                <a:latin typeface="Calibri"/>
              </a:rPr>
              <a:t>Siguiente paso = siguiente hito del PI CloudLite</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Teoría al servicio del proyecto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