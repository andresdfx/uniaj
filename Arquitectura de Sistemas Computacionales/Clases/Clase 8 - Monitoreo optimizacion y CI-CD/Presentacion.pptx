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Esta clase junta dos temas que parecen distintos y son el mismo asunto en dos momentos: automatizar la verificacion antes de que un cambio llegue a los usuarios, y observar el sistema despues de que llego.</a:t>
            </a:r>
          </a:p>
          <a:p/>
          <a:p>
            <a:r>
              <a:t>(No se proyecta) 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a:p/>
          <a:p>
            <a:r>
              <a:t>(No se proyecta) Conviene decir el reparto al abrir la clase, porque las dos preguntas que el grupo subestima, la 8 y la 10, valen juntas mas que el 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(No se proyecta) Hay que decirlo explicito: lo simulado es el ultimo paso, no el pipeline; todo lo anterior es real y ejecutable.</a:t>
            </a:r>
          </a:p>
          <a:p/>
          <a:p>
            <a:r>
              <a:t>(No se proyecta)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vocabulario tiene cinco palabras.</a:t>
            </a:r>
          </a:p>
          <a:p/>
          <a:p>
            <a:r>
              <a:t>(No se proyecta) Advertencias: el YAML se indenta con espacios y nunca con tabulaciones, causa numero uno de un pipeline que no arranca; y en el nivel gratuito los repositorios publicos tienen minutos ilimitados mientras los privados tienen una cuota del orden de 2000 minutos al mes, cifra que conviene confirmar en la pagina de facturacion porque el proveedor la cambia.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Un punto y medio es el ENTORNO de ejecucion, la clave runs-on, tipicamente ubuntu-latest; es el bloque que el estudiante omite mas y el mas facil de recuperar.</a:t>
            </a:r>
          </a:p>
          <a:p/>
          <a:p>
            <a:r>
              <a:t>(No se proyecta) Y un punto es la coherencia con el Dockerfile del Corte 1: la misma imagen y el mismo puerto, es decir cloudlite-api con su etiqueta 0.1.0 y el 8080 del EXPOSE de la Clase 3.</a:t>
            </a:r>
          </a:p>
          <a:p/>
          <a:p>
            <a:r>
              <a:t>(No se proyecta) Falta la sancion, que conviene anunciar dos veces: la pregunta vale CERO completa si aparece un secreto escrito en claro dentro del YAML, sin importar lo bien que este el resto.</a:t>
            </a:r>
          </a:p>
          <a:p/>
          <a:p>
            <a:r>
              <a:t>(No se proyecta) Es la misma politica que el estudiante escribio en la pregunta 3 del Corte 2, y esta es la clase donde se comprueba si la cumple.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apoya en tres tipos de senal.</a:t>
            </a:r>
          </a:p>
          <a:p/>
          <a:p>
            <a:r>
              <a:t>(No se proyecta) La segunda mitad de la clase cambia de lado: ya no se trata de validar antes, sino de saber que pasa despues.</a:t>
            </a:r>
          </a:p>
          <a:p/>
          <a:p>
            <a:r>
              <a:t>(No se proyecta)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se proyecta) 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«Medimos la latencia» no permite decidir nada</a:t>
            </a:r>
          </a:p>
          <a:p/>
          <a:p>
            <a:r>
              <a:t>Esa accion no es una cuarta columna: se escribe dentro del umbral, como en el ejemplo del listado.</a:t>
            </a:r>
          </a:p>
          <a:p/>
          <a:p>
            <a:r>
              <a:t>La fila tiene senal, objeto concreto del dominio y una accion atada al umbral.</a:t>
            </a:r>
          </a:p>
          <a:p/>
          <a:p>
            <a:r>
              <a:t>(No se proyecta) El reparto de sus 6 puntos es un punto por senal bien formada con su umbral hasta la cuarta, hasta un punto adicional entre las senales quinta y sexta, y un punto por que al menos una sea un registro.</a:t>
            </a:r>
          </a:p>
          <a:p/>
          <a:p>
            <a:r>
              <a:t>(No se proyecta) El umbral puede ser discutible, y hay que decir que se acepta discutible: lo que no puede es faltar.</a:t>
            </a:r>
          </a:p>
          <a:p/>
          <a:p>
            <a:r>
              <a:t>(No se proyecta) 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(No se proyecta) Conviene proyectar esa fila y decir «esta es la que falta en el 80 por ciento de las entregas».</a:t>
            </a:r>
          </a:p>
          <a:p/>
          <a:p>
            <a:r>
              <a:t>(No se proyecta) 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workflow se dispara en push y en pull_request.</a:t>
            </a:r>
          </a:p>
          <a:p/>
          <a:p>
            <a:r>
              <a:t>(No se proyecta) El ejemplo concreto es el pipeline del stub de CloudLite, que ya existe desde la Clase 3 como Dockerfile y contenedor, y la diapositiva del ci.yml es el molde que se puede copiar.</a:t>
            </a:r>
          </a:p>
          <a:p/>
          <a:p>
            <a:r>
              <a:t>(No se proyecta) La evidencia del entregable es doble: el archivo ci.yml en el repositorio y la captura de una corrida en verde con los nombres de los pasos visibles; si Actions falla por cuota o por red se acepta el YAML con la explicacion paso por paso, pero eso es plan B y hay que decir que lo 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y medio, que se compila o se instala.</a:t>
            </a:r>
          </a:p>
          <a:p/>
          <a:p>
            <a:r>
              <a:t>Uno y medio, que se ejecuta en la prueba y que comprueba exactamente.</a:t>
            </a:r>
          </a:p>
          <a:p/>
          <a:p>
            <a:r>
              <a:t>Si la respuesta no aparece en diez segundos, el pipeline no valida nada todavia.</a:t>
            </a:r>
          </a:p>
          <a:p/>
          <a:p>
            <a:r>
              <a:t>(No se proyecta) La forma de responderlo es una prueba mental que el docente debe hacer en voz alta y en vivo: que error tendria que introducir yo en el codigo para que este pipeline lo detecte.</a:t>
            </a:r>
          </a:p>
          <a:p/>
          <a:p>
            <a:r>
              <a:t>(No se proyecta) Aqui es donde aparece la pregunta previsible del grupo, y hay que salir a su encuentro: para que escribir pruebas de un stub que casi no hace nada.</a:t>
            </a:r>
          </a:p>
          <a:p/>
          <a:p>
            <a:r>
              <a:t>(No se proyecta) 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(No se proyecta) 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valores sensibles se guardan en el repositorio bajo Settings, Secrets and variables, Actions; el workflow los referencia por nombre y la plataforma los inyecta como variables de entorno solo durante la corrida.</a:t>
            </a:r>
          </a:p>
          <a:p/>
          <a:p>
            <a:r>
              <a:t>Dos detalles evitan sustos.</a:t>
            </a:r>
          </a:p>
          <a:p/>
          <a:p>
            <a:r>
              <a:t>(No se proyecta) El pipeline es tambien donde se ejecuta de verdad la politica de secretos escrita en la Clase 6.</a:t>
            </a:r>
          </a:p>
          <a:p/>
          <a:p>
            <a:r>
              <a:t>(No se proyecta) Y el recordatorio de calificacion: un secreto en claro en el YAML no descuenta, anula la pregunta 7 entera.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que aparecen todos los semestres.</a:t>
            </a:r>
          </a:p>
          <a:p/>
          <a:p>
            <a:r>
              <a:t>Un umbral justificado asi vale, aunque despues la medicion lo corrija.</a:t>
            </a:r>
          </a:p>
          <a:p/>
          <a:p>
            <a:r>
              <a:t>(No se proyecta) «Si no tenemos usuarios reales, que monitoreamos?» El entregable es el plan, no los datos: la pregunta pide que senales observaria en una produccion hipotetica, con sus umbrales.</a:t>
            </a:r>
          </a:p>
          <a:p/>
          <a:p>
            <a:r>
              <a:t>(No se proyecta) Y algo si es real: el chequeo de salud que consulta el balanceador de la Clase 7 ya es monitoreo, y el check de Actions ya es una senal de que el sistema construye.</a:t>
            </a:r>
          </a:p>
          <a:p/>
          <a:p>
            <a:r>
              <a:t>(No se proyecta) «De donde saco los umbrales si nunca he medido?» De tres fuentes legitimas, y conviene nombrarlas: una convencion del oficio citada como tal, por ejemplo 300 milisegundos de p95 o el 80 por ciento de saturacion; una expectativa del usuario redactada en el dominio, por ejemplo que una reserva no tarde mas de dos segundos; o una aritmetica de servilleta a partir del escenario de carga, que es justamente lo que se formaliza en la Clase 12.</a:t>
            </a:r>
          </a:p>
          <a:p/>
          <a:p>
            <a:r>
              <a:t>(No se proyecta) Es preferible una prueba real y pequena a tres pruebas inventadas que no se ejecutan, porque la pregunta 8 evalua si el pipeline puede fallar.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la app.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CI</a:t>
            </a:r>
            <a:r>
              <a:rPr sz="2000" b="0" i="0">
                <a:solidFill>
                  <a:srgbClr val="333333"/>
                </a:solidFill>
                <a:latin typeface="Calibri"/>
              </a:rPr>
              <a:t> = integración continua: cada cambio se construye y se prueba solo. </a:t>
            </a:r>
            <a:r>
              <a:rPr sz="2000" b="1" i="0">
                <a:solidFill>
                  <a:srgbClr val="333333"/>
                </a:solidFill>
                <a:latin typeface="Calibri"/>
              </a:rPr>
              <a:t>CD</a:t>
            </a:r>
            <a:r>
              <a:rPr sz="2000" b="0" i="0">
                <a:solidFill>
                  <a:srgbClr val="333333"/>
                </a:solidFill>
                <a:latin typeface="Calibri"/>
              </a:rPr>
              <a:t> = entrega continua (queda listo para desplegar) o despliegue continuo (llega solo a producción).</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es falso.</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obligatorios: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Ejemplo: «on: [push, pull_request]» · «runs-on: ubuntu-latest» · pasos checkout, build, test, deploy simulado.</a:t>
            </a:r>
          </a:p>
          <a:p>
            <a:pPr>
              <a:spcAft>
                <a:spcPts val="800"/>
              </a:spcAft>
            </a:pPr>
            <a:r>
              <a:rPr sz="2000" b="0" i="0">
                <a:solidFill>
                  <a:srgbClr val="333333"/>
                </a:solidFill>
                <a:latin typeface="Calibri"/>
              </a:rPr>
              <a:t>–   Secrets solo vía Settings; nunca en el YAML en claro: un secreto escrito queda en el historial del repositorio.</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tasa, documentados en el diseño.</a:t>
            </a:r>
          </a:p>
          <a:p>
            <a:pPr>
              <a:spcAft>
                <a:spcPts val="800"/>
              </a:spcAft>
            </a:pPr>
            <a:r>
              <a:rPr sz="2000" b="0" i="0">
                <a:solidFill>
                  <a:srgbClr val="333333"/>
                </a:solidFill>
                <a:latin typeface="Calibri"/>
              </a:rPr>
              <a:t>–   Ejemplo: p95 del «GET /turnos» &lt; 300 ms; si se supera 5 minutos seguidos, se revisa el índice de la consulta.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de un workflow, y el orden de los pasos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workflow no es un archivo cualquiera: tiene tres bloques nombrados y tres pasos en orden.</a:t>
            </a:r>
          </a:p>
          <a:p>
            <a:pPr>
              <a:spcAft>
                <a:spcPts val="800"/>
              </a:spcAft>
            </a:pPr>
            <a:r>
              <a:rPr sz="2000" b="0" i="0">
                <a:solidFill>
                  <a:srgbClr val="333333"/>
                </a:solidFill>
                <a:latin typeface="Calibri"/>
              </a:rPr>
              <a:t>–   El primer bloque son los DISPARADORES, es decir la clave on, y basta con on push y pull_request bien escritos.</a:t>
            </a:r>
          </a:p>
          <a:p>
            <a:pPr>
              <a:spcAft>
                <a:spcPts val="800"/>
              </a:spcAft>
            </a:pPr>
            <a:r>
              <a:rPr sz="2000" b="0" i="0">
                <a:solidFill>
                  <a:srgbClr val="333333"/>
                </a:solidFill>
                <a:latin typeface="Calibri"/>
              </a:rPr>
              <a:t>–   Los tres PASOS van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 distincion entre metrica y registro importa: al menos una de las senales de un plan deberia ser un REGISTRO y no una metrica numerica, es decir algo que se escribe para poder reconstruir que paso despues.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a:p>
            <a:pPr>
              <a:spcAft>
                <a:spcPts val="800"/>
              </a:spcAft>
            </a:pPr>
            <a:r>
              <a:rPr sz="2000" b="0" i="0">
                <a:solidFill>
                  <a:srgbClr val="333333"/>
                </a:solidFill>
                <a:latin typeface="Calibri"/>
              </a:rPr>
              <a:t>–   Un ejemplo de linea estructurada es: fecha 2026-10-03 10:15:02, nivel INFO, peticion a91f, ruta POST /turnos, estado 201, duracion 84 ms.</a:t>
            </a:r>
          </a:p>
          <a:p>
            <a:pPr>
              <a:spcAft>
                <a:spcPts val="800"/>
              </a:spcAft>
            </a:pPr>
            <a:r>
              <a:rPr sz="2000" b="0" i="0">
                <a:solidFill>
                  <a:srgbClr val="333333"/>
                </a:solidFill>
                <a:latin typeface="Calibri"/>
              </a:rPr>
              <a:t>–   Un error comun es escribir logs como frases libres: se leen bien, pero no se pueden filtrar ni contar.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a:p>
            <a:pPr>
              <a:spcAft>
                <a:spcPts val="800"/>
              </a:spcAft>
            </a:pPr>
            <a:r>
              <a:rPr sz="2000" b="0" i="0">
                <a:solidFill>
                  <a:srgbClr val="333333"/>
                </a:solidFill>
                <a:latin typeface="Calibri"/>
              </a:rPr>
              <a:t>–   95 de cada 100 peticiones respondieron en 300 milisegundos o menos y 5 tardaron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a:p>
            <a:pPr>
              <a:spcAft>
                <a:spcPts val="800"/>
              </a:spcAft>
            </a:pPr>
            <a:r>
              <a:rPr sz="2000" b="0" i="0">
                <a:solidFill>
                  <a:srgbClr val="333333"/>
                </a:solidFill>
                <a:latin typeface="Calibri"/>
              </a:rPr>
              <a:t>–   En la app de turnos las cuatro senales son: latencia, el p95 del endpoint de reserva; trafico, las reservas por minuto; errores, el porcentaje de respuestas 5xx; saturacion, el uso del pool de conexiones a la base de datos.</a:t>
            </a:r>
          </a:p>
          <a:p>
            <a:pPr>
              <a:spcAft>
                <a:spcPts val="800"/>
              </a:spcAft>
            </a:pPr>
            <a:r>
              <a:rPr sz="2000" b="0" i="0">
                <a:solidFill>
                  <a:srgbClr val="333333"/>
                </a:solidFill>
                <a:latin typeface="Calibri"/>
              </a:rPr>
              <a:t>–   Un error comun es medir solo la CPU: es una senal de saturacion entre varias, y en una API que espera a la base de datos casi nunca es la primera en agotarse.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plan de monitoreo es una tabla de entre 4 y 6 filas con TRES columnas: «Senal», «Que se mide en MI dominio» y «Umbral u objetivo».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a:p>
            <a:pPr>
              <a:spcAft>
                <a:spcPts val="800"/>
              </a:spcAft>
            </a:pPr>
            <a:r>
              <a:rPr sz="2000" b="0" i="0">
                <a:solidFill>
                  <a:srgbClr val="333333"/>
                </a:solidFill>
                <a:latin typeface="Calibri"/>
              </a:rPr>
              <a:t>–   La segunda columna tiene que referirse a operaciones del dominio propio, asi que «el sistema» no es una respuesta y «el listado de disponibilidad de canchas» o «el registro de una reserva» 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con sus tres columnas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umbral necesita su accion: que se HACE cuando se cruza es lo que convierte una lista de metricas en un plan de operacion.</a:t>
            </a:r>
          </a:p>
          <a:p>
            <a:pPr>
              <a:spcAft>
                <a:spcPts val="800"/>
              </a:spcAft>
            </a:pPr>
            <a:r>
              <a:rPr sz="2000" b="0" i="0">
                <a:solidFill>
                  <a:srgbClr val="333333"/>
                </a:solidFill>
                <a:latin typeface="Calibri"/>
              </a:rPr>
              <a:t>–   Un ejemplo de fila completa es: Senal «latencia del listado de turnos»</a:t>
            </a:r>
          </a:p>
          <a:p>
            <a:pPr>
              <a:spcAft>
                <a:spcPts val="800"/>
              </a:spcAft>
            </a:pPr>
            <a:r>
              <a:rPr sz="2000" b="0" i="0">
                <a:solidFill>
                  <a:srgbClr val="333333"/>
                </a:solidFill>
                <a:latin typeface="Calibri"/>
              </a:rPr>
              <a:t>–   Que se mide «p95 del GET /turnos»</a:t>
            </a:r>
          </a:p>
          <a:p>
            <a:pPr>
              <a:spcAft>
                <a:spcPts val="800"/>
              </a:spcAft>
            </a:pPr>
            <a:r>
              <a:rPr sz="2000" b="0" i="0">
                <a:solidFill>
                  <a:srgbClr val="333333"/>
                </a:solidFill>
                <a:latin typeface="Calibri"/>
              </a:rPr>
              <a:t>–   Umbral «menos de 300 ms; si se supera durante 5 minutos, se revisa el indice de la consulta».</a:t>
            </a:r>
          </a:p>
          <a:p>
            <a:pPr>
              <a:spcAft>
                <a:spcPts val="800"/>
              </a:spcAft>
            </a:pPr>
            <a:r>
              <a:rPr sz="2000" b="0" i="0">
                <a:solidFill>
                  <a:srgbClr val="333333"/>
                </a:solidFill>
                <a:latin typeface="Calibri"/>
              </a:rPr>
              <a:t>–   Un error comun es un umbral sin numero, como «latencia alta»: no dice cuando actuar.</a:t>
            </a:r>
          </a:p>
          <a:p>
            <a:pPr>
              <a:spcAft>
                <a:spcPts val="800"/>
              </a:spcAft>
            </a:pPr>
            <a:r>
              <a:rPr sz="2000" b="0" i="0">
                <a:solidFill>
                  <a:srgbClr val="333333"/>
                </a:solidFill>
                <a:latin typeface="Calibri"/>
              </a:rPr>
              <a:t>–   Otro es una senal generica, como «el sistema»: la fila tiene que nombrar una operacion concreta del dominio.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a:p>
            <a:pPr>
              <a:spcAft>
                <a:spcPts val="800"/>
              </a:spcAft>
            </a:pPr>
            <a:r>
              <a:rPr sz="2000" b="0" i="0">
                <a:solidFill>
                  <a:srgbClr val="333333"/>
                </a:solidFill>
                <a:latin typeface="Calibri"/>
              </a:rPr>
              <a:t>–   Que docker build forme parte de la construccion tiene un valor extra: comprueba en cada cambio que el Dockerfile sigue siendo valido, que es una de las cosas que se rompen en silencio.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la app,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pipeline sano falla rapido: si la construccion falla, la prueba no se ejecuta, y el autor del cambio recibe el aviso en minutos.</a:t>
            </a:r>
          </a:p>
          <a:p>
            <a:pPr>
              <a:spcAft>
                <a:spcPts val="800"/>
              </a:spcAft>
            </a:pPr>
            <a:r>
              <a:rPr sz="2000" b="0" i="0">
                <a:solidFill>
                  <a:srgbClr val="333333"/>
                </a:solidFill>
                <a:latin typeface="Calibri"/>
              </a:rPr>
              <a:t>–   En GitHub Actions cada paso que termina con un codigo de salida distinto de 0 detiene el job y lo marca en rojo: esa es la condicion de fallo que convierte el workflow en una verificacion real.</a:t>
            </a:r>
          </a:p>
          <a:p>
            <a:pPr>
              <a:spcAft>
                <a:spcPts val="800"/>
              </a:spcAft>
            </a:pPr>
            <a:r>
              <a:rPr sz="2000" b="0" i="0">
                <a:solidFill>
                  <a:srgbClr val="333333"/>
                </a:solidFill>
                <a:latin typeface="Calibri"/>
              </a:rPr>
              <a:t>–   Un ejemplo de fallo util: alguien cambia la respuesta de /health y no actualiza la prueba; el paso de prueba termina con codigo 1, la corrida queda en rojo y el cambio no se integra hasta corregirlo.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ci.yml propio se explica en tres campos.</a:t>
            </a:r>
          </a:p>
          <a:p>
            <a:pPr>
              <a:spcAft>
                <a:spcPts val="800"/>
              </a:spcAft>
            </a:pPr>
            <a:r>
              <a:rPr sz="2000" b="0" i="0">
                <a:solidFill>
                  <a:srgbClr val="333333"/>
                </a:solidFill>
                <a:latin typeface="Calibri"/>
              </a:rPr>
              <a:t>–   Y el tercero, el corazon del asunto: con que condicion el pipeline debe FALLAR.</a:t>
            </a:r>
          </a:p>
          <a:p>
            <a:pPr>
              <a:spcAft>
                <a:spcPts val="800"/>
              </a:spcAft>
            </a:pPr>
            <a:r>
              <a:rPr sz="2000" b="0" i="0">
                <a:solidFill>
                  <a:srgbClr val="333333"/>
                </a:solidFill>
                <a:latin typeface="Calibri"/>
              </a:rPr>
              <a:t>–   Un pipeline que no puede fallar nunca no sirve: un workflow cuyo unico paso imprime un mensaje de exito siempre sale verde, y un check que siempre sale verde no aporta ninguna informacion; es una decoracion.</a:t>
            </a:r>
          </a:p>
          <a:p>
            <a:pPr>
              <a:spcAft>
                <a:spcPts val="800"/>
              </a:spcAft>
            </a:pPr>
            <a:r>
              <a:rPr sz="2000" b="0" i="0">
                <a:solidFill>
                  <a:srgbClr val="333333"/>
                </a:solidFill>
                <a:latin typeface="Calibri"/>
              </a:rPr>
              <a:t>–   Los tres campos son: que se construye, que se prueba y que condicion vuelve rojo el pipeline.</a:t>
            </a:r>
          </a:p>
          <a:p>
            <a:pPr>
              <a:spcAft>
                <a:spcPts val="800"/>
              </a:spcAft>
            </a:pPr>
            <a:r>
              <a:rPr sz="2000" b="0" i="0">
                <a:solidFill>
                  <a:srgbClr val="333333"/>
                </a:solidFill>
                <a:latin typeface="Calibri"/>
              </a:rPr>
              <a:t>–   Un ejemplo de condicion real es: la corrida falla si npm test devuelve un codigo distinto de 0, por ejemplo cuando GET /health no responde 200.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turnos-api:${{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se declara como SIMULADO</a:t>
            </a:r>
          </a:p>
          <a:p>
            <a:pPr>
              <a:spcAft>
                <a:spcPts val="400"/>
              </a:spcAft>
            </a:pPr>
            <a:r>
              <a:rPr sz="1400" b="0" i="0">
                <a:solidFill>
                  <a:srgbClr val="FFFFFF"/>
                </a:solidFill>
                <a:latin typeface="Calibri"/>
              </a:rPr>
              <a:t>#       y el ultimo paso se rotula como tal. Decirlo es honesto;</a:t>
            </a:r>
          </a:p>
          <a:p>
            <a:pPr>
              <a:spcAft>
                <a:spcPts val="400"/>
              </a:spcAft>
            </a:pPr>
            <a:r>
              <a:rPr sz="1400" b="0" i="0">
                <a:solidFill>
                  <a:srgbClr val="FFFFFF"/>
                </a:solidFill>
                <a:latin typeface="Calibri"/>
              </a:rPr>
              <a:t>#       fingirlo es un error.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turnos-api:0.1.0.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turnos-api:0.1.0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la app.</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