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Workflow Actions (build/test/simulate) + métricas de monitoreo del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resta puntos.</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que se califican: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a:p>
            <a:pPr>
              <a:spcAft>
                <a:spcPts val="800"/>
              </a:spcAft>
            </a:pPr>
            <a:r>
              <a:rPr sz="2000" b="0" i="0">
                <a:solidFill>
                  <a:srgbClr val="333333"/>
                </a:solidFill>
                <a:latin typeface="Calibri"/>
              </a:rPr>
              <a:t>–   Lo que se califica hoy son 25 de los 100 puntos de la actividad del Corte 2, en cuatro preguntas: 10 puntos el contenido completo del ci.yml</a:t>
            </a:r>
          </a:p>
          <a:p>
            <a:pPr>
              <a:spcAft>
                <a:spcPts val="800"/>
              </a:spcAft>
            </a:pPr>
            <a:r>
              <a:rPr sz="2000" b="0" i="0">
                <a:solidFill>
                  <a:srgbClr val="333333"/>
                </a:solidFill>
                <a:latin typeface="Calibri"/>
              </a:rPr>
              <a:t>–   5 explicar que hace de verdad la construccion y la prueba y con que condicion el pipeline debe fallar, 4 distinguir CI de CD y ubicar hasta donde llego el propio trabajo, y 6 la tabla de senales de monitoreo con umbral.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Entrega continua significa que cada cambio que pasa la validacion queda listo para desplegarse, empaquetado y probado, pero un humano decide cuando se aprieta el boton.</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El pipeline llega hasta «listo para desplegar» y la etapa final imprime un mensaje y publica un artefacto en lugar de subir a un servidor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Su vocabulario tiene cinco palabras.</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7 no pide «un workflow»: pide tres bloques nombrados y tres pasos en orden, y el reparto de sus 10 puntos hay que dictarlo tal cual porque decide como se estudia.</a:t>
            </a:r>
          </a:p>
          <a:p>
            <a:pPr>
              <a:spcAft>
                <a:spcPts val="800"/>
              </a:spcAft>
            </a:pPr>
            <a:r>
              <a:rPr sz="2000" b="0" i="0">
                <a:solidFill>
                  <a:srgbClr val="333333"/>
                </a:solidFill>
                <a:latin typeface="Calibri"/>
              </a:rPr>
              <a:t>–   Dos puntos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Cuatro puntos, casi la mitad, son los tres PASOS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a:p>
            <a:pPr>
              <a:spcAft>
                <a:spcPts val="800"/>
              </a:spcAft>
            </a:pPr>
            <a:r>
              <a:rPr sz="2000" b="0" i="0">
                <a:solidFill>
                  <a:srgbClr val="333333"/>
                </a:solidFill>
                <a:latin typeface="Calibri"/>
              </a:rPr>
              <a:t>–   Falta la sancion, que conviene anunciar dos veces: la pregunta vale CERO completa si aparece un secreto escrito en claro dentro del YAML, sin importar lo bien que este el resto.</a:t>
            </a:r>
          </a:p>
          <a:p>
            <a:pPr>
              <a:spcAft>
                <a:spcPts val="800"/>
              </a:spcAft>
            </a:pPr>
            <a:r>
              <a:rPr sz="2000" b="0" i="0">
                <a:solidFill>
                  <a:srgbClr val="333333"/>
                </a:solidFill>
                <a:latin typeface="Calibri"/>
              </a:rPr>
              <a:t>–   Es la misma politica que el estudiante escribio en la pregunta 3 del Corte 2, y esta es la clase donde se comprueba si la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Se apoya en tres tipos de senal.</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no es teorica hoy: la pregunta 10 da un punto por que al menos una de las senales listadas sea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de la segunda mitad es una tabla de entre 4 y 6 filas, y el formato que califica la pregunta 10 tiene TRES columnas cuyos nombres hay que dictar: «Senal», «Que se mide en MI dominio» y «Umbral u objetivo».</a:t>
            </a:r>
          </a:p>
          <a:p>
            <a:pPr>
              <a:spcAft>
                <a:spcPts val="800"/>
              </a:spcAft>
            </a:pPr>
            <a:r>
              <a:rPr sz="2000" b="0" i="0">
                <a:solidFill>
                  <a:srgbClr val="333333"/>
                </a:solidFill>
                <a:latin typeface="Calibri"/>
              </a:rPr>
              <a:t>–   El reparto de sus 6 puntos es un punto por senal bien formada con su umbral hasta la cuarta, hasta un punto adicional entre las senales quinta y sexta, y un punto por que al menos una sea un registro.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tambien se califica: se descuenta si las senales no se refieren a operaciones del dominio propio, asi que «el sistema» no es una respuesta y «el listado de disponibilidad de canchas» o «el registro de una reserva» 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a:p>
            <a:pPr>
              <a:spcAft>
                <a:spcPts val="800"/>
              </a:spcAft>
            </a:pPr>
            <a:r>
              <a:rPr sz="2000" b="0" i="0">
                <a:solidFill>
                  <a:srgbClr val="333333"/>
                </a:solidFill>
                <a:latin typeface="Calibri"/>
              </a:rPr>
              <a:t>–   Ahi entra la optimizacion de la segunda mitad del tema: paginar, con veinte a cincuenta elementos por pagina, porque un endpoint que devuelve cincuenta mil registros es problema de latencia y de memoria; indexar la columna por la que se filtra</a:t>
            </a:r>
          </a:p>
          <a:p>
            <a:pPr>
              <a:spcAft>
                <a:spcPts val="800"/>
              </a:spcAft>
            </a:pPr>
            <a:r>
              <a:rPr sz="2000" b="0" i="0">
                <a:solidFill>
                  <a:srgbClr val="333333"/>
                </a:solidFill>
                <a:latin typeface="Calibri"/>
              </a:rPr>
              <a:t>–   Porque sin indice el motor recorre la tabla completa; cachear lecturas repetidas, donde una tasa de acierto del 90 por ciento significa que nueve de cada diez lecturas no llegan a la base</a:t>
            </a:r>
          </a:p>
          <a:p>
            <a:pPr>
              <a:spcAft>
                <a:spcPts val="800"/>
              </a:spcAft>
            </a:pPr>
            <a:r>
              <a:rPr sz="2000" b="0" i="0">
                <a:solidFill>
                  <a:srgbClr val="333333"/>
                </a:solidFill>
                <a:latin typeface="Calibri"/>
              </a:rPr>
              <a:t>–   Y limitar la tasa de peticiones, el control de denegacion de servicio de la Clase 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El workflow se dispara en push y en pull_request.</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a:p>
            <a:pPr>
              <a:spcAft>
                <a:spcPts val="800"/>
              </a:spcAft>
            </a:pPr>
            <a:r>
              <a:rPr sz="2000" b="0" i="0">
                <a:solidFill>
                  <a:srgbClr val="333333"/>
                </a:solidFill>
                <a:latin typeface="Calibri"/>
              </a:rPr>
              <a:t>–   La evidencia del entregable es doble: el archivo ci.yml en el repositorio y la captura de una corrida en verde con los nombres de los pasos visibles</a:t>
            </a:r>
          </a:p>
          <a:p>
            <a:pPr>
              <a:spcAft>
                <a:spcPts val="800"/>
              </a:spcAft>
            </a:pPr>
            <a:r>
              <a:rPr sz="2000" b="0" i="0">
                <a:solidFill>
                  <a:srgbClr val="333333"/>
                </a:solidFill>
                <a:latin typeface="Calibri"/>
              </a:rPr>
              <a:t>–   Si Actions falla por cuota o por red se acepta el YAML con la explicacion paso por paso, pero eso es plan B y hay que decir que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8 vale 5 puntos y no pregunta por CI en general: pregunta por el ci.yml del estudiante, en tres campos.</a:t>
            </a:r>
          </a:p>
          <a:p>
            <a:pPr>
              <a:spcAft>
                <a:spcPts val="800"/>
              </a:spcAft>
            </a:pPr>
            <a:r>
              <a:rPr sz="2000" b="0" i="0">
                <a:solidFill>
                  <a:srgbClr val="333333"/>
                </a:solidFill>
                <a:latin typeface="Calibri"/>
              </a:rPr>
              <a:t>–   Uno y medio, que se compila o se instala.</a:t>
            </a:r>
          </a:p>
          <a:p>
            <a:pPr>
              <a:spcAft>
                <a:spcPts val="800"/>
              </a:spcAft>
            </a:pPr>
            <a:r>
              <a:rPr sz="2000" b="0" i="0">
                <a:solidFill>
                  <a:srgbClr val="333333"/>
                </a:solidFill>
                <a:latin typeface="Calibri"/>
              </a:rPr>
              <a:t>–   Uno y medio, que se ejecuta en la prueba y que comprueba exactamente.</a:t>
            </a:r>
          </a:p>
          <a:p>
            <a:pPr>
              <a:spcAft>
                <a:spcPts val="800"/>
              </a:spcAft>
            </a:pPr>
            <a:r>
              <a:rPr sz="2000" b="0" i="0">
                <a:solidFill>
                  <a:srgbClr val="333333"/>
                </a:solidFill>
                <a:latin typeface="Calibri"/>
              </a:rPr>
              <a:t>–   Y dos puntos, el corazon de la pregunta, con que condicion el pipeline debe FALLAR.</a:t>
            </a:r>
          </a:p>
          <a:p>
            <a:pPr>
              <a:spcAft>
                <a:spcPts val="800"/>
              </a:spcAft>
            </a:pPr>
            <a:r>
              <a:rPr sz="2000" b="0" i="0">
                <a:solidFill>
                  <a:srgbClr val="333333"/>
                </a:solidFill>
                <a:latin typeface="Calibri"/>
              </a:rPr>
              <a:t>–   Ese ultimo campo vale CERO si el pipeline no puede fallar nunca, y hay que explicar por que no es una crueldad de la rubrica: un workflow cuyo unico paso imprime un mensaje de exito siempre sale verde</a:t>
            </a:r>
          </a:p>
          <a:p>
            <a:pPr>
              <a:spcAft>
                <a:spcPts val="800"/>
              </a:spcAft>
            </a:pPr>
            <a:r>
              <a:rPr sz="2000" b="0" i="0">
                <a:solidFill>
                  <a:srgbClr val="333333"/>
                </a:solidFill>
                <a:latin typeface="Calibri"/>
              </a:rPr>
              <a:t>–   Y un check que siempre sale verde no aporta ninguna informacion; es una decoracion.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respuesta no aparece en diez segundos, el pipeline no valida nada todavia.</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a:p>
            <a:pPr>
              <a:spcAft>
                <a:spcPts val="800"/>
              </a:spcAft>
            </a:pPr>
            <a:r>
              <a:rPr sz="2000" b="0" i="0">
                <a:solidFill>
                  <a:srgbClr val="333333"/>
                </a:solidFill>
                <a:latin typeface="Calibri"/>
              </a:rPr>
              <a:t>–   La respuesta es que una sola prueba que verifique que el endpoint /health responde 200 detecta la clase de error mas costosa en operacion</a:t>
            </a:r>
          </a:p>
          <a:p>
            <a:pPr>
              <a:spcAft>
                <a:spcPts val="800"/>
              </a:spcAft>
            </a:pPr>
            <a:r>
              <a:rPr sz="2000" b="0" i="0">
                <a:solidFill>
                  <a:srgbClr val="333333"/>
                </a:solidFill>
                <a:latin typeface="Calibri"/>
              </a:rPr>
              <a:t>–   Que la aplicacion ya no arranca; y con eso la condicion de fallo se escribe sola: el check sale rojo si /health deja de responder 200, si falta una dependencia declarada o si el docker build no compila.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El pipeline es tambien donde se ejecuta de verdad la politica de secretos escrita en la Clase 6.</a:t>
            </a:r>
          </a:p>
          <a:p>
            <a:pPr>
              <a:spcAft>
                <a:spcPts val="800"/>
              </a:spcAft>
            </a:pPr>
            <a:r>
              <a:rPr sz="1900" b="0" i="0">
                <a:solidFill>
                  <a:srgbClr val="333333"/>
                </a:solidFill>
                <a:latin typeface="Calibri"/>
              </a:rPr>
              <a:t>–   Los valores sensibles se guardan en el repositorio bajo Settings, Secrets and variables, Actions; el workflow los referencia por nombre y la plataforma los inyecta como variables de entorno solo durante la corrida.</a:t>
            </a:r>
          </a:p>
          <a:p>
            <a:pPr>
              <a:spcAft>
                <a:spcPts val="800"/>
              </a:spcAft>
            </a:pPr>
            <a:r>
              <a:rPr sz="1900" b="0" i="0">
                <a:solidFill>
                  <a:srgbClr val="333333"/>
                </a:solidFill>
                <a:latin typeface="Calibri"/>
              </a:rPr>
              <a:t>–   Dos detalles evitan sustos.</a:t>
            </a:r>
          </a:p>
          <a:p>
            <a:pPr>
              <a:spcAft>
                <a:spcPts val="800"/>
              </a:spcAft>
            </a:pPr>
            <a:r>
              <a:rPr sz="19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1900" b="0" i="0">
                <a:solidFill>
                  <a:srgbClr val="333333"/>
                </a:solidFill>
                <a:latin typeface="Calibri"/>
              </a:rPr>
              <a:t>–   Y por diseno los secretos no se entregan a las corridas disparadas por un pull_request que viene de un fork, para que un extrano no pueda proponer un cambio que los imprima.</a:t>
            </a:r>
          </a:p>
          <a:p>
            <a:pPr>
              <a:spcAft>
                <a:spcPts val="800"/>
              </a:spcAft>
            </a:pPr>
            <a:r>
              <a:rPr sz="19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a:p>
            <a:pPr>
              <a:spcAft>
                <a:spcPts val="800"/>
              </a:spcAft>
            </a:pPr>
            <a:r>
              <a:rPr sz="1900" b="0" i="0">
                <a:solidFill>
                  <a:srgbClr val="333333"/>
                </a:solidFill>
                <a:latin typeface="Calibri"/>
              </a:rPr>
              <a:t>–   Y el recordatorio de calificacion: un secreto en claro en el YAML no descuenta, anula la pregunta 7 entera.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Cuatro que aparecen todos los semestres.</a:t>
            </a:r>
          </a:p>
          <a:p>
            <a:pPr>
              <a:spcAft>
                <a:spcPts val="800"/>
              </a:spcAft>
            </a:pPr>
            <a:r>
              <a:rPr sz="2000" b="0" i="0">
                <a:solidFill>
                  <a:srgbClr val="333333"/>
                </a:solidFill>
                <a:latin typeface="Calibri"/>
              </a:rPr>
              <a:t>–   «Si no tenemos usuarios reales, que monitoreamos?» El entregable es el plan, no los datos: la pregunta pide que senales observaria en una produccion hipotetica, con sus umbrales.</a:t>
            </a:r>
          </a:p>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umbral justificado asi vale, aunque despues la medicion lo corrija.</a:t>
            </a:r>
          </a:p>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Es preferible una prueba real y pequena a tres pruebas inventadas que no se ejecutan, porque la pregunta 8 evalua si el pipeline puede fallar.</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hub_action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CI del PI</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.github/workflows/ci.yml + sección Monitoreo/CI del informe</a:t>
            </a:r>
          </a:p>
          <a:p>
            <a:pPr>
              <a:spcAft>
                <a:spcPts val="800"/>
              </a:spcAft>
            </a:pPr>
            <a:r>
              <a:rPr sz="2000" b="0" i="0">
                <a:solidFill>
                  <a:srgbClr val="333333"/>
                </a:solidFill>
                <a:latin typeface="Calibri"/>
              </a:rPr>
              <a:t>–   Herramienta: </a:t>
            </a:r>
            <a:r>
              <a:rPr sz="2000" b="1" i="0">
                <a:solidFill>
                  <a:srgbClr val="333333"/>
                </a:solidFill>
                <a:latin typeface="Calibri"/>
              </a:rPr>
              <a:t>GitHub Actions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escriba en la pregunta 7 el contenido completo del ci.yml con disparadores, entorno y los pasos de construccion, prueba y despliegue simulado, usando la imagen y el puerto del Dockerfile del Corte 1; verifique que ningun secreto quede escrito en claro dentro del YAML.</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8 que se compila o instala, que se ejecuta en la prueba y con que condicion el pipeline debe fallar; hagase la prueba mental de que error tendria que introducir para que el check salga rojo, y si no encuentra ninguno, su pipeline todavia no valida nada.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distinga en la pregunta 9 que valida CI y que hace CD, ubique cual de los dos construyo y diga que le faltaria para CD real; reconocer que su pipeline llega hasta «listo para desplegar» suma puntos, afirmar que ya tiene CD los resta.</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liste en la pregunta 10 entre 4 y 6 senales con su umbral, atadas a operaciones de su dominio, y verifique que al menos una sea un registro y no una metrica numerica; una senal sin umbral no sirve para operar y no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.github/workflows/ci.yml + sección Monitoreo/CI del informe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Workflow Actions (build/test/simulate) + métricas de monitoreo del PI</a:t>
            </a:r>
          </a:p>
          <a:p>
            <a:pPr algn="ctr">
              <a:spcAft>
                <a:spcPts val="600"/>
              </a:spcAft>
            </a:pPr>
            <a:r>
              <a:rPr sz="1600" b="0" i="0">
                <a:solidFill>
                  <a:srgbClr val="333333"/>
                </a:solidFill>
                <a:latin typeface="Calibri"/>
              </a:rPr>
              <a:t>Evidencia: .github/workflows/ci.yml + sección Monitoreo/CI del informe</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