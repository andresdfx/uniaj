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Hoy el docente no dicta, audita, y el estudiante no aprende un concepto, demuestra que los que ya tiene forman un sistema.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se audita con preguntas mecanicas que cualquier docente puede hacer sin ser experto en el dominio del proyecto, lo que hace esta tecnica ensenable.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Hay dos patologias con nombre propio que arruinan las sustentaciones.</a:t>
            </a:r>
          </a:p>
          <a:p/>
          <a:p>
            <a:r>
              <a:t>La respuesta correcta no es prohibir ideas sino congelar el alcance y abrir una lista de aparcamiento, un anexo donde las capacidades extra quedan escritas como "fuera de alcance v1, candidatas a v2": preserva la idea, protege el cronograma y es lo que hace un equipo profesional al cerrar un release.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docente debe apuntar a tres hallazgos por proyecto como maximo y marcar cual es el bloqueante, porque un estudiante que recibe once observaciones no corrige ninguna: se paraliza.</a:t>
            </a:r>
          </a:p>
          <a:p/>
          <a:p>
            <a:r>
              <a:t>Conviene nombrar tambien una fortaleza concreta, no por amabilidad sino porque el estudiante necesita saber que conservar; si solo escucha fallas, en la siguiente version cambia todo, incluido lo que estaba bien.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preguntas se repiten y el docente debe responderlas sin titubear.</a:t>
            </a:r>
          </a:p>
          <a:p/>
          <a:p>
            <a:r>
              <a:t>Conviene cerrar diciendo que lo que se estabilice hoy es la base sobre la que la Clase 12 agregara el analisis de rendimiento y la Clase 13 la politica de escalado, y que un proyecto con el paquete v1 incoherente no puede hacer ninguna de las dos, porque no se puede medir ni escalar un sistema que todavia no esta definido.</a:t>
            </a:r>
          </a:p>
          <a:p/>
          <a:p>
            <a:r>
              <a:t>(Sobre la actividad, no se proyecta) La primera es si esto se califica; la respuesta honesta es que este checkpoint no es la sustentacion final, que ocurre en la Clase 15, ni el Parcial 3, que es la evaluacion escrita de la Clase 14, y que hoy se registra estado y compromisos, pero el acta es el insumo con el que se mirara la entrega final: un gap senalado hoy y no cerrado pesa mucho mas que uno que aparecio despues.</a:t>
            </a:r>
          </a:p>
          <a:p/>
          <a:p>
            <a:r>
              <a:t>(Sobre la actividad, no se proyecta) La segunda es por que revisa un companero si el que califica es el docente, y la respuesta es que la revision por pares es practica estandar en la industria y que su valor no esta en el juicio del par sino en la obligacion de explicar; ademas el par pregunta lo que el docente ya asume, y esas son justo las preguntas que llegan en un Q&amp;A real.</a:t>
            </a:r>
          </a:p>
          <a:p/>
          <a:p>
            <a:r>
              <a:t>(Sobre la actividad, no se proyecta) La tercera, la mas delicada, es si cambiar el diagrama ahora significa perder el trabajo hecho, y la respuesta debe ser tajante: no, porque el artefacto no es el entregable, la decision documentada lo es; un diagrama corregido con una nota de por que cambio vale mas que uno intacto, y ese cambio justificado es exactamente lo que un ADR registra.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11</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Avance del proyecto final</a:t>
            </a:r>
          </a:p>
          <a:p>
            <a:pPr algn="ctr">
              <a:spcBef>
                <a:spcPts val="800"/>
              </a:spcBef>
            </a:pPr>
            <a:r>
              <a:rPr sz="1500" b="0" i="0">
                <a:solidFill>
                  <a:srgbClr val="269CCB"/>
                </a:solidFill>
                <a:latin typeface="Calibri"/>
              </a:rPr>
              <a:t>Checkpoint diagramas v1 CloudLite</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sesión </a:t>
            </a:r>
            <a:r>
              <a:rPr sz="1500" b="1" i="0">
                <a:solidFill>
                  <a:srgbClr val="333333"/>
                </a:solidFill>
                <a:latin typeface="Calibri"/>
              </a:rPr>
              <a:t>virtual síncrona</a:t>
            </a:r>
            <a:r>
              <a:rPr sz="1500" b="0" i="0">
                <a:solidFill>
                  <a:srgbClr val="333333"/>
                </a:solidFill>
                <a:latin typeface="Calibri"/>
              </a:rPr>
              <a:t> por Google Meet.</a:t>
            </a:r>
          </a:p>
          <a:p>
            <a:pPr>
              <a:spcAft>
                <a:spcPts val="800"/>
              </a:spcAft>
            </a:pPr>
            <a:r>
              <a:rPr sz="1500" b="0" i="0">
                <a:solidFill>
                  <a:srgbClr val="333333"/>
                </a:solidFill>
                <a:latin typeface="Calibri"/>
              </a:rPr>
              <a:t>Conceptos del tema, ejemplos resueltos sobre CloudLite y cierre conceptual.</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del tema y objetivos de la clase.</a:t>
            </a:r>
          </a:p>
          <a:p>
            <a:pPr>
              <a:spcAft>
                <a:spcPts val="800"/>
              </a:spcAft>
            </a:pPr>
            <a:r>
              <a:rPr sz="2000" b="1" i="0">
                <a:solidFill>
                  <a:srgbClr val="333333"/>
                </a:solidFill>
                <a:latin typeface="Calibri"/>
              </a:rPr>
              <a:t>10–70</a:t>
            </a:r>
            <a:r>
              <a:rPr sz="2000" b="0" i="0">
                <a:solidFill>
                  <a:srgbClr val="333333"/>
                </a:solidFill>
                <a:latin typeface="Calibri"/>
              </a:rPr>
              <a:t> Conceptos del tema, uno por lámina, con ejemplos sobre CloudLite.</a:t>
            </a:r>
          </a:p>
          <a:p>
            <a:pPr>
              <a:spcAft>
                <a:spcPts val="800"/>
              </a:spcAft>
            </a:pPr>
            <a:r>
              <a:rPr sz="2000" b="0" i="0">
                <a:solidFill>
                  <a:srgbClr val="333333"/>
                </a:solidFill>
                <a:latin typeface="Calibri"/>
              </a:rPr>
              <a:t>–   </a:t>
            </a:r>
            <a:r>
              <a:rPr sz="2000" b="1" i="0">
                <a:solidFill>
                  <a:srgbClr val="333333"/>
                </a:solidFill>
                <a:latin typeface="Calibri"/>
              </a:rPr>
              <a:t>70–100</a:t>
            </a:r>
            <a:r>
              <a:rPr sz="2000" b="0" i="0">
                <a:solidFill>
                  <a:srgbClr val="333333"/>
                </a:solidFill>
                <a:latin typeface="Calibri"/>
              </a:rPr>
              <a:t> Ejemplos resueltos y demo del docente sobre el tema.</a:t>
            </a:r>
          </a:p>
          <a:p>
            <a:pPr>
              <a:spcAft>
                <a:spcPts val="800"/>
              </a:spcAft>
            </a:pPr>
            <a:r>
              <a:rPr sz="2000" b="1" i="0">
                <a:solidFill>
                  <a:srgbClr val="333333"/>
                </a:solidFill>
                <a:latin typeface="Calibri"/>
              </a:rPr>
              <a:t>100–115</a:t>
            </a:r>
            <a:r>
              <a:rPr sz="2000" b="0" i="0">
                <a:solidFill>
                  <a:srgbClr val="333333"/>
                </a:solidFill>
                <a:latin typeface="Calibri"/>
              </a:rPr>
              <a:t> Práctica (opcional, guía en la carpeta de la clase).</a:t>
            </a:r>
          </a:p>
          <a:p>
            <a:pPr>
              <a:spcAft>
                <a:spcPts val="800"/>
              </a:spcAft>
            </a:pPr>
            <a:r>
              <a:rPr sz="2000" b="1" i="0">
                <a:solidFill>
                  <a:srgbClr val="333333"/>
                </a:solidFill>
                <a:latin typeface="Calibri"/>
              </a:rPr>
              <a:t>115–120</a:t>
            </a:r>
            <a:r>
              <a:rPr sz="2000" b="0" i="0">
                <a:solidFill>
                  <a:srgbClr val="333333"/>
                </a:solidFill>
                <a:latin typeface="Calibri"/>
              </a:rPr>
              <a:t> Preguntas y cierre conceptual.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Consolidar evidencias PI en un paquete revisable.</a:t>
            </a:r>
          </a:p>
          <a:p>
            <a:pPr>
              <a:spcAft>
                <a:spcPts val="800"/>
              </a:spcAft>
            </a:pPr>
            <a:r>
              <a:rPr sz="2000" b="0" i="0">
                <a:solidFill>
                  <a:srgbClr val="333333"/>
                </a:solidFill>
                <a:latin typeface="Calibri"/>
              </a:rPr>
              <a:t>–   Detectar huecos (nombres inconsistentes, servicios de más, sin seguridad).</a:t>
            </a:r>
          </a:p>
          <a:p>
            <a:pPr>
              <a:spcAft>
                <a:spcPts val="800"/>
              </a:spcAft>
            </a:pPr>
            <a:r>
              <a:rPr sz="2000" b="0" i="0">
                <a:solidFill>
                  <a:srgbClr val="333333"/>
                </a:solidFill>
                <a:latin typeface="Calibri"/>
              </a:rPr>
              <a:t>–   Salir con backlog claro hacia Clase 12/15.</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Errores frecuentes a corregir</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Microservicios teatro · nombres distintos entre diagramas · secretos en imagen.</a:t>
            </a:r>
          </a:p>
          <a:p>
            <a:pPr>
              <a:spcAft>
                <a:spcPts val="800"/>
              </a:spcAft>
            </a:pPr>
            <a:r>
              <a:rPr sz="2000" b="0" i="0">
                <a:solidFill>
                  <a:srgbClr val="333333"/>
                </a:solidFill>
                <a:latin typeface="Calibri"/>
              </a:rPr>
              <a:t>–   CI sin tests · diagrama sin puertos · dominio infinito.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teoria propia del dia: que es una revision de arquitectura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Esta clase no introduce teoria de un tema tecnico nuevo, y eso es deliberado, pero si tiene teoria propia: la teoria de la revision y la evaluacion.</a:t>
            </a:r>
          </a:p>
          <a:p>
            <a:pPr>
              <a:spcAft>
                <a:spcPts val="800"/>
              </a:spcAft>
            </a:pPr>
            <a:r>
              <a:rPr sz="2000" b="0" i="0">
                <a:solidFill>
                  <a:srgbClr val="333333"/>
                </a:solidFill>
                <a:latin typeface="Calibri"/>
              </a:rPr>
              <a:t>–   Una revision de arquitectura, en ingles architecture review, es una practica profesional formal en la que alguien distinto de quien diseno el sistema examina el diseno antes de que este construido, buscando riesgos y decisiones sin justificar.</a:t>
            </a:r>
          </a:p>
          <a:p>
            <a:pPr>
              <a:spcAft>
                <a:spcPts val="800"/>
              </a:spcAft>
            </a:pPr>
            <a:r>
              <a:rPr sz="2000" b="0" i="0">
                <a:solidFill>
                  <a:srgbClr val="333333"/>
                </a:solidFill>
                <a:latin typeface="Calibri"/>
              </a:rPr>
              <a:t>–   Existe en la industria con nombres concretos: ATAM en su version academica, design review o RFC review en empresas de producto, comite de arquitectura en organizaciones grandes.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teoria propia del dia: que es una revision de arquitectura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Todas comparten la premisa economica que sostiene el curso: un riesgo detectado en el diseno cuesta una fraccion de lo que cuesta cuando ya esta implementado y con usuarios encima.</a:t>
            </a:r>
          </a:p>
          <a:p>
            <a:pPr>
              <a:spcAft>
                <a:spcPts val="800"/>
              </a:spcAft>
            </a:pPr>
            <a:r>
              <a:rPr sz="2000" b="0" i="0">
                <a:solidFill>
                  <a:srgbClr val="333333"/>
                </a:solidFill>
                <a:latin typeface="Calibri"/>
              </a:rPr>
              <a:t>–   La revision no juzga si el diagrama es bonito; busca tres cosas: decisiones sin argumento, incoherencias entre artefactos y riesgos que nadie ha nombrado.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insumo: las seis piezas del paquete CloudLite v1</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insumo es el paquete CloudLite v1, que a estas alturas debe tener seis piezas producidas antes: el C4 de Contexto de la Clase 1, el C4 de Contenedores de la Clase 4, el modelo de amenazas con controles de la Clase 6</a:t>
            </a:r>
          </a:p>
          <a:p>
            <a:pPr>
              <a:spcAft>
                <a:spcPts val="800"/>
              </a:spcAft>
            </a:pPr>
            <a:r>
              <a:rPr sz="2000" b="0" i="0">
                <a:solidFill>
                  <a:srgbClr val="333333"/>
                </a:solidFill>
                <a:latin typeface="Calibri"/>
              </a:rPr>
              <a:t>–   El diagrama de despliegue con zonas publica y privada de la Clase 7, el workflow de GitHub Actions y las metricas de monitoreo de la Clase 8, y la tabla de costos con drivers y right-sizing de la Clase 10.</a:t>
            </a:r>
          </a:p>
          <a:p>
            <a:pPr>
              <a:spcAft>
                <a:spcPts val="800"/>
              </a:spcAft>
            </a:pPr>
            <a:r>
              <a:rPr sz="2000" b="0" i="0">
                <a:solidFill>
                  <a:srgbClr val="333333"/>
                </a:solidFill>
                <a:latin typeface="Calibri"/>
              </a:rPr>
              <a:t>–   El criterio central de auditoria se llama trazabilidad: la propiedad de que un elemento se pueda seguir de un artefacto al siguiente sin cambiar de nombre ni desaparecer.</a:t>
            </a:r>
          </a:p>
          <a:p>
            <a:pPr>
              <a:spcAft>
                <a:spcPts val="800"/>
              </a:spcAft>
            </a:pPr>
            <a:r>
              <a:rPr sz="2000" b="0" i="0">
                <a:solidFill>
                  <a:srgbClr val="333333"/>
                </a:solidFill>
                <a:latin typeface="Calibri"/>
              </a:rPr>
              <a:t>–   No es una formalidad burocratica, es el unico detector confiable de que el estudiante penso el sistema en vez de producir seis tareas independientes para seis notas distintas.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cinco preguntas de coherencia, en orden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Las preguntas de coherencia, aplicadas a CloudLite, son cinco y conviene hacerlas en orden.</a:t>
            </a:r>
          </a:p>
          <a:p>
            <a:pPr>
              <a:spcAft>
                <a:spcPts val="800"/>
              </a:spcAft>
            </a:pPr>
            <a:r>
              <a:rPr sz="2000" b="0" i="0">
                <a:solidFill>
                  <a:srgbClr val="333333"/>
                </a:solidFill>
                <a:latin typeface="Calibri"/>
              </a:rPr>
              <a:t>–   Primera: cada contenedor del C4 de la Clase 4 aparece en el diagrama de despliegue de la Clase 7 y con el mismo nombre</a:t>
            </a:r>
          </a:p>
          <a:p>
            <a:pPr>
              <a:spcAft>
                <a:spcPts val="800"/>
              </a:spcAft>
            </a:pPr>
            <a:r>
              <a:rPr sz="2000" b="0" i="0">
                <a:solidFill>
                  <a:srgbClr val="333333"/>
                </a:solidFill>
                <a:latin typeface="Calibri"/>
              </a:rPr>
              <a:t>–   Si el C4 dice "servicio de notificaciones" y el despliegue dice "worker de correos", o son la misma cosa mal nombrada o son dos cosas y falta una.</a:t>
            </a:r>
          </a:p>
          <a:p>
            <a:pPr>
              <a:spcAft>
                <a:spcPts val="800"/>
              </a:spcAft>
            </a:pPr>
            <a:r>
              <a:rPr sz="2000" b="0" i="0">
                <a:solidFill>
                  <a:srgbClr val="333333"/>
                </a:solidFill>
                <a:latin typeface="Calibri"/>
              </a:rPr>
              <a:t>–   Segunda: cada actor y sistema externo del diagrama de Contexto sigue existiendo</a:t>
            </a:r>
          </a:p>
          <a:p>
            <a:pPr>
              <a:spcAft>
                <a:spcPts val="800"/>
              </a:spcAft>
            </a:pPr>
            <a:r>
              <a:rPr sz="2000" b="0" i="0">
                <a:solidFill>
                  <a:srgbClr val="333333"/>
                </a:solidFill>
                <a:latin typeface="Calibri"/>
              </a:rPr>
              <a:t>–   El caso frecuente es que el estudiante dibujo en la Clase 1 una pasarela de pagos y hoy ningun contenedor habla con ella, asi que o desaparecio del alcance y hay que borrarla o esta olvidada y es un hueco.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cinco preguntas de coherencia, en orden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Tercera: cada amenaza del modelo STRIDE de la Clase 6 tiene un control visible en el despliegue; si la amenaza es acceso no autorizado a la base de datos y el diagrama la muestra en la subred publica, el control existe en el documento y no en el diseno.</a:t>
            </a:r>
          </a:p>
          <a:p>
            <a:pPr>
              <a:spcAft>
                <a:spcPts val="800"/>
              </a:spcAft>
            </a:pPr>
            <a:r>
              <a:rPr sz="2000" b="0" i="0">
                <a:solidFill>
                  <a:srgbClr val="333333"/>
                </a:solidFill>
                <a:latin typeface="Calibri"/>
              </a:rPr>
              <a:t>–   Cuarta: los componentes de la tabla de costos de la Clase 10 son los mismos contenedores, no una lista inventada.</a:t>
            </a:r>
          </a:p>
          <a:p>
            <a:pPr>
              <a:spcAft>
                <a:spcPts val="800"/>
              </a:spcAft>
            </a:pPr>
            <a:r>
              <a:rPr sz="2000" b="0" i="0">
                <a:solidFill>
                  <a:srgbClr val="333333"/>
                </a:solidFill>
                <a:latin typeface="Calibri"/>
              </a:rPr>
              <a:t>–   Quinta: el workflow de Actions se ejecuto al menos una vez con resultado visible, porque un archivo YAML que nunca corrio es una intencion, no evidencia.</a:t>
            </a:r>
          </a:p>
          <a:p>
            <a:pPr>
              <a:spcAft>
                <a:spcPts val="800"/>
              </a:spcAft>
            </a:pPr>
            <a:r>
              <a:rPr sz="2000" b="0" i="0">
                <a:solidFill>
                  <a:srgbClr val="333333"/>
                </a:solidFill>
                <a:latin typeface="Calibri"/>
              </a:rPr>
              <a:t>–   Ese es el nucleo del acta: no una nota, sino cuales de estas cinco cadenas estan rotas en cada proyecto.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Scope creep y arquitectura de papel: las dos patologias con nombre propio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primera es el scope creep, el crecimiento no controlado del alcance: el sistema suma capacidades clase por clase, cada una razonable por si misma, hasta que el proyecto tiene un alcance que no se puede documentar ni defender en el tiempo restante.</a:t>
            </a:r>
          </a:p>
          <a:p>
            <a:pPr>
              <a:spcAft>
                <a:spcPts val="800"/>
              </a:spcAft>
            </a:pPr>
            <a:r>
              <a:rPr sz="2000" b="0" i="0">
                <a:solidFill>
                  <a:srgbClr val="333333"/>
                </a:solidFill>
                <a:latin typeface="Calibri"/>
              </a:rPr>
              <a:t>–   Se detecta con un dato objetivo, no con intuicion: en la Clase 1 cada estudiante definio entre tres y cinco capacidades para CloudLite, asi que basta contar las de hoy y compararlas con esa linea base</a:t>
            </a:r>
          </a:p>
          <a:p>
            <a:pPr>
              <a:spcAft>
                <a:spcPts val="800"/>
              </a:spcAft>
            </a:pPr>
            <a:r>
              <a:rPr sz="2000" b="0" i="0">
                <a:solidFill>
                  <a:srgbClr val="333333"/>
                </a:solidFill>
                <a:latin typeface="Calibri"/>
              </a:rPr>
              <a:t>–   Si eran cuatro y hoy son nueve, hay scope creep, y da igual que las nuevas suenen interesantes.</a:t>
            </a:r>
          </a:p>
          <a:p>
            <a:pPr>
              <a:spcAft>
                <a:spcPts val="800"/>
              </a:spcAft>
            </a:pPr>
            <a:r>
              <a:rPr sz="2000" b="0" i="0">
                <a:solidFill>
                  <a:srgbClr val="333333"/>
                </a:solidFill>
                <a:latin typeface="Calibri"/>
              </a:rPr>
              <a:t>–   La segunda patologia es el teatro de microservicios: servicios separados en el diagrama que en la practica no son unidades independientes.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Scope creep y arquitectura de papel: las dos patologias con nombre propio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 detecta con cuatro preguntas de una linea, todas respondibles por el estudiante: se puede desplegar ese servicio sin desplegar los otros, tiene sus propios datos o comparte tablas con el vecino, puede fallar sin tumbar a los demas</a:t>
            </a:r>
          </a:p>
          <a:p>
            <a:pPr>
              <a:spcAft>
                <a:spcPts val="800"/>
              </a:spcAft>
            </a:pPr>
            <a:r>
              <a:rPr sz="2000" b="0" i="0">
                <a:solidFill>
                  <a:srgbClr val="333333"/>
                </a:solidFill>
                <a:latin typeface="Calibri"/>
              </a:rPr>
              <a:t>–   Y existe una razon de negocio por la que cambiaria en un momento distinto al resto.</a:t>
            </a:r>
          </a:p>
          <a:p>
            <a:pPr>
              <a:spcAft>
                <a:spcPts val="800"/>
              </a:spcAft>
            </a:pPr>
            <a:r>
              <a:rPr sz="2000" b="0" i="0">
                <a:solidFill>
                  <a:srgbClr val="333333"/>
                </a:solidFill>
                <a:latin typeface="Calibri"/>
              </a:rPr>
              <a:t>–   En CloudLite el caso clasico es el "servicio de autenticacion" dibujado como caja aparte que en el repositorio es un modulo dentro de la misma API, escribe en las mismas tablas y se despliega en el mismo contenedor.</a:t>
            </a:r>
          </a:p>
          <a:p>
            <a:pPr>
              <a:spcAft>
                <a:spcPts val="800"/>
              </a:spcAft>
            </a:pPr>
            <a:r>
              <a:rPr sz="2000" b="0" i="0">
                <a:solidFill>
                  <a:srgbClr val="333333"/>
                </a:solidFill>
                <a:latin typeface="Calibri"/>
              </a:rPr>
              <a:t>–   No es un microservicio, es un modulo, y decirlo no castiga al estudiante: corrige el vocabulario antes del Parcial 3, donde esa distincion se evalua.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Retroalimentacion accionable: observacion, evidencia, impacto y accion con fecha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retroalimentacion es la mitad del valor del dia y tiene tecnica propia.</a:t>
            </a:r>
          </a:p>
          <a:p>
            <a:pPr>
              <a:spcAft>
                <a:spcPts val="800"/>
              </a:spcAft>
            </a:pPr>
            <a:r>
              <a:rPr sz="2000" b="0" i="0">
                <a:solidFill>
                  <a:srgbClr val="333333"/>
                </a:solidFill>
                <a:latin typeface="Calibri"/>
              </a:rPr>
              <a:t>–   Una retroalimentacion accionable tiene cuatro partes: observacion, evidencia, impacto y accion con fecha. "Falta seguridad" no cumple ninguna. "En el diagrama de despliegue la base de datos esta en la subred publica</a:t>
            </a:r>
          </a:p>
          <a:p>
            <a:pPr>
              <a:spcAft>
                <a:spcPts val="800"/>
              </a:spcAft>
            </a:pPr>
            <a:r>
              <a:rPr sz="2000" b="0" i="0">
                <a:solidFill>
                  <a:srgbClr val="333333"/>
                </a:solidFill>
                <a:latin typeface="Calibri"/>
              </a:rPr>
              <a:t>–   Contradice el control que ustedes escribieron para la amenaza de acceso no autorizado</a:t>
            </a:r>
          </a:p>
          <a:p>
            <a:pPr>
              <a:spcAft>
                <a:spcPts val="800"/>
              </a:spcAft>
            </a:pPr>
            <a:r>
              <a:rPr sz="2000" b="0" i="0">
                <a:solidFill>
                  <a:srgbClr val="333333"/>
                </a:solidFill>
                <a:latin typeface="Calibri"/>
              </a:rPr>
              <a:t>–   Si lo sustentan asi en la Clase 15 el evaluador concluira que el modelo de amenazas se escribio sin mirar el diagrama; muevanla a subred privada y dejen solo la API expuesta, antes de la Clase 12" cumple las cuatro.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Retroalimentacion accionable: observacion, evidencia, impacto y accion con fecha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la revision entre pares cumple una funcion que la del docente no puede: explicarle el sistema a otro estudiante obliga a verbalizar decisiones que nunca se dijeron en voz alta, y ahi el propio autor descubre sus huecos.</a:t>
            </a:r>
          </a:p>
          <a:p>
            <a:pPr>
              <a:spcAft>
                <a:spcPts val="800"/>
              </a:spcAft>
            </a:pPr>
            <a:r>
              <a:rPr sz="2000" b="0" i="0">
                <a:solidFill>
                  <a:srgbClr val="333333"/>
                </a:solidFill>
                <a:latin typeface="Calibri"/>
              </a:rPr>
              <a:t>–   El formato eficiente es de siete a ocho minutos por proyecto, con reloj visible, y el revisor asignado (otro estudiante, u otro equipo si el docente los autorizo) entregando por escrito una observacion y una pregunta.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semaforo: el umbral que decide si el proyecto va a tiempo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Falta el criterio para decidir si un proyecto va a tiempo, y aqui el docente necesita un umbral y no una impresion.</a:t>
            </a:r>
          </a:p>
          <a:p>
            <a:pPr>
              <a:spcAft>
                <a:spcPts val="800"/>
              </a:spcAft>
            </a:pPr>
            <a:r>
              <a:rPr sz="2000" b="0" i="0">
                <a:solidFill>
                  <a:srgbClr val="333333"/>
                </a:solidFill>
                <a:latin typeface="Calibri"/>
              </a:rPr>
              <a:t>–   Con seis artefactos esperados la regla practica es un semaforo: verde si estan los seis y a lo sumo una cadena de trazabilidad rota</a:t>
            </a:r>
          </a:p>
          <a:p>
            <a:pPr>
              <a:spcAft>
                <a:spcPts val="800"/>
              </a:spcAft>
            </a:pPr>
            <a:r>
              <a:rPr sz="2000" b="0" i="0">
                <a:solidFill>
                  <a:srgbClr val="333333"/>
                </a:solidFill>
                <a:latin typeface="Calibri"/>
              </a:rPr>
              <a:t>–   Amarillo si hay cinco de seis, o dos o tres cadenas rotas pero corregibles editando documentos; rojo si falta el C4 de Contenedores o el diagrama de despliegue</a:t>
            </a:r>
          </a:p>
          <a:p>
            <a:pPr>
              <a:spcAft>
                <a:spcPts val="800"/>
              </a:spcAft>
            </a:pPr>
            <a:r>
              <a:rPr sz="2000" b="0" i="0">
                <a:solidFill>
                  <a:srgbClr val="333333"/>
                </a:solidFill>
                <a:latin typeface="Calibri"/>
              </a:rPr>
              <a:t>–   Que son la columna vertebral y sin los cuales el resto no se puede evaluar, o si el repositorio no existe.</a:t>
            </a:r>
          </a:p>
          <a:p>
            <a:pPr>
              <a:spcAft>
                <a:spcPts val="800"/>
              </a:spcAft>
            </a:pPr>
            <a:r>
              <a:rPr sz="2000" b="0" i="0">
                <a:solidFill>
                  <a:srgbClr val="333333"/>
                </a:solidFill>
                <a:latin typeface="Calibri"/>
              </a:rPr>
              <a:t>–   El umbral de seis no es una ley de la ingenieria, es la contabilidad de este curso, y decirlo asi evita que el estudiante lo memorice como estandar internacional.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semaforo: el umbral que decide si el proyecto va a tiempo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 transferible es la idea de fondo: un checkpoint se evalua por evidencia presente, no por promesas.</a:t>
            </a:r>
          </a:p>
          <a:p>
            <a:pPr>
              <a:spcAft>
                <a:spcPts val="800"/>
              </a:spcAft>
            </a:pPr>
            <a:r>
              <a:rPr sz="2000" b="0" i="0">
                <a:solidFill>
                  <a:srgbClr val="333333"/>
                </a:solidFill>
                <a:latin typeface="Calibri"/>
              </a:rPr>
              <a:t>–   Cuando un estudiante dice "eso ya lo tenemos, solo falta subirlo", el estado es amarillo y el acta lo registra con fecha de cierre; no es desconfianza, es que en un proyecto lo que no esta en el repositorio no existe.</a:t>
            </a:r>
          </a:p>
          <a:p>
            <a:pPr>
              <a:spcAft>
                <a:spcPts val="800"/>
              </a:spcAft>
            </a:pPr>
            <a:r>
              <a:rPr sz="2000" b="0" i="0">
                <a:solidFill>
                  <a:srgbClr val="333333"/>
                </a:solidFill>
                <a:latin typeface="Calibri"/>
              </a:rPr>
              <a:t>–   Para un proyecto en rojo el plan de recuperacion debe reducir alcance, nunca agregar trabajo: menos capacidades, menos servicios, y toda la energia en las dos piezas que faltan.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Error tipico del docente que no domina el tema: dejar pasar el checkpoint con un "todo bien, sigan asi".</a:t>
            </a:r>
          </a:p>
          <a:p>
            <a:pPr>
              <a:spcAft>
                <a:spcPts val="800"/>
              </a:spcAft>
            </a:pPr>
            <a:r>
              <a:rPr sz="2000" b="0" i="0">
                <a:solidFill>
                  <a:srgbClr val="333333"/>
                </a:solidFill>
                <a:latin typeface="Calibri"/>
              </a:rPr>
              <a:t>–   La consecuencia no se ve hoy, se ve en la Clase 15, cuando varios estudiantes sustentan con la base de datos expuesta, con servicios que no son servicios y con nueve capacidades que nunca cerraron</a:t>
            </a:r>
          </a:p>
          <a:p>
            <a:pPr>
              <a:spcAft>
                <a:spcPts val="800"/>
              </a:spcAft>
            </a:pPr>
            <a:r>
              <a:rPr sz="2000" b="0" i="0">
                <a:solidFill>
                  <a:srgbClr val="333333"/>
                </a:solidFill>
                <a:latin typeface="Calibri"/>
              </a:rPr>
              <a:t>–   Y el docente descubre que las tenia todas a la vista un mes antes; ademas el estudiante interpreta el silencio como aprobacion, asi que el error queda ratificado y luego reclama con razon que nadie se lo advirtio.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segundo error es convertir el checkpoint en clase magistral: cuando el docente detecta un vacio conceptual y se pone a reexplicar contenedores o STRIDE durante veinte minutos</a:t>
            </a:r>
          </a:p>
          <a:p>
            <a:pPr>
              <a:spcAft>
                <a:spcPts val="800"/>
              </a:spcAft>
            </a:pPr>
            <a:r>
              <a:rPr sz="2000" b="0" i="0">
                <a:solidFill>
                  <a:srgbClr val="333333"/>
                </a:solidFill>
                <a:latin typeface="Calibri"/>
              </a:rPr>
              <a:t>–   Se consume el tiempo de los estudiantes que faltan, la mitad del curso queda sin retroalimentacion y el acta sale a medias.</a:t>
            </a:r>
          </a:p>
          <a:p>
            <a:pPr>
              <a:spcAft>
                <a:spcPts val="800"/>
              </a:spcAft>
            </a:pPr>
            <a:r>
              <a:rPr sz="2000" b="0" i="0">
                <a:solidFill>
                  <a:srgbClr val="333333"/>
                </a:solidFill>
                <a:latin typeface="Calibri"/>
              </a:rPr>
              <a:t>–   Lo correcto es anotar el vacio, dar la accion concreta con fecha y seguir; si el vacio es general al grupo, se atiende en cinco minutos al cierre para todos, no proyecto por proyecto.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C4 Component: por dentro de la API</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371"/>
              </a:spcAft>
            </a:pPr>
            <a:r>
              <a:rPr sz="1300" b="0" i="0">
                <a:solidFill>
                  <a:srgbClr val="FFFFFF"/>
                </a:solidFill>
                <a:latin typeface="Calibri"/>
              </a:rPr>
              <a:t>flowchart TB</a:t>
            </a:r>
          </a:p>
          <a:p>
            <a:pPr>
              <a:spcAft>
                <a:spcPts val="371"/>
              </a:spcAft>
            </a:pPr>
            <a:r>
              <a:rPr sz="1300" b="0" i="0">
                <a:solidFill>
                  <a:srgbClr val="FFFFFF"/>
                </a:solidFill>
                <a:latin typeface="Calibri"/>
              </a:rPr>
              <a:t>  subgraph api[API REST de CloudLite - Node + Express]</a:t>
            </a:r>
          </a:p>
          <a:p>
            <a:pPr>
              <a:spcAft>
                <a:spcPts val="371"/>
              </a:spcAft>
            </a:pPr>
            <a:r>
              <a:rPr sz="1300" b="0" i="0">
                <a:solidFill>
                  <a:srgbClr val="FFFFFF"/>
                </a:solidFill>
                <a:latin typeface="Calibri"/>
              </a:rPr>
              <a:t>    rutas[Capa de rutas&lt;br/&gt;valida entrada y responde HTTP]</a:t>
            </a:r>
          </a:p>
          <a:p>
            <a:pPr>
              <a:spcAft>
                <a:spcPts val="371"/>
              </a:spcAft>
            </a:pPr>
            <a:r>
              <a:rPr sz="1300" b="0" i="0">
                <a:solidFill>
                  <a:srgbClr val="FFFFFF"/>
                </a:solidFill>
                <a:latin typeface="Calibri"/>
              </a:rPr>
              <a:t>    servicio[Servicio de dominio&lt;br/&gt;reglas de &lt;su dominio&gt;]</a:t>
            </a:r>
          </a:p>
          <a:p>
            <a:pPr>
              <a:spcAft>
                <a:spcPts val="371"/>
              </a:spcAft>
            </a:pPr>
            <a:r>
              <a:rPr sz="1300" b="0" i="0">
                <a:solidFill>
                  <a:srgbClr val="FFFFFF"/>
                </a:solidFill>
                <a:latin typeface="Calibri"/>
              </a:rPr>
              <a:t>    repo[Repositorio&lt;br/&gt;consultas SQL]</a:t>
            </a:r>
          </a:p>
          <a:p>
            <a:pPr>
              <a:spcAft>
                <a:spcPts val="371"/>
              </a:spcAft>
            </a:pPr>
            <a:r>
              <a:rPr sz="1300" b="0" i="0">
                <a:solidFill>
                  <a:srgbClr val="FFFFFF"/>
                </a:solidFill>
                <a:latin typeface="Calibri"/>
              </a:rPr>
              <a:t>    auth[Autenticacion&lt;br/&gt;verifica el token]</a:t>
            </a:r>
          </a:p>
          <a:p>
            <a:pPr>
              <a:spcAft>
                <a:spcPts val="371"/>
              </a:spcAft>
            </a:pPr>
            <a:r>
              <a:rPr sz="1300" b="0" i="0">
                <a:solidFill>
                  <a:srgbClr val="FFFFFF"/>
                </a:solidFill>
                <a:latin typeface="Calibri"/>
              </a:rPr>
              <a:t>  end</a:t>
            </a:r>
          </a:p>
          <a:p>
            <a:pPr>
              <a:spcAft>
                <a:spcPts val="371"/>
              </a:spcAft>
            </a:pPr>
            <a:r>
              <a:rPr sz="1300" b="0" i="0">
                <a:solidFill>
                  <a:srgbClr val="FFFFFF"/>
                </a:solidFill>
                <a:latin typeface="Calibri"/>
              </a:rPr>
              <a:t/>
            </a:r>
          </a:p>
          <a:p>
            <a:pPr>
              <a:spcAft>
                <a:spcPts val="371"/>
              </a:spcAft>
            </a:pPr>
            <a:r>
              <a:rPr sz="1300" b="0" i="0">
                <a:solidFill>
                  <a:srgbClr val="FFFFFF"/>
                </a:solidFill>
                <a:latin typeface="Calibri"/>
              </a:rPr>
              <a:t>  web[Web SPA] --&gt;|JSON/HTTPS| rutas</a:t>
            </a:r>
          </a:p>
          <a:p>
            <a:pPr>
              <a:spcAft>
                <a:spcPts val="371"/>
              </a:spcAft>
            </a:pPr>
            <a:r>
              <a:rPr sz="1300" b="0" i="0">
                <a:solidFill>
                  <a:srgbClr val="FFFFFF"/>
                </a:solidFill>
                <a:latin typeface="Calibri"/>
              </a:rPr>
              <a:t>  rutas --&gt; auth</a:t>
            </a:r>
          </a:p>
          <a:p>
            <a:pPr>
              <a:spcAft>
                <a:spcPts val="371"/>
              </a:spcAft>
            </a:pPr>
            <a:r>
              <a:rPr sz="1300" b="0" i="0">
                <a:solidFill>
                  <a:srgbClr val="FFFFFF"/>
                </a:solidFill>
                <a:latin typeface="Calibri"/>
              </a:rPr>
              <a:t>  rutas --&gt; servicio</a:t>
            </a:r>
          </a:p>
          <a:p>
            <a:pPr>
              <a:spcAft>
                <a:spcPts val="371"/>
              </a:spcAft>
            </a:pPr>
            <a:r>
              <a:rPr sz="1300" b="0" i="0">
                <a:solidFill>
                  <a:srgbClr val="FFFFFF"/>
                </a:solidFill>
                <a:latin typeface="Calibri"/>
              </a:rPr>
              <a:t>  servicio --&gt; repo</a:t>
            </a:r>
          </a:p>
          <a:p>
            <a:pPr>
              <a:spcAft>
                <a:spcPts val="371"/>
              </a:spcAft>
            </a:pPr>
            <a:r>
              <a:rPr sz="1300" b="0" i="0">
                <a:solidFill>
                  <a:srgbClr val="FFFFFF"/>
                </a:solidFill>
                <a:latin typeface="Calibri"/>
              </a:rPr>
              <a:t>  repo --&gt;|SQL| db[(PostgreSQL)]</a:t>
            </a:r>
          </a:p>
          <a:p>
            <a:pPr>
              <a:spcAft>
                <a:spcPts val="371"/>
              </a:spcAft>
            </a:pPr>
            <a:r>
              <a:rPr sz="1300" b="0" i="0">
                <a:solidFill>
                  <a:srgbClr val="FFFFFF"/>
                </a:solidFill>
                <a:latin typeface="Calibri"/>
              </a:rPr>
              <a:t/>
            </a:r>
          </a:p>
          <a:p>
            <a:pPr>
              <a:spcAft>
                <a:spcPts val="371"/>
              </a:spcAft>
            </a:pPr>
            <a:r>
              <a:rPr sz="1300" b="0" i="0">
                <a:solidFill>
                  <a:srgbClr val="FFFFFF"/>
                </a:solidFill>
                <a:latin typeface="Calibri"/>
              </a:rPr>
              <a:t>%% La regla del nivel Component: las cajas son piezas de CODIGO dentro</a:t>
            </a:r>
          </a:p>
          <a:p>
            <a:pPr>
              <a:spcAft>
                <a:spcPts val="371"/>
              </a:spcAft>
            </a:pPr>
            <a:r>
              <a:rPr sz="1300" b="0" i="0">
                <a:solidFill>
                  <a:srgbClr val="FFFFFF"/>
                </a:solidFill>
                <a:latin typeface="Calibri"/>
              </a:rPr>
              <a:t>%% de UN container, no servicios nuevos. Si le pone un puerto, es un</a:t>
            </a:r>
          </a:p>
          <a:p>
            <a:pPr>
              <a:spcAft>
                <a:spcPts val="371"/>
              </a:spcAft>
            </a:pPr>
            <a:r>
              <a:rPr sz="1300" b="0" i="0">
                <a:solidFill>
                  <a:srgbClr val="FFFFFF"/>
                </a:solidFill>
                <a:latin typeface="Calibri"/>
              </a:rPr>
              <a:t>%% container y va en el diagrama de la Clase 4.</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Del boceto al código Mermaid</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diagrama se escribe como código: se versiona, se compara y se corrige</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Diseña visual</a:t>
            </a:r>
          </a:p>
          <a:p>
            <a:pPr>
              <a:spcBef>
                <a:spcPts val="200"/>
              </a:spcBef>
            </a:pPr>
            <a:r>
              <a:rPr sz="1300" b="0" i="0">
                <a:solidFill>
                  <a:srgbClr val="333333"/>
                </a:solidFill>
                <a:latin typeface="Calibri"/>
              </a:rPr>
              <a:t>Dibuja el diagrama como quieras en Excalidraw o draw.io: es más rápido arrastrar cajas que escribir código, y ahí es donde se piensa el modelo.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Traduce con IA</a:t>
            </a:r>
          </a:p>
          <a:p>
            <a:pPr>
              <a:spcBef>
                <a:spcPts val="200"/>
              </a:spcBef>
            </a:pPr>
            <a:r>
              <a:rPr sz="1300" b="0" i="0">
                <a:solidFill>
                  <a:srgbClr val="333333"/>
                </a:solidFill>
                <a:latin typeface="Calibri"/>
              </a:rPr>
              <a:t>Describe tu boceto a una IA y pídele el código Mermaid usando C4Component. Revisa el resultado: la IA acierta la sintaxis, no tu modelo.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Renderiza en un visor</a:t>
            </a:r>
          </a:p>
          <a:p>
            <a:pPr>
              <a:spcBef>
                <a:spcPts val="200"/>
              </a:spcBef>
            </a:pPr>
            <a:r>
              <a:rPr sz="1300" b="0" i="0">
                <a:solidFill>
                  <a:srgbClr val="333333"/>
                </a:solidFill>
                <a:latin typeface="Calibri"/>
              </a:rPr>
              <a:t>Pega el código en un visor Mermaid (mermaid.live o la vista previa de tu editor) y míralo dibujado. Si no renderiza, corrige ahí: un end faltante o un rótulo sin comillas.</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Guarda código e imagen</a:t>
            </a:r>
          </a:p>
          <a:p>
            <a:pPr>
              <a:spcBef>
                <a:spcPts val="200"/>
              </a:spcBef>
            </a:pPr>
            <a:r>
              <a:rPr sz="1300" b="0" i="0">
                <a:solidFill>
                  <a:srgbClr val="333333"/>
                </a:solidFill>
                <a:latin typeface="Calibri"/>
              </a:rPr>
              <a:t>El código es la fuente del diagrama: guárdalo con tu proyecto junto con el PNG exportado.</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11 · cierre conceptual</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Consolidar evidencias PI en un paquete revisable.</a:t>
            </a:r>
          </a:p>
          <a:p>
            <a:pPr algn="ctr">
              <a:spcAft>
                <a:spcPts val="600"/>
              </a:spcAft>
            </a:pPr>
            <a:r>
              <a:rPr sz="1600" b="0" i="0">
                <a:solidFill>
                  <a:srgbClr val="333333"/>
                </a:solidFill>
                <a:latin typeface="Calibri"/>
              </a:rPr>
              <a:t>Detectar huecos (nombres inconsistentes, servicios de más, sin seguridad).</a:t>
            </a:r>
          </a:p>
          <a:p>
            <a:pPr algn="ctr">
              <a:spcAft>
                <a:spcPts val="600"/>
              </a:spcAft>
            </a:pPr>
            <a:r>
              <a:rPr sz="1600" b="0" i="0">
                <a:solidFill>
                  <a:srgbClr val="333333"/>
                </a:solidFill>
                <a:latin typeface="Calibri"/>
              </a:rPr>
              <a:t>Salir con backlog claro hacia Clase 12/15.</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