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Esta clase no introduce teoria de un tema tecnico nuevo, y eso es deliberado, pero si tiene teoria propia: la teoria de la revision y la evaluacion.</a:t>
            </a:r>
          </a:p>
          <a:p/>
          <a:p>
            <a:r>
              <a:t>(No se proyecta) 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se audita con preguntas mecanicas que cualquier docente puede hacer sin ser experto en el dominio del proyecto, lo que hace esta tecnica ensenable.</a:t>
            </a:r>
          </a:p>
          <a:p/>
          <a:p>
            <a:r>
              <a:t>(No se proyecta) El insumo es el paquete CloudLite v1, que a estas alturas debe tener seis piezas producidas antes: el C4 de Contexto de la Clase 1, el C4 de Contenedores de la Clase 4, el modelo de amenazas con controles de la Clase 6, el diagrama de despliegue con zonas publica y privada de la Clase 7, el workflow de GitHub Actions y las metricas de monitoreo de la Clase 8, y la tabla de costos con drivers y right-sizing de la Clase 10.</a:t>
            </a:r>
          </a:p>
          <a:p/>
          <a:p>
            <a:r>
              <a:t>(No se proyecta) No es una formalidad burocratica, es el unico detector confiable de que el estudiante penso el sistema en vez de producir seis tareas independientes para seis notas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Las preguntas de coherencia, aplicadas a CloudLite, son cinco y conviene hacerlas en orden.</a:t>
            </a:r>
          </a:p>
          <a:p/>
          <a:p>
            <a:r>
              <a:t>(No se proyecta) Primera: cada contenedor del C4 de la Clase 4 aparece en el diagrama de despliegue de la Clase 7 y con el mismo nombre; si el C4 dice "servicio de notificaciones" y el despliegue dice "worker de correos", o son la misma cosa mal nombrada o son dos cosas y falta una.</a:t>
            </a:r>
          </a:p>
          <a:p/>
          <a:p>
            <a:r>
              <a:t>(No se proyecta) Segunda: cada actor y sistema externo del diagrama de Contexto sigue existiendo; el caso frecuente es que el estudiante dibujo en la Clase 1 una pasarela de pagos y hoy ningun contenedor habla con ella, asi que o desaparecio del alcance y hay que borrarla o esta olvidada y es un hueco.</a:t>
            </a:r>
          </a:p>
          <a:p/>
          <a:p>
            <a:r>
              <a:t>(No se proyecta) Tercera: cada amenaza del modelo STRIDE de la Clase 6 tiene un control visible en el despliegue; si la amenaza es acceso no autorizado a la base de datos y el diagrama la muestra en la subred publica, el control existe en el documento y no en el diseno.</a:t>
            </a:r>
          </a:p>
          <a:p/>
          <a:p>
            <a:r>
              <a:t>(No se proyecta) Cuarta: los componentes de la tabla de costos de la Clase 10 son los mismos contenedores, no una lista inventada.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a:p/>
          <a:p>
            <a:r>
              <a:t>(No se proyecta) Se detecta con un dato objetivo, no con intuicion: en la Clase 1 cada estudiante definio entre tres y cinco capacidades para CloudLite, asi que basta contar las de hoy y compararlas con esa linea base; si eran cuatro y hoy son nueve, hay scope creep, y da igual que las nuevas suenen interesantes.</a:t>
            </a:r>
          </a:p>
          <a:p/>
          <a:p>
            <a:r>
              <a:t>(No se proyecta) Se detecta con cuatro preguntas de una linea, todas respondibles por el estudiante: se puede desplegar ese servicio sin desplegar los otros, tiene sus propios datos o comparte tablas con el vecino, puede fallar sin tumbar a los demas, y existe una razon de negocio por la que cambiaria en un momento distinto al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Una retroalimentacion accionable tiene cuatro partes: observacion, evidencia, impacto y accion con fecha. "Falta seguridad" no cumple ninguna. "En el diagrama de despliegue la base de datos esta en la subred publica, contradice el control que ustedes escribieron para la amenaza de acceso no autorizado; si lo sustentan asi en la Clase 15 el evaluador concluira que el modelo de amenazas se escribio sin mirar el diagrama; muevanla a subred privada y dejen solo la API expuesta, antes de la Clase 12" cumple las cuatro.</a:t>
            </a:r>
          </a:p>
          <a:p/>
          <a:p>
            <a:r>
              <a:t>(No se proyecta) El docente debe apuntar a tres hallazgos por proyecto como maximo y marcar cual es el bloqueante, porque un estudiante que recibe once observaciones no corrige ninguna: se paraliza.</a:t>
            </a:r>
          </a:p>
          <a:p/>
          <a:p>
            <a:r>
              <a:t>(No se proyecta) Conviene nombrar tambien una fortaleza concreta, no por amabilidad sino porque el estudiante necesita saber que conservar; si solo escucha fallas, en la siguiente version cambia todo, incluido lo que estaba bien.</a:t>
            </a:r>
          </a:p>
          <a:p/>
          <a:p>
            <a:r>
              <a:t>(No se proyecta) Y la revision entre pares cumple una funcion que la del docente no puede: explicarle el sistema a otro estudiante obliga a verbalizar decisiones que nunca se dijeron en voz alta, y ahi el propio autor descubre sus huecos.</a:t>
            </a:r>
          </a:p>
          <a:p/>
          <a:p>
            <a:r>
              <a:t>(No se proyecta) El formato eficiente es de siete a ocho minutos por proyecto, con reloj visible, y el revisor asignado (otro estudiante, u otro equipo si el docente los autorizo) entregando por escrito una observacion y una pregunta.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Falta el criterio para decidir si un proyecto va a tiempo, y aqui el docente necesita un umbral y no una impresion.</a:t>
            </a:r>
          </a:p>
          <a:p/>
          <a:p>
            <a:r>
              <a:t>(No se proyecta) El umbral de seis no es una ley de la ingenieria, es la contabilidad de este curso, y decirlo asi evita que el estudiante lo memorice como estandar internacional.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a:p>
            <a:pPr>
              <a:spcAft>
                <a:spcPts val="800"/>
              </a:spcAft>
            </a:pPr>
            <a:r>
              <a:rPr sz="2000" b="0" i="0">
                <a:solidFill>
                  <a:srgbClr val="333333"/>
                </a:solidFill>
                <a:latin typeface="Calibri"/>
              </a:rPr>
              <a:t>–   </a:t>
            </a:r>
            <a:r>
              <a:rPr sz="2000" b="1" i="0">
                <a:solidFill>
                  <a:srgbClr val="333333"/>
                </a:solidFill>
                <a:latin typeface="Calibri"/>
              </a:rPr>
              <a:t>CI sin tests</a:t>
            </a:r>
            <a:r>
              <a:rPr sz="2000" b="0" i="0">
                <a:solidFill>
                  <a:srgbClr val="333333"/>
                </a:solidFill>
                <a:latin typeface="Calibri"/>
              </a:rPr>
              <a:t>: un pipeline que no puede fallar no verifica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revision de arquitectura es una lectura estructurada de los artefactos de diseno, hecha por alguien distinto del autor, antes de implementar o cambiar el diseno.</a:t>
            </a:r>
          </a:p>
          <a:p>
            <a:pPr>
              <a:spcAft>
                <a:spcPts val="800"/>
              </a:spcAft>
            </a:pPr>
            <a:r>
              <a:rPr sz="2000" b="0" i="0">
                <a:solidFill>
                  <a:srgbClr val="333333"/>
                </a:solidFill>
                <a:latin typeface="Calibri"/>
              </a:rPr>
              <a:t>–   Sus tres salidas son: hallazgos con evidencia, riesgos nombrados y acciones con responsable.</a:t>
            </a:r>
          </a:p>
          <a:p>
            <a:pPr>
              <a:spcAft>
                <a:spcPts val="800"/>
              </a:spcAft>
            </a:pPr>
            <a:r>
              <a:rPr sz="2000" b="0" i="0">
                <a:solidFill>
                  <a:srgbClr val="333333"/>
                </a:solidFill>
                <a:latin typeface="Calibri"/>
              </a:rPr>
              <a:t>–   Ejemplo en la app: el Containers nombra «API de turnos» y el Despliegue nombra «backend»; el hallazgo es la incoherencia, la evidencia son los dos diagramas y la accion es unificar el 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Las seis piezas son: diagrama Context, diagrama Containers, diagrama de despliegue, Dockerfile, workflow de Actions e informe.</a:t>
            </a:r>
          </a:p>
          <a:p>
            <a:pPr>
              <a:spcAft>
                <a:spcPts val="800"/>
              </a:spcAft>
            </a:pPr>
            <a:r>
              <a:rPr sz="2000" b="0" i="0">
                <a:solidFill>
                  <a:srgbClr val="333333"/>
                </a:solidFill>
                <a:latin typeface="Calibri"/>
              </a:rPr>
              <a:t>–   Un ejemplo de trazabilidad rota: el Context dibuja una pasarela de pagos y el Containers ya no la menciona; o salio del alcance y se borra, o se olvido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a:p>
            <a:pPr>
              <a:spcAft>
                <a:spcPts val="800"/>
              </a:spcAft>
            </a:pPr>
            <a:r>
              <a:rPr sz="2000" b="0" i="0">
                <a:solidFill>
                  <a:srgbClr val="333333"/>
                </a:solidFill>
                <a:latin typeface="Calibri"/>
              </a:rPr>
              <a:t>–   Un ejemplo de cadena rota: el Containers tiene un worker de avisos, pero el diagrama de despliegue no lo ubica en ninguna zona; la pieza existe en el diseno y no tiene donde correr.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observacion accionable tiene cuatro partes: observacion, evidencia, impacto y accion con fecha.</a:t>
            </a:r>
          </a:p>
          <a:p>
            <a:pPr>
              <a:spcAft>
                <a:spcPts val="800"/>
              </a:spcAft>
            </a:pPr>
            <a:r>
              <a:rPr sz="2000" b="0" i="0">
                <a:solidFill>
                  <a:srgbClr val="333333"/>
                </a:solidFill>
                <a:latin typeface="Calibri"/>
              </a:rPr>
              <a:t>–   Ejemplo: «el despliegue llama backend a la API de turnos (observacion); se ve en la caja central (evidencia); rompe la trazabilidad con el Containers (impacto); unificar el nombre antes de la proxima revision (accion con fecha)».</a:t>
            </a:r>
          </a:p>
          <a:p>
            <a:pPr>
              <a:spcAft>
                <a:spcPts val="800"/>
              </a:spcAft>
            </a:pPr>
            <a:r>
              <a:rPr sz="2000" b="0" i="0">
                <a:solidFill>
                  <a:srgbClr val="333333"/>
                </a:solidFill>
                <a:latin typeface="Calibri"/>
              </a:rPr>
              <a:t>–   Un comentario como «mejorar el diagrama» no es accionable: no dice que, ni donde, ni cuando.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Lo transferible es la idea de fondo: un checkpoint se evalua por evidencia presente, no por promesas.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la app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