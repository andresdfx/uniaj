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Una revision de arquitectura, en ingles architecture review, es una practica profesional formal en la que alguien distinto de quien diseno el sistema examina el diseno antes de que este construido, buscando riesgos y decisiones sin justificar.</a:t>
            </a:r>
          </a:p>
          <a:p/>
          <a:p>
            <a:r>
              <a:t>Existe en la industria con nombres concretos: ATAM en su version academica, design review o RFC review en empresas de producto, comite de arquitectura en organizaciones grandes.</a:t>
            </a:r>
          </a:p>
          <a:p/>
          <a:p>
            <a:r>
              <a:t>Todas comparten la premisa economica que sostiene el curso: un riesgo detectado en el diseno cuesta una fraccion de lo que cuesta cuando ya esta implementado y con usuarios encima.</a:t>
            </a:r>
          </a:p>
          <a:p/>
          <a:p>
            <a:r>
              <a:t>La revision no juzga si el diagrama es bonito; busca tres cosas: decisiones sin argumento, incoherencias entre artefactos y riesgos que nadie ha nombrado.</a:t>
            </a:r>
          </a:p>
          <a:p/>
          <a:p>
            <a:r>
              <a:t>Una revision de arquitectura es una lectura estructurada de los artefactos de diseno, hecha por alguien distinto del autor, antes de implementar o cambiar el diseno.</a:t>
            </a:r>
          </a:p>
          <a:p/>
          <a:p>
            <a:r>
              <a:t>Sus tres salidas son: hallazgos con evidencia, riesgos nombrados y acciones con responsable.</a:t>
            </a:r>
          </a:p>
          <a:p/>
          <a:p>
            <a:r>
              <a:t>Ejemplo en CloudLite: el Containers nombra «API de turnos» y el Despliegue nombra «backend»; el hallazgo es la incoherencia, la evidencia son los dos diagramas y la accion es unificar el nombre.</a:t>
            </a:r>
          </a:p>
          <a:p/>
          <a:p>
            <a:r>
              <a:t>(No se proyecta) Esta clase no introduce teoria de un tema tecnico nuevo, y eso es deliberado, pero si tiene teoria propia: la teoria de la revision y la evaluacion.</a:t>
            </a:r>
          </a:p>
          <a:p/>
          <a:p>
            <a:r>
              <a:t>(No se proyecta) Hoy el docente no dicta, audita, y el estudiante no aprende un concepto, demuestra que los que ya tiene forman un sistema.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criterio central de auditoria se llama trazabilidad: la propiedad de que un elemento se pueda seguir de un artefacto al siguiente sin cambiar de nombre ni desaparecer.</a:t>
            </a:r>
          </a:p>
          <a:p/>
          <a:p>
            <a:r>
              <a:t>Las seis piezas son: diagrama Context, diagrama Containers, diagrama de despliegue, Dockerfile, workflow de Actions e informe.</a:t>
            </a:r>
          </a:p>
          <a:p/>
          <a:p>
            <a:r>
              <a:t>Un ejemplo de trazabilidad rota: el Context dibuja una pasarela de pagos y el Containers ya no la menciona; o salio del alcance y se borra, o se olvido y es un hueco.</a:t>
            </a:r>
          </a:p>
          <a:p/>
          <a:p>
            <a:r>
              <a:t>NOTAS:</a:t>
            </a:r>
          </a:p>
          <a:p/>
          <a:p>
            <a:r>
              <a:t>Y se audita con preguntas mecanicas que cualquier docente puede hacer sin ser experto en el dominio del proyecto, lo que hace esta tecnica ensenable.</a:t>
            </a:r>
          </a:p>
          <a:p/>
          <a:p>
            <a:r>
              <a:t>(No se proyecta) El insumo es el paquete CloudLite v1, que a estas alturas debe tener seis piezas producidas antes: el C4 de Contexto de la Clase 1, el C4 de Contenedores de la Clase 4, el modelo de amenazas con controles de la Clase 6, el diagrama de despliegue con zonas publica y privada de la Clase 7, el workflow de GitHub Actions y las metricas de monitoreo de la Clase 8, y la tabla de costos con drivers y right-sizing de la Clase 10.</a:t>
            </a:r>
          </a:p>
          <a:p/>
          <a:p>
            <a:r>
              <a:t>(No se proyecta) No es una formalidad burocratica, es el unico detector confiable de que el estudiante penso el sistema en vez de producir seis tareas independientes para seis notas distintas.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Quinta: el workflow de Actions se ejecuto al menos una vez con resultado visible, porque un archivo YAML que nunca corrio es una intencion, no evidencia.</a:t>
            </a:r>
          </a:p>
          <a:p/>
          <a:p>
            <a:r>
              <a:t>Ese es el nucleo del acta: no una nota, sino cuales de estas cinco cadenas estan rotas en cada proyecto.</a:t>
            </a:r>
          </a:p>
          <a:p/>
          <a:p>
            <a:r>
              <a:t>Un ejemplo de cadena rota: el Containers tiene un worker de avisos, pero el diagrama de despliegue no lo ubica en ninguna zona; la pieza existe en el diseno y no tiene donde correr.</a:t>
            </a:r>
          </a:p>
          <a:p/>
          <a:p>
            <a:r>
              <a:t>(No se proyecta) Las preguntas de coherencia, aplicadas a CloudLite, son cinco y conviene hacerlas en orden.</a:t>
            </a:r>
          </a:p>
          <a:p/>
          <a:p>
            <a:r>
              <a:t>(No se proyecta) Primera: cada contenedor del C4 de la Clase 4 aparece en el diagrama de despliegue de la Clase 7 y con el mismo nombre; si el C4 dice "servicio de notificaciones" y el despliegue dice "worker de correos", o son la misma cosa mal nombrada o son dos cosas y falta una.</a:t>
            </a:r>
          </a:p>
          <a:p/>
          <a:p>
            <a:r>
              <a:t>(No se proyecta) Segunda: cada actor y sistema externo del diagrama de Contexto sigue existiendo; el caso frecuente es que el estudiante dibujo en la Clase 1 una pasarela de pagos y hoy ningun contenedor habla con ella, asi que o desaparecio del alcance y hay que borrarla o esta olvidada y es un hueco.</a:t>
            </a:r>
          </a:p>
          <a:p/>
          <a:p>
            <a:r>
              <a:t>(No se proyecta) Tercera: cada amenaza del modelo STRIDE de la Clase 6 tiene un control visible en el despliegue; si la amenaza es acceso no autorizado a la base de datos y el diagrama la muestra en la subred publica, el control existe en el documento y no en el diseno.</a:t>
            </a:r>
          </a:p>
          <a:p/>
          <a:p>
            <a:r>
              <a:t>(No se proyecta) Cuarta: los componentes de la tabla de costos de la Clase 10 son los mismos contenedores, no una lista inventada.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primera es el scope creep, el crecimiento no controlado del alcance: el sistema suma capacidades clase por clase, cada una razonable por si misma, hasta que el proyecto tiene un alcance que no se puede documentar ni defender en el tiempo restante.</a:t>
            </a:r>
          </a:p>
          <a:p/>
          <a:p>
            <a:r>
              <a:t>La segunda patologia es el teatro de microservicios: servicios separados en el diagrama que en la practica no son unidades independientes.</a:t>
            </a:r>
          </a:p>
          <a:p/>
          <a:p>
            <a:r>
              <a:t>En CloudLite el caso clasico es el "servicio de autenticacion" dibujado como caja aparte que en el repositorio es un modulo dentro de la misma API, escribe en las mismas tablas y se despliega en el mismo contenedor.</a:t>
            </a:r>
          </a:p>
          <a:p/>
          <a:p>
            <a:r>
              <a:t>No es un microservicio, es un modulo, y decirlo no castiga al estudiante: corrige el vocabulario antes del Parcial 3, donde esa distincion se evalua.</a:t>
            </a:r>
          </a:p>
          <a:p/>
          <a:p>
            <a:r>
              <a:t>NOTAS:</a:t>
            </a:r>
          </a:p>
          <a:p/>
          <a:p>
            <a:r>
              <a:t>Hay dos patologias con nombre propio que arruinan las sustentaciones.</a:t>
            </a:r>
          </a:p>
          <a:p/>
          <a:p>
            <a:r>
              <a:t>La respuesta correcta no es prohibir ideas sino congelar el alcance y abrir una lista de aparcamiento, un anexo donde las capacidades extra quedan escritas como "fuera de alcance v1, candidatas a v2": preserva la idea, protege el cronograma y es lo que hace un equipo profesional al cerrar un release.</a:t>
            </a:r>
          </a:p>
          <a:p/>
          <a:p>
            <a:r>
              <a:t>(No se proyecta) Se detecta con un dato objetivo, no con intuicion: en la Clase 1 cada estudiante definio entre tres y cinco capacidades para CloudLite, asi que basta contar las de hoy y compararlas con esa linea base; si eran cuatro y hoy son nueve, hay scope creep, y da igual que las nuevas suenen interesantes.</a:t>
            </a:r>
          </a:p>
          <a:p/>
          <a:p>
            <a:r>
              <a:t>(No se proyecta) Se detecta con cuatro preguntas de una linea que el estudiante puede responder: se puede desplegar ese servicio sin desplegar los otros, tiene sus propios datos o comparte tablas con el vecino, puede fallar sin tumbar a los demas, y existe una razon de negocio por la que cambiaria en un momento distinto al resto.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Microservicios teatro · nombres distintos entre diagramas · secretos en imagen.</a:t>
            </a:r>
          </a:p>
          <a:p/>
          <a:p>
            <a:r>
              <a:t>CI sin tests · diagrama sin puertos · dominio infinito.</a:t>
            </a:r>
          </a:p>
          <a:p/>
          <a:p>
            <a:r>
              <a:t>Microservicios teatro: servicios separados que comparten base de datos y se despliegan siempre juntos.</a:t>
            </a:r>
          </a:p>
          <a:p/>
          <a:p>
            <a:r>
              <a:t>Nombres distintos: «API de turnos» en el C4 y «backend» en el Despliegue rompen la trazabilidad.</a:t>
            </a:r>
          </a:p>
          <a:p/>
          <a:p>
            <a:r>
              <a:t>CI sin tests: un pipeline que no puede fallar no verifica nada.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retroalimentacion es la mitad del valor del dia y tiene tecnica propia.</a:t>
            </a:r>
          </a:p>
          <a:p/>
          <a:p>
            <a:r>
              <a:t>Una observacion util tiene cuatro partes: observacion, evidencia, impacto y accion con fecha.</a:t>
            </a:r>
          </a:p>
          <a:p/>
          <a:p>
            <a:r>
              <a:t>Ejemplo: «el despliegue llama backend a la API de turnos (observacion); se ve en la caja central (evidencia); rompe la trazabilidad con el Containers (impacto); unificar el nombre antes de la proxima revision (accion con fecha)».</a:t>
            </a:r>
          </a:p>
          <a:p/>
          <a:p>
            <a:r>
              <a:t>Un comentario como «mejorar el diagrama» no sirve: no dice que, ni donde, ni cuando.</a:t>
            </a:r>
          </a:p>
          <a:p/>
          <a:p>
            <a:r>
              <a:t>(No se proyecta) Una retroalimentacion util tiene cuatro partes: observacion, evidencia, impacto y accion con fecha. "Falta seguridad" no cumple ninguna. "En el diagrama de despliegue la base de datos esta en la subred publica, contradice el control que ustedes escribieron para la amenaza de acceso no autorizado; si lo sustentan asi en la Clase 15 el evaluador concluira que el modelo de amenazas se escribio sin mirar el diagrama; muevanla a subred privada y dejen solo la API expuesta, antes de la Clase 12" cumple las cuatro.</a:t>
            </a:r>
          </a:p>
          <a:p/>
          <a:p>
            <a:r>
              <a:t>(No se proyecta) El docente debe apuntar a tres hallazgos por proyecto como maximo y marcar cual es el bloqueante, porque un estudiante que recibe once observaciones no corrige ninguna: se paraliza.</a:t>
            </a:r>
          </a:p>
          <a:p/>
          <a:p>
            <a:r>
              <a:t>(No se proyecta) Conviene nombrar tambien una fortaleza concreta, no por amabilidad sino porque el estudiante necesita saber que conservar; si solo escucha fallas, en la siguiente version cambia todo, incluido lo que estaba bien.</a:t>
            </a:r>
          </a:p>
          <a:p/>
          <a:p>
            <a:r>
              <a:t>(No se proyecta) Y la revision entre pares cumple una funcion que la del docente no puede: explicarle el sistema a otro estudiante obliga a explicar decisiones que nunca se dijeron en voz alta, y ahi el propio autor descubre sus huecos.</a:t>
            </a:r>
          </a:p>
          <a:p/>
          <a:p>
            <a:r>
              <a:t>(No se proyecta) El formato eficiente es de siete a ocho minutos por proyecto, con reloj visible, y el revisor asignado (otro estudiante, u otro equipo si el docente los autorizo) entregando por escrito una observacion y una pregunta.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Con seis artefactos esperados la regla practica es un semaforo: verde si estan los seis y a lo sumo una cadena de trazabilidad rota</a:t>
            </a:r>
          </a:p>
          <a:p/>
          <a:p>
            <a:r>
              <a:t>Amarillo si hay cinco de seis, o dos o tres cadenas rotas pero corregibles editando documentos; rojo si falta el C4 de Contenedores o el diagrama de despliegue</a:t>
            </a:r>
          </a:p>
          <a:p/>
          <a:p>
            <a:r>
              <a:t>Que son la columna vertebral y sin los cuales el resto no se puede evaluar, o si el repositorio no existe.</a:t>
            </a:r>
          </a:p>
          <a:p/>
          <a:p>
            <a:r>
              <a:t>Lo transferible es la idea de fondo: un checkpoint se evalua por evidencia presente, no por promesas.</a:t>
            </a:r>
          </a:p>
          <a:p/>
          <a:p>
            <a:r>
              <a:t>Cuando un estudiante dice "eso ya lo tenemos, solo falta subirlo", el estado es amarillo y el acta lo registra con fecha de cierre; no es desconfianza, es que en un proyecto lo que no esta en el repositorio no existe.</a:t>
            </a:r>
          </a:p>
          <a:p/>
          <a:p>
            <a:r>
              <a:t>Para un proyecto en rojo el plan de recuperacion debe reducir alcance, nunca agregar trabajo: menos capacidades, menos servicios, y toda la energia en las dos piezas que faltan.</a:t>
            </a:r>
          </a:p>
          <a:p/>
          <a:p>
            <a:r>
              <a:t>PREGUNTAS FRECUENTES Y CIERRE CONCEPTUAL ()</a:t>
            </a:r>
          </a:p>
          <a:p/>
          <a:p>
            <a:r>
              <a:t>(No se proyecta) Falta el criterio para decidir si un proyecto va a tiempo, y aqui el docente necesita un umbral y no una impresion.</a:t>
            </a:r>
          </a:p>
          <a:p/>
          <a:p>
            <a:r>
              <a:t>(No se proyecta) El umbral de seis no es una ley de la ingenieria, es la contabilidad de este curso, y decirlo asi evita que el estudiante lo memorice como estandar internacional.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457200" y="274320"/>
            <a:ext cx="1828800" cy="797105"/>
          </a:xfrm>
          <a:prstGeom prst="rect">
            <a:avLst/>
          </a:prstGeom>
        </p:spPr>
      </p:pic>
      <p:sp>
        <p:nvSpPr>
          <p:cNvPr id="5" name="TextBox 4"/>
          <p:cNvSpPr txBox="1"/>
          <p:nvPr/>
        </p:nvSpPr>
        <p:spPr>
          <a:xfrm>
            <a:off x="10180015" y="320040"/>
            <a:ext cx="1645920" cy="365760"/>
          </a:xfrm>
          <a:prstGeom prst="rect">
            <a:avLst/>
          </a:prstGeom>
          <a:noFill/>
        </p:spPr>
        <p:txBody>
          <a:bodyPr wrap="square">
            <a:spAutoFit/>
          </a:bodyPr>
          <a:lstStyle/>
          <a:p>
            <a:pPr algn="r"/>
            <a:r>
              <a:rPr sz="1200" b="1" i="0">
                <a:solidFill>
                  <a:srgbClr val="269CCB"/>
                </a:solidFill>
                <a:latin typeface="Calibri"/>
              </a:rPr>
              <a:t>Clase 11</a:t>
            </a:r>
          </a:p>
        </p:txBody>
      </p:sp>
      <p:sp>
        <p:nvSpPr>
          <p:cNvPr id="6" name="TextBox 5"/>
          <p:cNvSpPr txBox="1"/>
          <p:nvPr/>
        </p:nvSpPr>
        <p:spPr>
          <a:xfrm>
            <a:off x="457200" y="914400"/>
            <a:ext cx="11277295" cy="1371600"/>
          </a:xfrm>
          <a:prstGeom prst="rect">
            <a:avLst/>
          </a:prstGeom>
          <a:noFill/>
        </p:spPr>
        <p:txBody>
          <a:bodyPr wrap="square" anchor="ctr"/>
          <a:lstStyle/>
          <a:p>
            <a:pPr algn="ctr"/>
            <a:r>
              <a:rPr sz="2800" b="1" i="0">
                <a:solidFill>
                  <a:srgbClr val="FFFFFF"/>
                </a:solidFill>
                <a:latin typeface="Calibri"/>
              </a:rPr>
              <a:t>Avance del proyecto final</a:t>
            </a:r>
          </a:p>
          <a:p>
            <a:pPr algn="ctr">
              <a:spcBef>
                <a:spcPts val="800"/>
              </a:spcBef>
            </a:pPr>
            <a:r>
              <a:rPr sz="1500" b="0" i="0">
                <a:solidFill>
                  <a:srgbClr val="269CCB"/>
                </a:solidFill>
                <a:latin typeface="Calibri"/>
              </a:rPr>
              <a:t>Checkpoint diagramas v1 de la app</a:t>
            </a:r>
          </a:p>
        </p:txBody>
      </p:sp>
      <p:sp>
        <p:nvSpPr>
          <p:cNvPr id="7" name="TextBox 6"/>
          <p:cNvSpPr txBox="1"/>
          <p:nvPr/>
        </p:nvSpPr>
        <p:spPr>
          <a:xfrm>
            <a:off x="457200" y="3200400"/>
            <a:ext cx="11277295" cy="2560320"/>
          </a:xfrm>
          <a:prstGeom prst="rect">
            <a:avLst/>
          </a:prstGeom>
          <a:noFill/>
        </p:spPr>
        <p:txBody>
          <a:bodyPr wrap="square">
            <a:spAutoFit/>
          </a:bodyPr>
          <a:lstStyle/>
          <a:p>
            <a:pPr>
              <a:spcAft>
                <a:spcPts val="800"/>
              </a:spcAft>
            </a:pPr>
            <a:r>
              <a:rPr sz="1500" b="0" i="0">
                <a:solidFill>
                  <a:srgbClr val="333333"/>
                </a:solidFill>
                <a:latin typeface="Calibri"/>
              </a:rPr>
              <a:t>Bloque </a:t>
            </a:r>
            <a:r>
              <a:rPr sz="1500" b="1" i="0">
                <a:solidFill>
                  <a:srgbClr val="333333"/>
                </a:solidFill>
                <a:latin typeface="Calibri"/>
              </a:rPr>
              <a:t>120 min</a:t>
            </a:r>
            <a:r>
              <a:rPr sz="1500" b="0" i="0">
                <a:solidFill>
                  <a:srgbClr val="333333"/>
                </a:solidFill>
                <a:latin typeface="Calibri"/>
              </a:rPr>
              <a:t> · sesión </a:t>
            </a:r>
            <a:r>
              <a:rPr sz="1500" b="1" i="0">
                <a:solidFill>
                  <a:srgbClr val="333333"/>
                </a:solidFill>
                <a:latin typeface="Calibri"/>
              </a:rPr>
              <a:t>virtual síncrona</a:t>
            </a:r>
            <a:r>
              <a:rPr sz="1500" b="0" i="0">
                <a:solidFill>
                  <a:srgbClr val="333333"/>
                </a:solidFill>
                <a:latin typeface="Calibri"/>
              </a:rPr>
              <a:t> por Google Meet.</a:t>
            </a:r>
          </a:p>
          <a:p>
            <a:pPr>
              <a:spcAft>
                <a:spcPts val="800"/>
              </a:spcAft>
            </a:pPr>
            <a:r>
              <a:rPr sz="1500" b="0" i="0">
                <a:solidFill>
                  <a:srgbClr val="333333"/>
                </a:solidFill>
                <a:latin typeface="Calibri"/>
              </a:rPr>
              <a:t>Conceptos del tema, ejemplos resueltos sobre la app y cierre conceptual.</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Agenda de hoy (120 min)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0–10</a:t>
            </a:r>
            <a:r>
              <a:rPr sz="2000" b="0" i="0">
                <a:solidFill>
                  <a:srgbClr val="333333"/>
                </a:solidFill>
                <a:latin typeface="Calibri"/>
              </a:rPr>
              <a:t> Encuadre del tema y objetivos de la clase.</a:t>
            </a:r>
          </a:p>
          <a:p>
            <a:pPr>
              <a:spcAft>
                <a:spcPts val="800"/>
              </a:spcAft>
            </a:pPr>
            <a:r>
              <a:rPr sz="2000" b="1" i="0">
                <a:solidFill>
                  <a:srgbClr val="333333"/>
                </a:solidFill>
                <a:latin typeface="Calibri"/>
              </a:rPr>
              <a:t>10–70</a:t>
            </a:r>
            <a:r>
              <a:rPr sz="2000" b="0" i="0">
                <a:solidFill>
                  <a:srgbClr val="333333"/>
                </a:solidFill>
                <a:latin typeface="Calibri"/>
              </a:rPr>
              <a:t> Conceptos del tema, uno por lámina, con ejemplos sobre la app.</a:t>
            </a:r>
          </a:p>
          <a:p>
            <a:pPr>
              <a:spcAft>
                <a:spcPts val="800"/>
              </a:spcAft>
            </a:pPr>
            <a:r>
              <a:rPr sz="2000" b="0" i="0">
                <a:solidFill>
                  <a:srgbClr val="333333"/>
                </a:solidFill>
                <a:latin typeface="Calibri"/>
              </a:rPr>
              <a:t>–   </a:t>
            </a:r>
            <a:r>
              <a:rPr sz="2000" b="1" i="0">
                <a:solidFill>
                  <a:srgbClr val="333333"/>
                </a:solidFill>
                <a:latin typeface="Calibri"/>
              </a:rPr>
              <a:t>70–100</a:t>
            </a:r>
            <a:r>
              <a:rPr sz="2000" b="0" i="0">
                <a:solidFill>
                  <a:srgbClr val="333333"/>
                </a:solidFill>
                <a:latin typeface="Calibri"/>
              </a:rPr>
              <a:t> Ejemplos resueltos y demostración sobre el tema.</a:t>
            </a:r>
          </a:p>
          <a:p>
            <a:pPr>
              <a:spcAft>
                <a:spcPts val="800"/>
              </a:spcAft>
            </a:pPr>
            <a:r>
              <a:rPr sz="2000" b="1" i="0">
                <a:solidFill>
                  <a:srgbClr val="333333"/>
                </a:solidFill>
                <a:latin typeface="Calibri"/>
              </a:rPr>
              <a:t>100–115</a:t>
            </a:r>
            <a:r>
              <a:rPr sz="2000" b="0" i="0">
                <a:solidFill>
                  <a:srgbClr val="333333"/>
                </a:solidFill>
                <a:latin typeface="Calibri"/>
              </a:rPr>
              <a:t> Práctica (opcional, guía en la carpeta de la clase).</a:t>
            </a:r>
          </a:p>
          <a:p>
            <a:pPr>
              <a:spcAft>
                <a:spcPts val="800"/>
              </a:spcAft>
            </a:pPr>
            <a:r>
              <a:rPr sz="2000" b="1" i="0">
                <a:solidFill>
                  <a:srgbClr val="333333"/>
                </a:solidFill>
                <a:latin typeface="Calibri"/>
              </a:rPr>
              <a:t>115–120</a:t>
            </a:r>
            <a:r>
              <a:rPr sz="2000" b="0" i="0">
                <a:solidFill>
                  <a:srgbClr val="333333"/>
                </a:solidFill>
                <a:latin typeface="Calibri"/>
              </a:rPr>
              <a:t> Preguntas y cierre conceptual.</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clase</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Consolidar evidencias en un paquete revisable.</a:t>
            </a:r>
          </a:p>
          <a:p>
            <a:pPr>
              <a:spcAft>
                <a:spcPts val="800"/>
              </a:spcAft>
            </a:pPr>
            <a:r>
              <a:rPr sz="2000" b="0" i="0">
                <a:solidFill>
                  <a:srgbClr val="333333"/>
                </a:solidFill>
                <a:latin typeface="Calibri"/>
              </a:rPr>
              <a:t>–   Detectar huecos (nombres inconsistentes, servicios de más, sin seguridad).</a:t>
            </a:r>
          </a:p>
          <a:p>
            <a:pPr>
              <a:spcAft>
                <a:spcPts val="800"/>
              </a:spcAft>
            </a:pPr>
            <a:r>
              <a:rPr sz="2000" b="0" i="0">
                <a:solidFill>
                  <a:srgbClr val="333333"/>
                </a:solidFill>
                <a:latin typeface="Calibri"/>
              </a:rPr>
              <a:t>–   Salir con backlog claro hacia Clase 12/15.</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teoria propia del dia: que es una revision de arquitectura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revision-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Una revisión de arquitectura es una lectura estructurada de los artefactos, hecha por alguien distinto del autor, antes de implementar.</a:t>
            </a:r>
          </a:p>
          <a:p>
            <a:pPr>
              <a:spcAft>
                <a:spcPts val="800"/>
              </a:spcAft>
            </a:pPr>
            <a:r>
              <a:rPr sz="2000" b="0" i="0">
                <a:solidFill>
                  <a:srgbClr val="333333"/>
                </a:solidFill>
                <a:latin typeface="Calibri"/>
              </a:rPr>
              <a:t>–   Un riesgo detectado en el diseño cuesta una fracción de lo que cuesta ya implementado.</a:t>
            </a:r>
          </a:p>
          <a:p>
            <a:pPr>
              <a:spcAft>
                <a:spcPts val="800"/>
              </a:spcAft>
            </a:pPr>
            <a:r>
              <a:rPr sz="2000" b="0" i="0">
                <a:solidFill>
                  <a:srgbClr val="333333"/>
                </a:solidFill>
                <a:latin typeface="Calibri"/>
              </a:rPr>
              <a:t>–   Busca tres cosas: decisiones sin argumento, incoherencias entre artefactos y riesgos sin nombrar.</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insumo: las seis piezas del paquete v1</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is-pieza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seis-pieza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seis-pieza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criterio central de auditoria se llama trazabilidad: la propiedad de que un elemento se pueda seguir de un artefacto al siguiente sin cambiar de…</a:t>
            </a:r>
          </a:p>
          <a:p>
            <a:pPr>
              <a:spcAft>
                <a:spcPts val="800"/>
              </a:spcAft>
            </a:pPr>
            <a:r>
              <a:rPr sz="2000" b="0" i="0">
                <a:solidFill>
                  <a:srgbClr val="333333"/>
                </a:solidFill>
                <a:latin typeface="Calibri"/>
              </a:rPr>
              <a:t>–   Las seis piezas son: diagrama Context, diagrama Containers, diagrama de despliegue, Dockerfile, workflow de Actions e informe.</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Las cinco preguntas de coherencia, en orden</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nco-cadena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inco-cadena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inco-cadena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Cada contenedor del C4 aparece en el Despliegue con el mismo nombre; cada actor y sistema externo del Context sigue existiendo.</a:t>
            </a:r>
          </a:p>
          <a:p>
            <a:pPr>
              <a:spcAft>
                <a:spcPts val="800"/>
              </a:spcAft>
            </a:pPr>
            <a:r>
              <a:rPr sz="2000" b="0" i="0">
                <a:solidFill>
                  <a:srgbClr val="333333"/>
                </a:solidFill>
                <a:latin typeface="Calibri"/>
              </a:rPr>
              <a:t>–   Cada amenaza de STRIDE tiene un control visible en el Despliegue.</a:t>
            </a:r>
          </a:p>
          <a:p>
            <a:pPr>
              <a:spcAft>
                <a:spcPts val="800"/>
              </a:spcAft>
            </a:pPr>
            <a:r>
              <a:rPr sz="2000" b="0" i="0">
                <a:solidFill>
                  <a:srgbClr val="333333"/>
                </a:solidFill>
                <a:latin typeface="Calibri"/>
              </a:rPr>
              <a:t>–   La tabla de costos usa los mismos componentes, y el workflow se ejecutó al menos una vez.</a:t>
            </a:r>
          </a:p>
          <a:p>
            <a:pPr>
              <a:spcAft>
                <a:spcPts val="800"/>
              </a:spcAft>
            </a:pPr>
            <a:r>
              <a:rPr sz="2000" b="0" i="0">
                <a:solidFill>
                  <a:srgbClr val="333333"/>
                </a:solidFill>
                <a:latin typeface="Calibri"/>
              </a:rPr>
              <a:t>–   El acta no es una nota: dice cuáles de las cinco cadenas están rotas.</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Scope creep y arquitectura de papel: las dos patologias con nombre propio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s-patologia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dos-patologias-paso2.png"/>
          <p:cNvPicPr>
            <a:picLocks noChangeAspect="1"/>
          </p:cNvPicPr>
          <p:nvPr/>
        </p:nvPicPr>
        <p:blipFill>
          <a:blip r:embed="rId3"/>
          <a:stretch>
            <a:fillRect/>
          </a:stretch>
        </p:blipFill>
        <p:spPr>
          <a:xfrm>
            <a:off x="5876318" y="1261872"/>
            <a:ext cx="5852160" cy="4681728"/>
          </a:xfrm>
          <a:prstGeom prst="rect">
            <a:avLst/>
          </a:prstGeom>
        </p:spPr>
      </p:pic>
      <p:sp>
        <p:nvSpPr>
          <p:cNvPr id="8" name="TextBox 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9" name="TextBox 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primera es el scope creep, el crecimiento no controlado del alcance.</a:t>
            </a:r>
          </a:p>
          <a:p>
            <a:pPr>
              <a:spcAft>
                <a:spcPts val="800"/>
              </a:spcAft>
            </a:pPr>
            <a:r>
              <a:rPr sz="2000" b="0" i="0">
                <a:solidFill>
                  <a:srgbClr val="333333"/>
                </a:solidFill>
                <a:latin typeface="Calibri"/>
              </a:rPr>
              <a:t>–   La segunda patologia es el teatro de microservicios: servicios separados en el diagrama que en la practica no son unidades independientes.</a:t>
            </a:r>
          </a:p>
          <a:p>
            <a:pPr>
              <a:spcAft>
                <a:spcPts val="800"/>
              </a:spcAft>
            </a:pPr>
            <a:r>
              <a:rPr sz="2000" b="0" i="0">
                <a:solidFill>
                  <a:srgbClr val="333333"/>
                </a:solidFill>
                <a:latin typeface="Calibri"/>
              </a:rPr>
              <a:t>–   En la app el caso clasico es el "servicio de autenticacion" dibujado como caja aparte que en el repositorio es un modulo dentro de la misma API.</a:t>
            </a:r>
          </a:p>
        </p:txBody>
      </p:sp>
      <p:sp>
        <p:nvSpPr>
          <p:cNvPr id="10" name="TextBox 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Errores frecuentes a corregir</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errores-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Microservicios teatro · nombres distintos entre diagramas · secretos en imagen.</a:t>
            </a:r>
          </a:p>
          <a:p>
            <a:pPr>
              <a:spcAft>
                <a:spcPts val="800"/>
              </a:spcAft>
            </a:pPr>
            <a:r>
              <a:rPr sz="2000" b="0" i="0">
                <a:solidFill>
                  <a:srgbClr val="333333"/>
                </a:solidFill>
                <a:latin typeface="Calibri"/>
              </a:rPr>
              <a:t>–   CI sin tests · diagrama sin puertos · dominio infinito.</a:t>
            </a:r>
          </a:p>
          <a:p>
            <a:pPr>
              <a:spcAft>
                <a:spcPts val="800"/>
              </a:spcAft>
            </a:pPr>
            <a:r>
              <a:rPr sz="2000" b="0" i="0">
                <a:solidFill>
                  <a:srgbClr val="333333"/>
                </a:solidFill>
                <a:latin typeface="Calibri"/>
              </a:rPr>
              <a:t>–   </a:t>
            </a:r>
            <a:r>
              <a:rPr sz="2000" b="1" i="0">
                <a:solidFill>
                  <a:srgbClr val="333333"/>
                </a:solidFill>
                <a:latin typeface="Calibri"/>
              </a:rPr>
              <a:t>Microservicios teatro</a:t>
            </a:r>
            <a:r>
              <a:rPr sz="2000" b="0" i="0">
                <a:solidFill>
                  <a:srgbClr val="333333"/>
                </a:solidFill>
                <a:latin typeface="Calibri"/>
              </a:rPr>
              <a:t>: servicios separados que comparten base de datos y se despliegan siempre juntos.</a:t>
            </a:r>
          </a:p>
          <a:p>
            <a:pPr>
              <a:spcAft>
                <a:spcPts val="800"/>
              </a:spcAft>
            </a:pPr>
            <a:r>
              <a:rPr sz="2000" b="0" i="0">
                <a:solidFill>
                  <a:srgbClr val="333333"/>
                </a:solidFill>
                <a:latin typeface="Calibri"/>
              </a:rPr>
              <a:t>–   </a:t>
            </a:r>
            <a:r>
              <a:rPr sz="2000" b="1" i="0">
                <a:solidFill>
                  <a:srgbClr val="333333"/>
                </a:solidFill>
                <a:latin typeface="Calibri"/>
              </a:rPr>
              <a:t>Nombres distintos</a:t>
            </a:r>
            <a:r>
              <a:rPr sz="2000" b="0" i="0">
                <a:solidFill>
                  <a:srgbClr val="333333"/>
                </a:solidFill>
                <a:latin typeface="Calibri"/>
              </a:rPr>
              <a:t>: «API de turnos» en el C4 y «backend» en el Despliegue rompen la trazabilidad.</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C4 Component: por dentro de la API</a:t>
            </a:r>
          </a:p>
        </p:txBody>
      </p:sp>
      <p:sp>
        <p:nvSpPr>
          <p:cNvPr id="5" name="Rounded Rectangle 4"/>
          <p:cNvSpPr/>
          <p:nvPr/>
        </p:nvSpPr>
        <p:spPr>
          <a:xfrm>
            <a:off x="457200" y="1261872"/>
            <a:ext cx="6991923" cy="5120416"/>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6991923"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5894643" cy="292608"/>
          </a:xfrm>
          <a:prstGeom prst="rect">
            <a:avLst/>
          </a:prstGeom>
          <a:noFill/>
        </p:spPr>
        <p:txBody>
          <a:bodyPr wrap="square" anchor="ctr"/>
          <a:lstStyle/>
          <a:p>
            <a:pPr algn="r"/>
            <a:r>
              <a:rPr sz="1100" b="1" i="0">
                <a:solidFill>
                  <a:srgbClr val="BBBBBB"/>
                </a:solidFill>
                <a:latin typeface="Calibri"/>
              </a:rPr>
              <a:t>Mermaid</a:t>
            </a:r>
          </a:p>
        </p:txBody>
      </p:sp>
      <p:sp>
        <p:nvSpPr>
          <p:cNvPr id="11" name="TextBox 10"/>
          <p:cNvSpPr txBox="1"/>
          <p:nvPr/>
        </p:nvSpPr>
        <p:spPr>
          <a:xfrm>
            <a:off x="685800" y="1719072"/>
            <a:ext cx="502920" cy="4526056"/>
          </a:xfrm>
          <a:prstGeom prst="rect">
            <a:avLst/>
          </a:prstGeom>
          <a:noFill/>
        </p:spPr>
        <p:txBody>
          <a:bodyPr wrap="square">
            <a:spAutoFit/>
          </a:bodyPr>
          <a:lstStyle/>
          <a:p>
            <a:pPr algn="r">
              <a:spcAft>
                <a:spcPts val="235"/>
              </a:spcAft>
            </a:pPr>
            <a:r>
              <a:rPr sz="1100" i="0" b="0">
                <a:solidFill>
                  <a:srgbClr val="858585"/>
                </a:solidFill>
                <a:latin typeface="Consolas"/>
              </a:rPr>
              <a:t>1</a:t>
            </a:r>
          </a:p>
          <a:p>
            <a:pPr algn="r">
              <a:spcAft>
                <a:spcPts val="235"/>
              </a:spcAft>
            </a:pPr>
            <a:r>
              <a:rPr sz="1100" i="0" b="0">
                <a:solidFill>
                  <a:srgbClr val="858585"/>
                </a:solidFill>
                <a:latin typeface="Consolas"/>
              </a:rPr>
              <a:t>2</a:t>
            </a:r>
          </a:p>
          <a:p>
            <a:pPr algn="r">
              <a:spcAft>
                <a:spcPts val="235"/>
              </a:spcAft>
            </a:pPr>
            <a:r>
              <a:rPr sz="1100" i="0" b="0">
                <a:solidFill>
                  <a:srgbClr val="858585"/>
                </a:solidFill>
                <a:latin typeface="Consolas"/>
              </a:rPr>
              <a:t>3</a:t>
            </a:r>
          </a:p>
          <a:p>
            <a:pPr algn="r">
              <a:spcAft>
                <a:spcPts val="235"/>
              </a:spcAft>
            </a:pPr>
            <a:r>
              <a:rPr sz="1100" i="0" b="0">
                <a:solidFill>
                  <a:srgbClr val="858585"/>
                </a:solidFill>
                <a:latin typeface="Consolas"/>
              </a:rPr>
              <a:t>4</a:t>
            </a:r>
          </a:p>
          <a:p>
            <a:pPr algn="r">
              <a:spcAft>
                <a:spcPts val="235"/>
              </a:spcAft>
            </a:pPr>
            <a:r>
              <a:rPr sz="1100" i="0" b="0">
                <a:solidFill>
                  <a:srgbClr val="858585"/>
                </a:solidFill>
                <a:latin typeface="Consolas"/>
              </a:rPr>
              <a:t>5</a:t>
            </a:r>
          </a:p>
          <a:p>
            <a:pPr algn="r">
              <a:spcAft>
                <a:spcPts val="235"/>
              </a:spcAft>
            </a:pPr>
            <a:r>
              <a:rPr sz="1100" i="0" b="0">
                <a:solidFill>
                  <a:srgbClr val="858585"/>
                </a:solidFill>
                <a:latin typeface="Consolas"/>
              </a:rPr>
              <a:t>6</a:t>
            </a:r>
          </a:p>
          <a:p>
            <a:pPr algn="r">
              <a:spcAft>
                <a:spcPts val="235"/>
              </a:spcAft>
            </a:pPr>
            <a:r>
              <a:rPr sz="1100" i="0" b="0">
                <a:solidFill>
                  <a:srgbClr val="858585"/>
                </a:solidFill>
                <a:latin typeface="Consolas"/>
              </a:rPr>
              <a:t>7</a:t>
            </a:r>
          </a:p>
          <a:p>
            <a:pPr algn="r">
              <a:spcAft>
                <a:spcPts val="235"/>
              </a:spcAft>
            </a:pPr>
            <a:r>
              <a:rPr sz="1100" i="0" b="0">
                <a:solidFill>
                  <a:srgbClr val="858585"/>
                </a:solidFill>
                <a:latin typeface="Consolas"/>
              </a:rPr>
              <a:t>8</a:t>
            </a:r>
          </a:p>
          <a:p>
            <a:pPr algn="r">
              <a:spcAft>
                <a:spcPts val="235"/>
              </a:spcAft>
            </a:pPr>
            <a:r>
              <a:rPr sz="1100" i="0" b="0">
                <a:solidFill>
                  <a:srgbClr val="858585"/>
                </a:solidFill>
                <a:latin typeface="Consolas"/>
              </a:rPr>
              <a:t>9</a:t>
            </a:r>
          </a:p>
          <a:p>
            <a:pPr algn="r">
              <a:spcAft>
                <a:spcPts val="235"/>
              </a:spcAft>
            </a:pPr>
            <a:r>
              <a:rPr sz="1100" i="0" b="0">
                <a:solidFill>
                  <a:srgbClr val="858585"/>
                </a:solidFill>
                <a:latin typeface="Consolas"/>
              </a:rPr>
              <a:t>10</a:t>
            </a:r>
          </a:p>
          <a:p>
            <a:pPr algn="r">
              <a:spcAft>
                <a:spcPts val="235"/>
              </a:spcAft>
            </a:pPr>
            <a:r>
              <a:rPr sz="1100" i="0" b="0">
                <a:solidFill>
                  <a:srgbClr val="858585"/>
                </a:solidFill>
                <a:latin typeface="Consolas"/>
              </a:rPr>
              <a:t>11</a:t>
            </a:r>
          </a:p>
          <a:p>
            <a:pPr algn="r">
              <a:spcAft>
                <a:spcPts val="235"/>
              </a:spcAft>
            </a:pPr>
            <a:r>
              <a:rPr sz="1100" i="0" b="0">
                <a:solidFill>
                  <a:srgbClr val="858585"/>
                </a:solidFill>
                <a:latin typeface="Consolas"/>
              </a:rPr>
              <a:t>12</a:t>
            </a:r>
          </a:p>
          <a:p>
            <a:pPr algn="r">
              <a:spcAft>
                <a:spcPts val="235"/>
              </a:spcAft>
            </a:pPr>
            <a:r>
              <a:rPr sz="1100" i="0" b="0">
                <a:solidFill>
                  <a:srgbClr val="858585"/>
                </a:solidFill>
                <a:latin typeface="Consolas"/>
              </a:rPr>
              <a:t>13</a:t>
            </a:r>
          </a:p>
          <a:p>
            <a:pPr algn="r">
              <a:spcAft>
                <a:spcPts val="235"/>
              </a:spcAft>
            </a:pPr>
            <a:r>
              <a:rPr sz="1100" i="0" b="0">
                <a:solidFill>
                  <a:srgbClr val="858585"/>
                </a:solidFill>
                <a:latin typeface="Consolas"/>
              </a:rPr>
              <a:t>14</a:t>
            </a:r>
          </a:p>
          <a:p>
            <a:pPr algn="r">
              <a:spcAft>
                <a:spcPts val="235"/>
              </a:spcAft>
            </a:pPr>
            <a:r>
              <a:rPr sz="1100" i="0" b="0">
                <a:solidFill>
                  <a:srgbClr val="858585"/>
                </a:solidFill>
                <a:latin typeface="Consolas"/>
              </a:rPr>
              <a:t>15</a:t>
            </a:r>
          </a:p>
          <a:p>
            <a:pPr algn="r">
              <a:spcAft>
                <a:spcPts val="235"/>
              </a:spcAft>
            </a:pPr>
            <a:r>
              <a:rPr sz="1100" i="0" b="0">
                <a:solidFill>
                  <a:srgbClr val="858585"/>
                </a:solidFill>
                <a:latin typeface="Consolas"/>
              </a:rPr>
              <a:t>16</a:t>
            </a:r>
          </a:p>
          <a:p>
            <a:pPr algn="r">
              <a:spcAft>
                <a:spcPts val="235"/>
              </a:spcAft>
            </a:pPr>
            <a:r>
              <a:rPr sz="1100" i="0" b="0">
                <a:solidFill>
                  <a:srgbClr val="858585"/>
                </a:solidFill>
                <a:latin typeface="Consolas"/>
              </a:rPr>
              <a:t>17</a:t>
            </a:r>
          </a:p>
          <a:p>
            <a:pPr algn="r">
              <a:spcAft>
                <a:spcPts val="235"/>
              </a:spcAft>
            </a:pPr>
            <a:r>
              <a:rPr sz="1100" i="0" b="0">
                <a:solidFill>
                  <a:srgbClr val="858585"/>
                </a:solidFill>
                <a:latin typeface="Consolas"/>
              </a:rPr>
              <a:t>18</a:t>
            </a:r>
          </a:p>
          <a:p>
            <a:pPr algn="r">
              <a:spcAft>
                <a:spcPts val="235"/>
              </a:spcAft>
            </a:pPr>
            <a:r>
              <a:rPr sz="1100" i="0" b="0">
                <a:solidFill>
                  <a:srgbClr val="858585"/>
                </a:solidFill>
                <a:latin typeface="Consolas"/>
              </a:rPr>
              <a:t>19</a:t>
            </a:r>
          </a:p>
          <a:p>
            <a:pPr algn="r">
              <a:spcAft>
                <a:spcPts val="235"/>
              </a:spcAft>
            </a:pPr>
            <a:r>
              <a:rPr sz="1100" i="0" b="0">
                <a:solidFill>
                  <a:srgbClr val="858585"/>
                </a:solidFill>
                <a:latin typeface="Consolas"/>
              </a:rPr>
              <a:t>20</a:t>
            </a:r>
          </a:p>
          <a:p>
            <a:pPr algn="r">
              <a:spcAft>
                <a:spcPts val="235"/>
              </a:spcAft>
            </a:pPr>
            <a:r>
              <a:rPr sz="1100" i="0" b="0">
                <a:solidFill>
                  <a:srgbClr val="858585"/>
                </a:solidFill>
                <a:latin typeface="Consolas"/>
              </a:rPr>
              <a:t>21</a:t>
            </a:r>
          </a:p>
        </p:txBody>
      </p:sp>
      <p:sp>
        <p:nvSpPr>
          <p:cNvPr id="12" name="TextBox 11"/>
          <p:cNvSpPr txBox="1"/>
          <p:nvPr/>
        </p:nvSpPr>
        <p:spPr>
          <a:xfrm>
            <a:off x="1188720" y="1719072"/>
            <a:ext cx="5986083" cy="4526056"/>
          </a:xfrm>
          <a:prstGeom prst="rect">
            <a:avLst/>
          </a:prstGeom>
          <a:noFill/>
        </p:spPr>
        <p:txBody>
          <a:bodyPr wrap="square">
            <a:spAutoFit/>
          </a:bodyPr>
          <a:lstStyle/>
          <a:p>
            <a:pPr>
              <a:spcAft>
                <a:spcPts val="235"/>
              </a:spcAft>
            </a:pPr>
            <a:r>
              <a:rPr sz="1100" i="0" b="0">
                <a:solidFill>
                  <a:srgbClr val="D4D4D4"/>
                </a:solidFill>
                <a:latin typeface="Consolas"/>
              </a:rPr>
              <a:t>C4Component</a:t>
            </a:r>
          </a:p>
          <a:p>
            <a:pPr>
              <a:spcAft>
                <a:spcPts val="235"/>
              </a:spcAft>
            </a:pPr>
            <a:r>
              <a:rPr sz="1100" i="0" b="0">
                <a:solidFill>
                  <a:srgbClr val="D4D4D4"/>
                </a:solidFill>
                <a:latin typeface="Consolas"/>
              </a:rPr>
              <a:t>title</a:t>
            </a:r>
            <a:r>
              <a:rPr sz="1100" i="0" b="0">
                <a:solidFill>
                  <a:srgbClr val="D4D4D4"/>
                </a:solidFill>
                <a:latin typeface="Consolas"/>
              </a:rPr>
              <a:t> </a:t>
            </a:r>
            <a:r>
              <a:rPr sz="1100" i="0" b="0">
                <a:solidFill>
                  <a:srgbClr val="D4D4D4"/>
                </a:solidFill>
                <a:latin typeface="Consolas"/>
              </a:rPr>
              <a:t>Componentes</a:t>
            </a:r>
            <a:r>
              <a:rPr sz="1100" i="0" b="0">
                <a:solidFill>
                  <a:srgbClr val="D4D4D4"/>
                </a:solidFill>
                <a:latin typeface="Consolas"/>
              </a:rPr>
              <a:t> </a:t>
            </a:r>
            <a:r>
              <a:rPr sz="1100" i="0" b="0">
                <a:solidFill>
                  <a:srgbClr val="D4D4D4"/>
                </a:solidFill>
                <a:latin typeface="Consolas"/>
              </a:rPr>
              <a:t>de</a:t>
            </a:r>
            <a:r>
              <a:rPr sz="1100" i="0" b="0">
                <a:solidFill>
                  <a:srgbClr val="D4D4D4"/>
                </a:solidFill>
                <a:latin typeface="Consolas"/>
              </a:rPr>
              <a:t> </a:t>
            </a:r>
            <a:r>
              <a:rPr sz="1100" i="0" b="0">
                <a:solidFill>
                  <a:srgbClr val="D4D4D4"/>
                </a:solidFill>
                <a:latin typeface="Consolas"/>
              </a:rPr>
              <a:t>la</a:t>
            </a:r>
            <a:r>
              <a:rPr sz="1100" i="0" b="0">
                <a:solidFill>
                  <a:srgbClr val="D4D4D4"/>
                </a:solidFill>
                <a:latin typeface="Consolas"/>
              </a:rPr>
              <a:t> </a:t>
            </a:r>
            <a:r>
              <a:rPr sz="1100" i="0" b="0">
                <a:solidFill>
                  <a:srgbClr val="D4D4D4"/>
                </a:solidFill>
                <a:latin typeface="Consolas"/>
              </a:rPr>
              <a:t>API</a:t>
            </a:r>
            <a:r>
              <a:rPr sz="1100" i="0" b="0">
                <a:solidFill>
                  <a:srgbClr val="D4D4D4"/>
                </a:solidFill>
                <a:latin typeface="Consolas"/>
              </a:rPr>
              <a:t> </a:t>
            </a:r>
            <a:r>
              <a:rPr sz="1100" i="0" b="0">
                <a:solidFill>
                  <a:srgbClr val="D4D4D4"/>
                </a:solidFill>
                <a:latin typeface="Consolas"/>
              </a:rPr>
              <a:t>de</a:t>
            </a:r>
            <a:r>
              <a:rPr sz="1100" i="0" b="0">
                <a:solidFill>
                  <a:srgbClr val="D4D4D4"/>
                </a:solidFill>
                <a:latin typeface="Consolas"/>
              </a:rPr>
              <a:t> </a:t>
            </a:r>
            <a:r>
              <a:rPr sz="1100" i="0" b="0">
                <a:solidFill>
                  <a:srgbClr val="D4D4D4"/>
                </a:solidFill>
                <a:latin typeface="Consolas"/>
              </a:rPr>
              <a:t>turnos</a:t>
            </a:r>
          </a:p>
          <a:p>
            <a:pPr>
              <a:spcAft>
                <a:spcPts val="235"/>
              </a:spcAft>
            </a:pPr>
            <a:r>
              <a:rPr sz="1100" i="0" b="0">
                <a:solidFill>
                  <a:srgbClr val="DCDCAA"/>
                </a:solidFill>
                <a:latin typeface="Consolas"/>
              </a:rPr>
              <a:t>Container</a:t>
            </a:r>
            <a:r>
              <a:rPr sz="1100" i="0" b="0">
                <a:solidFill>
                  <a:srgbClr val="D4D4D4"/>
                </a:solidFill>
                <a:latin typeface="Consolas"/>
              </a:rPr>
              <a:t>(</a:t>
            </a:r>
            <a:r>
              <a:rPr sz="1100" i="0" b="0">
                <a:solidFill>
                  <a:srgbClr val="D4D4D4"/>
                </a:solidFill>
                <a:latin typeface="Consolas"/>
              </a:rPr>
              <a:t>spa</a:t>
            </a:r>
            <a:r>
              <a:rPr sz="1100" i="0" b="0">
                <a:solidFill>
                  <a:srgbClr val="D4D4D4"/>
                </a:solidFill>
                <a:latin typeface="Consolas"/>
              </a:rPr>
              <a:t>, </a:t>
            </a:r>
            <a:r>
              <a:rPr sz="1100" i="0" b="0">
                <a:solidFill>
                  <a:srgbClr val="CE9178"/>
                </a:solidFill>
                <a:latin typeface="Consolas"/>
              </a:rPr>
              <a:t>"App web"</a:t>
            </a:r>
            <a:r>
              <a:rPr sz="1100" i="0" b="0">
                <a:solidFill>
                  <a:srgbClr val="D4D4D4"/>
                </a:solidFill>
                <a:latin typeface="Consolas"/>
              </a:rPr>
              <a:t>, </a:t>
            </a:r>
            <a:r>
              <a:rPr sz="1100" i="0" b="0">
                <a:solidFill>
                  <a:srgbClr val="CE9178"/>
                </a:solidFill>
                <a:latin typeface="Consolas"/>
              </a:rPr>
              <a:t>"React"</a:t>
            </a:r>
            <a:r>
              <a:rPr sz="1100" i="0" b="0">
                <a:solidFill>
                  <a:srgbClr val="D4D4D4"/>
                </a:solidFill>
                <a:latin typeface="Consolas"/>
              </a:rPr>
              <a:t>, </a:t>
            </a:r>
            <a:r>
              <a:rPr sz="1100" i="0" b="0">
                <a:solidFill>
                  <a:srgbClr val="CE9178"/>
                </a:solidFill>
                <a:latin typeface="Consolas"/>
              </a:rPr>
              <a:t>"Crea la reserva"</a:t>
            </a:r>
            <a:r>
              <a:rPr sz="1100" i="0" b="0">
                <a:solidFill>
                  <a:srgbClr val="D4D4D4"/>
                </a:solidFill>
                <a:latin typeface="Consolas"/>
              </a:rPr>
              <a:t>)</a:t>
            </a:r>
          </a:p>
          <a:p>
            <a:pPr>
              <a:spcAft>
                <a:spcPts val="235"/>
              </a:spcAft>
            </a:pPr>
            <a:r>
              <a:rPr sz="1100" i="0" b="0">
                <a:solidFill>
                  <a:srgbClr val="DCDCAA"/>
                </a:solidFill>
                <a:latin typeface="Consolas"/>
              </a:rPr>
              <a:t>Container_Boundary</a:t>
            </a:r>
            <a:r>
              <a:rPr sz="1100" i="0" b="0">
                <a:solidFill>
                  <a:srgbClr val="D4D4D4"/>
                </a:solidFill>
                <a:latin typeface="Consolas"/>
              </a:rPr>
              <a:t>(</a:t>
            </a:r>
            <a:r>
              <a:rPr sz="1100" i="0" b="0">
                <a:solidFill>
                  <a:srgbClr val="D4D4D4"/>
                </a:solidFill>
                <a:latin typeface="Consolas"/>
              </a:rPr>
              <a:t>api</a:t>
            </a:r>
            <a:r>
              <a:rPr sz="1100" i="0" b="0">
                <a:solidFill>
                  <a:srgbClr val="D4D4D4"/>
                </a:solidFill>
                <a:latin typeface="Consolas"/>
              </a:rPr>
              <a:t>, </a:t>
            </a:r>
            <a:r>
              <a:rPr sz="1100" i="0" b="0">
                <a:solidFill>
                  <a:srgbClr val="CE9178"/>
                </a:solidFill>
                <a:latin typeface="Consolas"/>
              </a:rPr>
              <a:t>"API de turnos - Node.js"</a:t>
            </a:r>
            <a:r>
              <a:rPr sz="1100" i="0" b="0">
                <a:solidFill>
                  <a:srgbClr val="D4D4D4"/>
                </a:solidFill>
                <a:latin typeface="Consolas"/>
              </a:rPr>
              <a:t>) {</a:t>
            </a:r>
          </a:p>
          <a:p>
            <a:pPr>
              <a:spcAft>
                <a:spcPts val="235"/>
              </a:spcAft>
            </a:pPr>
            <a:r>
              <a:rPr sz="1100" i="0" b="0">
                <a:solidFill>
                  <a:srgbClr val="D4D4D4"/>
                </a:solidFill>
                <a:latin typeface="Consolas"/>
              </a:rPr>
              <a:t>  </a:t>
            </a:r>
            <a:r>
              <a:rPr sz="1100" i="0" b="0">
                <a:solidFill>
                  <a:srgbClr val="DCDCAA"/>
                </a:solidFill>
                <a:latin typeface="Consolas"/>
              </a:rPr>
              <a:t>Component</a:t>
            </a:r>
            <a:r>
              <a:rPr sz="1100" i="0" b="0">
                <a:solidFill>
                  <a:srgbClr val="D4D4D4"/>
                </a:solidFill>
                <a:latin typeface="Consolas"/>
              </a:rPr>
              <a:t>(</a:t>
            </a:r>
            <a:r>
              <a:rPr sz="1100" i="0" b="0">
                <a:solidFill>
                  <a:srgbClr val="D4D4D4"/>
                </a:solidFill>
                <a:latin typeface="Consolas"/>
              </a:rPr>
              <a:t>rutas</a:t>
            </a:r>
            <a:r>
              <a:rPr sz="1100" i="0" b="0">
                <a:solidFill>
                  <a:srgbClr val="D4D4D4"/>
                </a:solidFill>
                <a:latin typeface="Consolas"/>
              </a:rPr>
              <a:t>, </a:t>
            </a:r>
            <a:r>
              <a:rPr sz="1100" i="0" b="0">
                <a:solidFill>
                  <a:srgbClr val="CE9178"/>
                </a:solidFill>
                <a:latin typeface="Consolas"/>
              </a:rPr>
              <a:t>"Rutas"</a:t>
            </a:r>
            <a:r>
              <a:rPr sz="1100" i="0" b="0">
                <a:solidFill>
                  <a:srgbClr val="D4D4D4"/>
                </a:solidFill>
                <a:latin typeface="Consolas"/>
              </a:rPr>
              <a:t>, </a:t>
            </a:r>
            <a:r>
              <a:rPr sz="1100" i="0" b="0">
                <a:solidFill>
                  <a:srgbClr val="CE9178"/>
                </a:solidFill>
                <a:latin typeface="Consolas"/>
              </a:rPr>
              <a:t>"Express"</a:t>
            </a:r>
            <a:r>
              <a:rPr sz="1100" i="0" b="0">
                <a:solidFill>
                  <a:srgbClr val="D4D4D4"/>
                </a:solidFill>
                <a:latin typeface="Consolas"/>
              </a:rPr>
              <a:t>, </a:t>
            </a:r>
            <a:r>
              <a:rPr sz="1100" i="0" b="0">
                <a:solidFill>
                  <a:srgbClr val="CE9178"/>
                </a:solidFill>
                <a:latin typeface="Consolas"/>
              </a:rPr>
              <a:t>"Valida la peticion"</a:t>
            </a:r>
            <a:r>
              <a:rPr sz="1100" i="0" b="0">
                <a:solidFill>
                  <a:srgbClr val="D4D4D4"/>
                </a:solidFill>
                <a:latin typeface="Consolas"/>
              </a:rPr>
              <a:t>)</a:t>
            </a:r>
          </a:p>
          <a:p>
            <a:pPr>
              <a:spcAft>
                <a:spcPts val="235"/>
              </a:spcAft>
            </a:pPr>
            <a:r>
              <a:rPr sz="1100" i="0" b="0">
                <a:solidFill>
                  <a:srgbClr val="D4D4D4"/>
                </a:solidFill>
                <a:latin typeface="Consolas"/>
              </a:rPr>
              <a:t>  </a:t>
            </a:r>
            <a:r>
              <a:rPr sz="1100" i="0" b="0">
                <a:solidFill>
                  <a:srgbClr val="DCDCAA"/>
                </a:solidFill>
                <a:latin typeface="Consolas"/>
              </a:rPr>
              <a:t>Component</a:t>
            </a:r>
            <a:r>
              <a:rPr sz="1100" i="0" b="0">
                <a:solidFill>
                  <a:srgbClr val="D4D4D4"/>
                </a:solidFill>
                <a:latin typeface="Consolas"/>
              </a:rPr>
              <a:t>(</a:t>
            </a:r>
            <a:r>
              <a:rPr sz="1100" i="0" b="0">
                <a:solidFill>
                  <a:srgbClr val="D4D4D4"/>
                </a:solidFill>
                <a:latin typeface="Consolas"/>
              </a:rPr>
              <a:t>token</a:t>
            </a:r>
            <a:r>
              <a:rPr sz="1100" i="0" b="0">
                <a:solidFill>
                  <a:srgbClr val="D4D4D4"/>
                </a:solidFill>
                <a:latin typeface="Consolas"/>
              </a:rPr>
              <a:t>, </a:t>
            </a:r>
            <a:r>
              <a:rPr sz="1100" i="0" b="0">
                <a:solidFill>
                  <a:srgbClr val="CE9178"/>
                </a:solidFill>
                <a:latin typeface="Consolas"/>
              </a:rPr>
              <a:t>"Token"</a:t>
            </a:r>
            <a:r>
              <a:rPr sz="1100" i="0" b="0">
                <a:solidFill>
                  <a:srgbClr val="D4D4D4"/>
                </a:solidFill>
                <a:latin typeface="Consolas"/>
              </a:rPr>
              <a:t>, </a:t>
            </a:r>
            <a:r>
              <a:rPr sz="1100" i="0" b="0">
                <a:solidFill>
                  <a:srgbClr val="CE9178"/>
                </a:solidFill>
                <a:latin typeface="Consolas"/>
              </a:rPr>
              <a:t>"JWT"</a:t>
            </a:r>
            <a:r>
              <a:rPr sz="1100" i="0" b="0">
                <a:solidFill>
                  <a:srgbClr val="D4D4D4"/>
                </a:solidFill>
                <a:latin typeface="Consolas"/>
              </a:rPr>
              <a:t>, </a:t>
            </a:r>
            <a:r>
              <a:rPr sz="1100" i="0" b="0">
                <a:solidFill>
                  <a:srgbClr val="CE9178"/>
                </a:solidFill>
                <a:latin typeface="Consolas"/>
              </a:rPr>
              <a:t>"Firma y expiracion"</a:t>
            </a:r>
            <a:r>
              <a:rPr sz="1100" i="0" b="0">
                <a:solidFill>
                  <a:srgbClr val="D4D4D4"/>
                </a:solidFill>
                <a:latin typeface="Consolas"/>
              </a:rPr>
              <a:t>)</a:t>
            </a:r>
          </a:p>
          <a:p>
            <a:pPr>
              <a:spcAft>
                <a:spcPts val="235"/>
              </a:spcAft>
            </a:pPr>
            <a:r>
              <a:rPr sz="1100" i="0" b="0">
                <a:solidFill>
                  <a:srgbClr val="D4D4D4"/>
                </a:solidFill>
                <a:latin typeface="Consolas"/>
              </a:rPr>
              <a:t>  </a:t>
            </a:r>
            <a:r>
              <a:rPr sz="1100" i="0" b="0">
                <a:solidFill>
                  <a:srgbClr val="DCDCAA"/>
                </a:solidFill>
                <a:latin typeface="Consolas"/>
              </a:rPr>
              <a:t>Component</a:t>
            </a:r>
            <a:r>
              <a:rPr sz="1100" i="0" b="0">
                <a:solidFill>
                  <a:srgbClr val="D4D4D4"/>
                </a:solidFill>
                <a:latin typeface="Consolas"/>
              </a:rPr>
              <a:t>(</a:t>
            </a:r>
            <a:r>
              <a:rPr sz="1100" i="0" b="0">
                <a:solidFill>
                  <a:srgbClr val="D4D4D4"/>
                </a:solidFill>
                <a:latin typeface="Consolas"/>
              </a:rPr>
              <a:t>reglas</a:t>
            </a:r>
            <a:r>
              <a:rPr sz="1100" i="0" b="0">
                <a:solidFill>
                  <a:srgbClr val="D4D4D4"/>
                </a:solidFill>
                <a:latin typeface="Consolas"/>
              </a:rPr>
              <a:t>, </a:t>
            </a:r>
            <a:r>
              <a:rPr sz="1100" i="0" b="0">
                <a:solidFill>
                  <a:srgbClr val="CE9178"/>
                </a:solidFill>
                <a:latin typeface="Consolas"/>
              </a:rPr>
              <a:t>"Reglas"</a:t>
            </a:r>
            <a:r>
              <a:rPr sz="1100" i="0" b="0">
                <a:solidFill>
                  <a:srgbClr val="D4D4D4"/>
                </a:solidFill>
                <a:latin typeface="Consolas"/>
              </a:rPr>
              <a:t>, </a:t>
            </a:r>
            <a:r>
              <a:rPr sz="1100" i="0" b="0">
                <a:solidFill>
                  <a:srgbClr val="CE9178"/>
                </a:solidFill>
                <a:latin typeface="Consolas"/>
              </a:rPr>
              <a:t>"Node.js"</a:t>
            </a:r>
            <a:r>
              <a:rPr sz="1100" i="0" b="0">
                <a:solidFill>
                  <a:srgbClr val="D4D4D4"/>
                </a:solidFill>
                <a:latin typeface="Consolas"/>
              </a:rPr>
              <a:t>, </a:t>
            </a:r>
            <a:r>
              <a:rPr sz="1100" i="0" b="0">
                <a:solidFill>
                  <a:srgbClr val="CE9178"/>
                </a:solidFill>
                <a:latin typeface="Consolas"/>
              </a:rPr>
              <a:t>"Sin doble reserva"</a:t>
            </a:r>
            <a:r>
              <a:rPr sz="1100" i="0" b="0">
                <a:solidFill>
                  <a:srgbClr val="D4D4D4"/>
                </a:solidFill>
                <a:latin typeface="Consolas"/>
              </a:rPr>
              <a:t>)</a:t>
            </a:r>
          </a:p>
          <a:p>
            <a:pPr>
              <a:spcAft>
                <a:spcPts val="235"/>
              </a:spcAft>
            </a:pPr>
            <a:r>
              <a:rPr sz="1100" i="0" b="0">
                <a:solidFill>
                  <a:srgbClr val="D4D4D4"/>
                </a:solidFill>
                <a:latin typeface="Consolas"/>
              </a:rPr>
              <a:t>  </a:t>
            </a:r>
            <a:r>
              <a:rPr sz="1100" i="0" b="0">
                <a:solidFill>
                  <a:srgbClr val="DCDCAA"/>
                </a:solidFill>
                <a:latin typeface="Consolas"/>
              </a:rPr>
              <a:t>Component</a:t>
            </a:r>
            <a:r>
              <a:rPr sz="1100" i="0" b="0">
                <a:solidFill>
                  <a:srgbClr val="D4D4D4"/>
                </a:solidFill>
                <a:latin typeface="Consolas"/>
              </a:rPr>
              <a:t>(</a:t>
            </a:r>
            <a:r>
              <a:rPr sz="1100" i="0" b="0">
                <a:solidFill>
                  <a:srgbClr val="D4D4D4"/>
                </a:solidFill>
                <a:latin typeface="Consolas"/>
              </a:rPr>
              <a:t>repo</a:t>
            </a:r>
            <a:r>
              <a:rPr sz="1100" i="0" b="0">
                <a:solidFill>
                  <a:srgbClr val="D4D4D4"/>
                </a:solidFill>
                <a:latin typeface="Consolas"/>
              </a:rPr>
              <a:t>, </a:t>
            </a:r>
            <a:r>
              <a:rPr sz="1100" i="0" b="0">
                <a:solidFill>
                  <a:srgbClr val="CE9178"/>
                </a:solidFill>
                <a:latin typeface="Consolas"/>
              </a:rPr>
              <a:t>"Repositorio"</a:t>
            </a:r>
            <a:r>
              <a:rPr sz="1100" i="0" b="0">
                <a:solidFill>
                  <a:srgbClr val="D4D4D4"/>
                </a:solidFill>
                <a:latin typeface="Consolas"/>
              </a:rPr>
              <a:t>, </a:t>
            </a:r>
            <a:r>
              <a:rPr sz="1100" i="0" b="0">
                <a:solidFill>
                  <a:srgbClr val="CE9178"/>
                </a:solidFill>
                <a:latin typeface="Consolas"/>
              </a:rPr>
              <a:t>"node-postgres"</a:t>
            </a:r>
            <a:r>
              <a:rPr sz="1100" i="0" b="0">
                <a:solidFill>
                  <a:srgbClr val="D4D4D4"/>
                </a:solidFill>
                <a:latin typeface="Consolas"/>
              </a:rPr>
              <a:t>, </a:t>
            </a:r>
            <a:r>
              <a:rPr sz="1100" i="0" b="0">
                <a:solidFill>
                  <a:srgbClr val="CE9178"/>
                </a:solidFill>
                <a:latin typeface="Consolas"/>
              </a:rPr>
              <a:t>"El SQL"</a:t>
            </a:r>
            <a:r>
              <a:rPr sz="1100" i="0" b="0">
                <a:solidFill>
                  <a:srgbClr val="D4D4D4"/>
                </a:solidFill>
                <a:latin typeface="Consolas"/>
              </a:rPr>
              <a:t>)</a:t>
            </a:r>
          </a:p>
          <a:p>
            <a:pPr>
              <a:spcAft>
                <a:spcPts val="235"/>
              </a:spcAft>
            </a:pPr>
            <a:r>
              <a:rPr sz="1100" i="0" b="0">
                <a:solidFill>
                  <a:srgbClr val="D4D4D4"/>
                </a:solidFill>
                <a:latin typeface="Consolas"/>
              </a:rPr>
              <a:t>  </a:t>
            </a:r>
            <a:r>
              <a:rPr sz="1100" i="0" b="0">
                <a:solidFill>
                  <a:srgbClr val="DCDCAA"/>
                </a:solidFill>
                <a:latin typeface="Consolas"/>
              </a:rPr>
              <a:t>Component</a:t>
            </a:r>
            <a:r>
              <a:rPr sz="1100" i="0" b="0">
                <a:solidFill>
                  <a:srgbClr val="D4D4D4"/>
                </a:solidFill>
                <a:latin typeface="Consolas"/>
              </a:rPr>
              <a:t>(</a:t>
            </a:r>
            <a:r>
              <a:rPr sz="1100" i="0" b="0">
                <a:solidFill>
                  <a:srgbClr val="D4D4D4"/>
                </a:solidFill>
                <a:latin typeface="Consolas"/>
              </a:rPr>
              <a:t>pub</a:t>
            </a:r>
            <a:r>
              <a:rPr sz="1100" i="0" b="0">
                <a:solidFill>
                  <a:srgbClr val="D4D4D4"/>
                </a:solidFill>
                <a:latin typeface="Consolas"/>
              </a:rPr>
              <a:t>, </a:t>
            </a:r>
            <a:r>
              <a:rPr sz="1100" i="0" b="0">
                <a:solidFill>
                  <a:srgbClr val="CE9178"/>
                </a:solidFill>
                <a:latin typeface="Consolas"/>
              </a:rPr>
              <a:t>"Publicador"</a:t>
            </a:r>
            <a:r>
              <a:rPr sz="1100" i="0" b="0">
                <a:solidFill>
                  <a:srgbClr val="D4D4D4"/>
                </a:solidFill>
                <a:latin typeface="Consolas"/>
              </a:rPr>
              <a:t>, </a:t>
            </a:r>
            <a:r>
              <a:rPr sz="1100" i="0" b="0">
                <a:solidFill>
                  <a:srgbClr val="CE9178"/>
                </a:solidFill>
                <a:latin typeface="Consolas"/>
              </a:rPr>
              <a:t>"AMQP"</a:t>
            </a:r>
            <a:r>
              <a:rPr sz="1100" i="0" b="0">
                <a:solidFill>
                  <a:srgbClr val="D4D4D4"/>
                </a:solidFill>
                <a:latin typeface="Consolas"/>
              </a:rPr>
              <a:t>, </a:t>
            </a:r>
            <a:r>
              <a:rPr sz="1100" i="0" b="0">
                <a:solidFill>
                  <a:srgbClr val="CE9178"/>
                </a:solidFill>
                <a:latin typeface="Consolas"/>
              </a:rPr>
              <a:t>"Publica el aviso"</a:t>
            </a:r>
            <a:r>
              <a:rPr sz="1100" i="0" b="0">
                <a:solidFill>
                  <a:srgbClr val="D4D4D4"/>
                </a:solidFill>
                <a:latin typeface="Consolas"/>
              </a:rPr>
              <a:t>)</a:t>
            </a:r>
          </a:p>
          <a:p>
            <a:pPr>
              <a:spcAft>
                <a:spcPts val="235"/>
              </a:spcAft>
            </a:pPr>
            <a:r>
              <a:rPr sz="1100" i="0" b="0">
                <a:solidFill>
                  <a:srgbClr val="D4D4D4"/>
                </a:solidFill>
                <a:latin typeface="Consolas"/>
              </a:rPr>
              <a:t>}</a:t>
            </a:r>
          </a:p>
          <a:p>
            <a:pPr>
              <a:spcAft>
                <a:spcPts val="235"/>
              </a:spcAft>
            </a:pPr>
            <a:r>
              <a:rPr sz="1100" i="0" b="0">
                <a:solidFill>
                  <a:srgbClr val="DCDCAA"/>
                </a:solidFill>
                <a:latin typeface="Consolas"/>
              </a:rPr>
              <a:t>ContainerDb</a:t>
            </a:r>
            <a:r>
              <a:rPr sz="1100" i="0" b="0">
                <a:solidFill>
                  <a:srgbClr val="D4D4D4"/>
                </a:solidFill>
                <a:latin typeface="Consolas"/>
              </a:rPr>
              <a:t>(</a:t>
            </a:r>
            <a:r>
              <a:rPr sz="1100" i="0" b="0">
                <a:solidFill>
                  <a:srgbClr val="D4D4D4"/>
                </a:solidFill>
                <a:latin typeface="Consolas"/>
              </a:rPr>
              <a:t>db</a:t>
            </a:r>
            <a:r>
              <a:rPr sz="1100" i="0" b="0">
                <a:solidFill>
                  <a:srgbClr val="D4D4D4"/>
                </a:solidFill>
                <a:latin typeface="Consolas"/>
              </a:rPr>
              <a:t>, </a:t>
            </a:r>
            <a:r>
              <a:rPr sz="1100" i="0" b="0">
                <a:solidFill>
                  <a:srgbClr val="CE9178"/>
                </a:solidFill>
                <a:latin typeface="Consolas"/>
              </a:rPr>
              <a:t>"Base de turnos"</a:t>
            </a:r>
            <a:r>
              <a:rPr sz="1100" i="0" b="0">
                <a:solidFill>
                  <a:srgbClr val="D4D4D4"/>
                </a:solidFill>
                <a:latin typeface="Consolas"/>
              </a:rPr>
              <a:t>, </a:t>
            </a:r>
            <a:r>
              <a:rPr sz="1100" i="0" b="0">
                <a:solidFill>
                  <a:srgbClr val="CE9178"/>
                </a:solidFill>
                <a:latin typeface="Consolas"/>
              </a:rPr>
              <a:t>"PostgreSQL"</a:t>
            </a:r>
            <a:r>
              <a:rPr sz="1100" i="0" b="0">
                <a:solidFill>
                  <a:srgbClr val="D4D4D4"/>
                </a:solidFill>
                <a:latin typeface="Consolas"/>
              </a:rPr>
              <a:t>, </a:t>
            </a:r>
            <a:r>
              <a:rPr sz="1100" i="0" b="0">
                <a:solidFill>
                  <a:srgbClr val="CE9178"/>
                </a:solidFill>
                <a:latin typeface="Consolas"/>
              </a:rPr>
              <a:t>"Turnos"</a:t>
            </a:r>
            <a:r>
              <a:rPr sz="1100" i="0" b="0">
                <a:solidFill>
                  <a:srgbClr val="D4D4D4"/>
                </a:solidFill>
                <a:latin typeface="Consolas"/>
              </a:rPr>
              <a:t>)</a:t>
            </a:r>
          </a:p>
          <a:p>
            <a:pPr>
              <a:spcAft>
                <a:spcPts val="235"/>
              </a:spcAft>
            </a:pPr>
            <a:r>
              <a:rPr sz="1100" i="0" b="0">
                <a:solidFill>
                  <a:srgbClr val="DCDCAA"/>
                </a:solidFill>
                <a:latin typeface="Consolas"/>
              </a:rPr>
              <a:t>ContainerQueue</a:t>
            </a:r>
            <a:r>
              <a:rPr sz="1100" i="0" b="0">
                <a:solidFill>
                  <a:srgbClr val="D4D4D4"/>
                </a:solidFill>
                <a:latin typeface="Consolas"/>
              </a:rPr>
              <a:t>(</a:t>
            </a:r>
            <a:r>
              <a:rPr sz="1100" i="0" b="0">
                <a:solidFill>
                  <a:srgbClr val="D4D4D4"/>
                </a:solidFill>
                <a:latin typeface="Consolas"/>
              </a:rPr>
              <a:t>cola</a:t>
            </a:r>
            <a:r>
              <a:rPr sz="1100" i="0" b="0">
                <a:solidFill>
                  <a:srgbClr val="D4D4D4"/>
                </a:solidFill>
                <a:latin typeface="Consolas"/>
              </a:rPr>
              <a:t>, </a:t>
            </a:r>
            <a:r>
              <a:rPr sz="1100" i="0" b="0">
                <a:solidFill>
                  <a:srgbClr val="CE9178"/>
                </a:solidFill>
                <a:latin typeface="Consolas"/>
              </a:rPr>
              <a:t>"Cola de avisos"</a:t>
            </a:r>
            <a:r>
              <a:rPr sz="1100" i="0" b="0">
                <a:solidFill>
                  <a:srgbClr val="D4D4D4"/>
                </a:solidFill>
                <a:latin typeface="Consolas"/>
              </a:rPr>
              <a:t>, </a:t>
            </a:r>
            <a:r>
              <a:rPr sz="1100" i="0" b="0">
                <a:solidFill>
                  <a:srgbClr val="CE9178"/>
                </a:solidFill>
                <a:latin typeface="Consolas"/>
              </a:rPr>
              <a:t>"RabbitMQ"</a:t>
            </a:r>
            <a:r>
              <a:rPr sz="1100" i="0" b="0">
                <a:solidFill>
                  <a:srgbClr val="D4D4D4"/>
                </a:solidFill>
                <a:latin typeface="Consolas"/>
              </a:rPr>
              <a:t>, </a:t>
            </a:r>
            <a:r>
              <a:rPr sz="1100" i="0" b="0">
                <a:solidFill>
                  <a:srgbClr val="CE9178"/>
                </a:solidFill>
                <a:latin typeface="Consolas"/>
              </a:rPr>
              <a:t>"Avisos"</a:t>
            </a:r>
            <a:r>
              <a:rPr sz="1100" i="0" b="0">
                <a:solidFill>
                  <a:srgbClr val="D4D4D4"/>
                </a:solidFill>
                <a:latin typeface="Consolas"/>
              </a:rPr>
              <a:t>)</a:t>
            </a:r>
          </a:p>
          <a:p>
            <a:pPr>
              <a:spcAft>
                <a:spcPts val="235"/>
              </a:spcAft>
            </a:pPr>
            <a:r>
              <a:rPr sz="1100" i="0" b="0">
                <a:solidFill>
                  <a:srgbClr val="DCDCAA"/>
                </a:solidFill>
                <a:latin typeface="Consolas"/>
              </a:rPr>
              <a:t>System_Ext</a:t>
            </a:r>
            <a:r>
              <a:rPr sz="1100" i="0" b="0">
                <a:solidFill>
                  <a:srgbClr val="D4D4D4"/>
                </a:solidFill>
                <a:latin typeface="Consolas"/>
              </a:rPr>
              <a:t>(</a:t>
            </a:r>
            <a:r>
              <a:rPr sz="1100" i="0" b="0">
                <a:solidFill>
                  <a:srgbClr val="D4D4D4"/>
                </a:solidFill>
                <a:latin typeface="Consolas"/>
              </a:rPr>
              <a:t>idp</a:t>
            </a:r>
            <a:r>
              <a:rPr sz="1100" i="0" b="0">
                <a:solidFill>
                  <a:srgbClr val="D4D4D4"/>
                </a:solidFill>
                <a:latin typeface="Consolas"/>
              </a:rPr>
              <a:t>, </a:t>
            </a:r>
            <a:r>
              <a:rPr sz="1100" i="0" b="0">
                <a:solidFill>
                  <a:srgbClr val="CE9178"/>
                </a:solidFill>
                <a:latin typeface="Consolas"/>
              </a:rPr>
              <a:t>"Proveedor de identidad"</a:t>
            </a:r>
            <a:r>
              <a:rPr sz="1100" i="0" b="0">
                <a:solidFill>
                  <a:srgbClr val="D4D4D4"/>
                </a:solidFill>
                <a:latin typeface="Consolas"/>
              </a:rPr>
              <a:t>, </a:t>
            </a:r>
            <a:r>
              <a:rPr sz="1100" i="0" b="0">
                <a:solidFill>
                  <a:srgbClr val="CE9178"/>
                </a:solidFill>
                <a:latin typeface="Consolas"/>
              </a:rPr>
              <a:t>"Emite tokens"</a:t>
            </a:r>
            <a:r>
              <a:rPr sz="1100" i="0" b="0">
                <a:solidFill>
                  <a:srgbClr val="D4D4D4"/>
                </a:solidFill>
                <a:latin typeface="Consolas"/>
              </a:rPr>
              <a:t>)</a:t>
            </a:r>
          </a:p>
          <a:p>
            <a:pPr>
              <a:spcAft>
                <a:spcPts val="235"/>
              </a:spcAft>
            </a:pPr>
            <a:r>
              <a:rPr sz="1100" i="0" b="0">
                <a:solidFill>
                  <a:srgbClr val="DCDCAA"/>
                </a:solidFill>
                <a:latin typeface="Consolas"/>
              </a:rPr>
              <a:t>Rel</a:t>
            </a:r>
            <a:r>
              <a:rPr sz="1100" i="0" b="0">
                <a:solidFill>
                  <a:srgbClr val="D4D4D4"/>
                </a:solidFill>
                <a:latin typeface="Consolas"/>
              </a:rPr>
              <a:t>(</a:t>
            </a:r>
            <a:r>
              <a:rPr sz="1100" i="0" b="0">
                <a:solidFill>
                  <a:srgbClr val="D4D4D4"/>
                </a:solidFill>
                <a:latin typeface="Consolas"/>
              </a:rPr>
              <a:t>spa</a:t>
            </a:r>
            <a:r>
              <a:rPr sz="1100" i="0" b="0">
                <a:solidFill>
                  <a:srgbClr val="D4D4D4"/>
                </a:solidFill>
                <a:latin typeface="Consolas"/>
              </a:rPr>
              <a:t>, </a:t>
            </a:r>
            <a:r>
              <a:rPr sz="1100" i="0" b="0">
                <a:solidFill>
                  <a:srgbClr val="D4D4D4"/>
                </a:solidFill>
                <a:latin typeface="Consolas"/>
              </a:rPr>
              <a:t>rutas</a:t>
            </a:r>
            <a:r>
              <a:rPr sz="1100" i="0" b="0">
                <a:solidFill>
                  <a:srgbClr val="D4D4D4"/>
                </a:solidFill>
                <a:latin typeface="Consolas"/>
              </a:rPr>
              <a:t>, </a:t>
            </a:r>
            <a:r>
              <a:rPr sz="1100" i="0" b="0">
                <a:solidFill>
                  <a:srgbClr val="CE9178"/>
                </a:solidFill>
                <a:latin typeface="Consolas"/>
              </a:rPr>
              <a:t>"POST /turnos"</a:t>
            </a:r>
            <a:r>
              <a:rPr sz="1100" i="0" b="0">
                <a:solidFill>
                  <a:srgbClr val="D4D4D4"/>
                </a:solidFill>
                <a:latin typeface="Consolas"/>
              </a:rPr>
              <a:t>, </a:t>
            </a:r>
            <a:r>
              <a:rPr sz="1100" i="0" b="0">
                <a:solidFill>
                  <a:srgbClr val="CE9178"/>
                </a:solidFill>
                <a:latin typeface="Consolas"/>
              </a:rPr>
              <a:t>"HTTPS/JSON"</a:t>
            </a:r>
            <a:r>
              <a:rPr sz="1100" i="0" b="0">
                <a:solidFill>
                  <a:srgbClr val="D4D4D4"/>
                </a:solidFill>
                <a:latin typeface="Consolas"/>
              </a:rPr>
              <a:t>)</a:t>
            </a:r>
          </a:p>
          <a:p>
            <a:pPr>
              <a:spcAft>
                <a:spcPts val="235"/>
              </a:spcAft>
            </a:pPr>
            <a:r>
              <a:rPr sz="1100" i="0" b="0">
                <a:solidFill>
                  <a:srgbClr val="DCDCAA"/>
                </a:solidFill>
                <a:latin typeface="Consolas"/>
              </a:rPr>
              <a:t>Rel</a:t>
            </a:r>
            <a:r>
              <a:rPr sz="1100" i="0" b="0">
                <a:solidFill>
                  <a:srgbClr val="D4D4D4"/>
                </a:solidFill>
                <a:latin typeface="Consolas"/>
              </a:rPr>
              <a:t>(</a:t>
            </a:r>
            <a:r>
              <a:rPr sz="1100" i="0" b="0">
                <a:solidFill>
                  <a:srgbClr val="D4D4D4"/>
                </a:solidFill>
                <a:latin typeface="Consolas"/>
              </a:rPr>
              <a:t>rutas</a:t>
            </a:r>
            <a:r>
              <a:rPr sz="1100" i="0" b="0">
                <a:solidFill>
                  <a:srgbClr val="D4D4D4"/>
                </a:solidFill>
                <a:latin typeface="Consolas"/>
              </a:rPr>
              <a:t>, </a:t>
            </a:r>
            <a:r>
              <a:rPr sz="1100" i="0" b="0">
                <a:solidFill>
                  <a:srgbClr val="D4D4D4"/>
                </a:solidFill>
                <a:latin typeface="Consolas"/>
              </a:rPr>
              <a:t>token</a:t>
            </a:r>
            <a:r>
              <a:rPr sz="1100" i="0" b="0">
                <a:solidFill>
                  <a:srgbClr val="D4D4D4"/>
                </a:solidFill>
                <a:latin typeface="Consolas"/>
              </a:rPr>
              <a:t>, </a:t>
            </a:r>
            <a:r>
              <a:rPr sz="1100" i="0" b="0">
                <a:solidFill>
                  <a:srgbClr val="CE9178"/>
                </a:solidFill>
                <a:latin typeface="Consolas"/>
              </a:rPr>
              <a:t>"Verifica el token"</a:t>
            </a:r>
            <a:r>
              <a:rPr sz="1100" i="0" b="0">
                <a:solidFill>
                  <a:srgbClr val="D4D4D4"/>
                </a:solidFill>
                <a:latin typeface="Consolas"/>
              </a:rPr>
              <a:t>)</a:t>
            </a:r>
          </a:p>
          <a:p>
            <a:pPr>
              <a:spcAft>
                <a:spcPts val="235"/>
              </a:spcAft>
            </a:pPr>
            <a:r>
              <a:rPr sz="1100" i="0" b="0">
                <a:solidFill>
                  <a:srgbClr val="DCDCAA"/>
                </a:solidFill>
                <a:latin typeface="Consolas"/>
              </a:rPr>
              <a:t>Rel</a:t>
            </a:r>
            <a:r>
              <a:rPr sz="1100" i="0" b="0">
                <a:solidFill>
                  <a:srgbClr val="D4D4D4"/>
                </a:solidFill>
                <a:latin typeface="Consolas"/>
              </a:rPr>
              <a:t>(</a:t>
            </a:r>
            <a:r>
              <a:rPr sz="1100" i="0" b="0">
                <a:solidFill>
                  <a:srgbClr val="D4D4D4"/>
                </a:solidFill>
                <a:latin typeface="Consolas"/>
              </a:rPr>
              <a:t>token</a:t>
            </a:r>
            <a:r>
              <a:rPr sz="1100" i="0" b="0">
                <a:solidFill>
                  <a:srgbClr val="D4D4D4"/>
                </a:solidFill>
                <a:latin typeface="Consolas"/>
              </a:rPr>
              <a:t>, </a:t>
            </a:r>
            <a:r>
              <a:rPr sz="1100" i="0" b="0">
                <a:solidFill>
                  <a:srgbClr val="D4D4D4"/>
                </a:solidFill>
                <a:latin typeface="Consolas"/>
              </a:rPr>
              <a:t>idp</a:t>
            </a:r>
            <a:r>
              <a:rPr sz="1100" i="0" b="0">
                <a:solidFill>
                  <a:srgbClr val="D4D4D4"/>
                </a:solidFill>
                <a:latin typeface="Consolas"/>
              </a:rPr>
              <a:t>, </a:t>
            </a:r>
            <a:r>
              <a:rPr sz="1100" i="0" b="0">
                <a:solidFill>
                  <a:srgbClr val="CE9178"/>
                </a:solidFill>
                <a:latin typeface="Consolas"/>
              </a:rPr>
              <a:t>"Pide llaves publicas"</a:t>
            </a:r>
            <a:r>
              <a:rPr sz="1100" i="0" b="0">
                <a:solidFill>
                  <a:srgbClr val="D4D4D4"/>
                </a:solidFill>
                <a:latin typeface="Consolas"/>
              </a:rPr>
              <a:t>, </a:t>
            </a:r>
            <a:r>
              <a:rPr sz="1100" i="0" b="0">
                <a:solidFill>
                  <a:srgbClr val="CE9178"/>
                </a:solidFill>
                <a:latin typeface="Consolas"/>
              </a:rPr>
              <a:t>"HTTPS"</a:t>
            </a:r>
            <a:r>
              <a:rPr sz="1100" i="0" b="0">
                <a:solidFill>
                  <a:srgbClr val="D4D4D4"/>
                </a:solidFill>
                <a:latin typeface="Consolas"/>
              </a:rPr>
              <a:t>)</a:t>
            </a:r>
          </a:p>
          <a:p>
            <a:pPr>
              <a:spcAft>
                <a:spcPts val="235"/>
              </a:spcAft>
            </a:pPr>
            <a:r>
              <a:rPr sz="1100" i="0" b="0">
                <a:solidFill>
                  <a:srgbClr val="DCDCAA"/>
                </a:solidFill>
                <a:latin typeface="Consolas"/>
              </a:rPr>
              <a:t>Rel</a:t>
            </a:r>
            <a:r>
              <a:rPr sz="1100" i="0" b="0">
                <a:solidFill>
                  <a:srgbClr val="D4D4D4"/>
                </a:solidFill>
                <a:latin typeface="Consolas"/>
              </a:rPr>
              <a:t>(</a:t>
            </a:r>
            <a:r>
              <a:rPr sz="1100" i="0" b="0">
                <a:solidFill>
                  <a:srgbClr val="D4D4D4"/>
                </a:solidFill>
                <a:latin typeface="Consolas"/>
              </a:rPr>
              <a:t>rutas</a:t>
            </a:r>
            <a:r>
              <a:rPr sz="1100" i="0" b="0">
                <a:solidFill>
                  <a:srgbClr val="D4D4D4"/>
                </a:solidFill>
                <a:latin typeface="Consolas"/>
              </a:rPr>
              <a:t>, </a:t>
            </a:r>
            <a:r>
              <a:rPr sz="1100" i="0" b="0">
                <a:solidFill>
                  <a:srgbClr val="D4D4D4"/>
                </a:solidFill>
                <a:latin typeface="Consolas"/>
              </a:rPr>
              <a:t>reglas</a:t>
            </a:r>
            <a:r>
              <a:rPr sz="1100" i="0" b="0">
                <a:solidFill>
                  <a:srgbClr val="D4D4D4"/>
                </a:solidFill>
                <a:latin typeface="Consolas"/>
              </a:rPr>
              <a:t>, </a:t>
            </a:r>
            <a:r>
              <a:rPr sz="1100" i="0" b="0">
                <a:solidFill>
                  <a:srgbClr val="CE9178"/>
                </a:solidFill>
                <a:latin typeface="Consolas"/>
              </a:rPr>
              <a:t>"Pide reservar la franja"</a:t>
            </a:r>
            <a:r>
              <a:rPr sz="1100" i="0" b="0">
                <a:solidFill>
                  <a:srgbClr val="D4D4D4"/>
                </a:solidFill>
                <a:latin typeface="Consolas"/>
              </a:rPr>
              <a:t>)</a:t>
            </a:r>
          </a:p>
          <a:p>
            <a:pPr>
              <a:spcAft>
                <a:spcPts val="235"/>
              </a:spcAft>
            </a:pPr>
            <a:r>
              <a:rPr sz="1100" i="0" b="0">
                <a:solidFill>
                  <a:srgbClr val="DCDCAA"/>
                </a:solidFill>
                <a:latin typeface="Consolas"/>
              </a:rPr>
              <a:t>Rel</a:t>
            </a:r>
            <a:r>
              <a:rPr sz="1100" i="0" b="0">
                <a:solidFill>
                  <a:srgbClr val="D4D4D4"/>
                </a:solidFill>
                <a:latin typeface="Consolas"/>
              </a:rPr>
              <a:t>(</a:t>
            </a:r>
            <a:r>
              <a:rPr sz="1100" i="0" b="0">
                <a:solidFill>
                  <a:srgbClr val="D4D4D4"/>
                </a:solidFill>
                <a:latin typeface="Consolas"/>
              </a:rPr>
              <a:t>reglas</a:t>
            </a:r>
            <a:r>
              <a:rPr sz="1100" i="0" b="0">
                <a:solidFill>
                  <a:srgbClr val="D4D4D4"/>
                </a:solidFill>
                <a:latin typeface="Consolas"/>
              </a:rPr>
              <a:t>, </a:t>
            </a:r>
            <a:r>
              <a:rPr sz="1100" i="0" b="0">
                <a:solidFill>
                  <a:srgbClr val="D4D4D4"/>
                </a:solidFill>
                <a:latin typeface="Consolas"/>
              </a:rPr>
              <a:t>repo</a:t>
            </a:r>
            <a:r>
              <a:rPr sz="1100" i="0" b="0">
                <a:solidFill>
                  <a:srgbClr val="D4D4D4"/>
                </a:solidFill>
                <a:latin typeface="Consolas"/>
              </a:rPr>
              <a:t>, </a:t>
            </a:r>
            <a:r>
              <a:rPr sz="1100" i="0" b="0">
                <a:solidFill>
                  <a:srgbClr val="CE9178"/>
                </a:solidFill>
                <a:latin typeface="Consolas"/>
              </a:rPr>
              <a:t>"Guarda el turno"</a:t>
            </a:r>
            <a:r>
              <a:rPr sz="1100" i="0" b="0">
                <a:solidFill>
                  <a:srgbClr val="D4D4D4"/>
                </a:solidFill>
                <a:latin typeface="Consolas"/>
              </a:rPr>
              <a:t>)</a:t>
            </a:r>
          </a:p>
          <a:p>
            <a:pPr>
              <a:spcAft>
                <a:spcPts val="235"/>
              </a:spcAft>
            </a:pPr>
            <a:r>
              <a:rPr sz="1100" i="0" b="0">
                <a:solidFill>
                  <a:srgbClr val="DCDCAA"/>
                </a:solidFill>
                <a:latin typeface="Consolas"/>
              </a:rPr>
              <a:t>Rel</a:t>
            </a:r>
            <a:r>
              <a:rPr sz="1100" i="0" b="0">
                <a:solidFill>
                  <a:srgbClr val="D4D4D4"/>
                </a:solidFill>
                <a:latin typeface="Consolas"/>
              </a:rPr>
              <a:t>(</a:t>
            </a:r>
            <a:r>
              <a:rPr sz="1100" i="0" b="0">
                <a:solidFill>
                  <a:srgbClr val="D4D4D4"/>
                </a:solidFill>
                <a:latin typeface="Consolas"/>
              </a:rPr>
              <a:t>repo</a:t>
            </a:r>
            <a:r>
              <a:rPr sz="1100" i="0" b="0">
                <a:solidFill>
                  <a:srgbClr val="D4D4D4"/>
                </a:solidFill>
                <a:latin typeface="Consolas"/>
              </a:rPr>
              <a:t>, </a:t>
            </a:r>
            <a:r>
              <a:rPr sz="1100" i="0" b="0">
                <a:solidFill>
                  <a:srgbClr val="D4D4D4"/>
                </a:solidFill>
                <a:latin typeface="Consolas"/>
              </a:rPr>
              <a:t>db</a:t>
            </a:r>
            <a:r>
              <a:rPr sz="1100" i="0" b="0">
                <a:solidFill>
                  <a:srgbClr val="D4D4D4"/>
                </a:solidFill>
                <a:latin typeface="Consolas"/>
              </a:rPr>
              <a:t>, </a:t>
            </a:r>
            <a:r>
              <a:rPr sz="1100" i="0" b="0">
                <a:solidFill>
                  <a:srgbClr val="CE9178"/>
                </a:solidFill>
                <a:latin typeface="Consolas"/>
              </a:rPr>
              <a:t>"INSERT del turno"</a:t>
            </a:r>
            <a:r>
              <a:rPr sz="1100" i="0" b="0">
                <a:solidFill>
                  <a:srgbClr val="D4D4D4"/>
                </a:solidFill>
                <a:latin typeface="Consolas"/>
              </a:rPr>
              <a:t>, </a:t>
            </a:r>
            <a:r>
              <a:rPr sz="1100" i="0" b="0">
                <a:solidFill>
                  <a:srgbClr val="CE9178"/>
                </a:solidFill>
                <a:latin typeface="Consolas"/>
              </a:rPr>
              <a:t>"TCP/SQL"</a:t>
            </a:r>
            <a:r>
              <a:rPr sz="1100" i="0" b="0">
                <a:solidFill>
                  <a:srgbClr val="D4D4D4"/>
                </a:solidFill>
                <a:latin typeface="Consolas"/>
              </a:rPr>
              <a:t>)</a:t>
            </a:r>
          </a:p>
          <a:p>
            <a:pPr>
              <a:spcAft>
                <a:spcPts val="235"/>
              </a:spcAft>
            </a:pPr>
            <a:r>
              <a:rPr sz="1100" i="0" b="0">
                <a:solidFill>
                  <a:srgbClr val="DCDCAA"/>
                </a:solidFill>
                <a:latin typeface="Consolas"/>
              </a:rPr>
              <a:t>Rel</a:t>
            </a:r>
            <a:r>
              <a:rPr sz="1100" i="0" b="0">
                <a:solidFill>
                  <a:srgbClr val="D4D4D4"/>
                </a:solidFill>
                <a:latin typeface="Consolas"/>
              </a:rPr>
              <a:t>(</a:t>
            </a:r>
            <a:r>
              <a:rPr sz="1100" i="0" b="0">
                <a:solidFill>
                  <a:srgbClr val="D4D4D4"/>
                </a:solidFill>
                <a:latin typeface="Consolas"/>
              </a:rPr>
              <a:t>reglas</a:t>
            </a:r>
            <a:r>
              <a:rPr sz="1100" i="0" b="0">
                <a:solidFill>
                  <a:srgbClr val="D4D4D4"/>
                </a:solidFill>
                <a:latin typeface="Consolas"/>
              </a:rPr>
              <a:t>, </a:t>
            </a:r>
            <a:r>
              <a:rPr sz="1100" i="0" b="0">
                <a:solidFill>
                  <a:srgbClr val="D4D4D4"/>
                </a:solidFill>
                <a:latin typeface="Consolas"/>
              </a:rPr>
              <a:t>pub</a:t>
            </a:r>
            <a:r>
              <a:rPr sz="1100" i="0" b="0">
                <a:solidFill>
                  <a:srgbClr val="D4D4D4"/>
                </a:solidFill>
                <a:latin typeface="Consolas"/>
              </a:rPr>
              <a:t>, </a:t>
            </a:r>
            <a:r>
              <a:rPr sz="1100" i="0" b="0">
                <a:solidFill>
                  <a:srgbClr val="CE9178"/>
                </a:solidFill>
                <a:latin typeface="Consolas"/>
              </a:rPr>
              <a:t>"Pide avisar al cliente"</a:t>
            </a:r>
            <a:r>
              <a:rPr sz="1100" i="0" b="0">
                <a:solidFill>
                  <a:srgbClr val="D4D4D4"/>
                </a:solidFill>
                <a:latin typeface="Consolas"/>
              </a:rPr>
              <a:t>)</a:t>
            </a:r>
          </a:p>
          <a:p>
            <a:pPr>
              <a:spcAft>
                <a:spcPts val="235"/>
              </a:spcAft>
            </a:pPr>
            <a:r>
              <a:rPr sz="1100" i="0" b="0">
                <a:solidFill>
                  <a:srgbClr val="DCDCAA"/>
                </a:solidFill>
                <a:latin typeface="Consolas"/>
              </a:rPr>
              <a:t>Rel</a:t>
            </a:r>
            <a:r>
              <a:rPr sz="1100" i="0" b="0">
                <a:solidFill>
                  <a:srgbClr val="D4D4D4"/>
                </a:solidFill>
                <a:latin typeface="Consolas"/>
              </a:rPr>
              <a:t>(</a:t>
            </a:r>
            <a:r>
              <a:rPr sz="1100" i="0" b="0">
                <a:solidFill>
                  <a:srgbClr val="D4D4D4"/>
                </a:solidFill>
                <a:latin typeface="Consolas"/>
              </a:rPr>
              <a:t>pub</a:t>
            </a:r>
            <a:r>
              <a:rPr sz="1100" i="0" b="0">
                <a:solidFill>
                  <a:srgbClr val="D4D4D4"/>
                </a:solidFill>
                <a:latin typeface="Consolas"/>
              </a:rPr>
              <a:t>, </a:t>
            </a:r>
            <a:r>
              <a:rPr sz="1100" i="0" b="0">
                <a:solidFill>
                  <a:srgbClr val="D4D4D4"/>
                </a:solidFill>
                <a:latin typeface="Consolas"/>
              </a:rPr>
              <a:t>cola</a:t>
            </a:r>
            <a:r>
              <a:rPr sz="1100" i="0" b="0">
                <a:solidFill>
                  <a:srgbClr val="D4D4D4"/>
                </a:solidFill>
                <a:latin typeface="Consolas"/>
              </a:rPr>
              <a:t>, </a:t>
            </a:r>
            <a:r>
              <a:rPr sz="1100" i="0" b="0">
                <a:solidFill>
                  <a:srgbClr val="CE9178"/>
                </a:solidFill>
                <a:latin typeface="Consolas"/>
              </a:rPr>
              <a:t>"Publica aviso-de-turno"</a:t>
            </a:r>
            <a:r>
              <a:rPr sz="1100" i="0" b="0">
                <a:solidFill>
                  <a:srgbClr val="D4D4D4"/>
                </a:solidFill>
                <a:latin typeface="Consolas"/>
              </a:rPr>
              <a:t>, </a:t>
            </a:r>
            <a:r>
              <a:rPr sz="1100" i="0" b="0">
                <a:solidFill>
                  <a:srgbClr val="CE9178"/>
                </a:solidFill>
                <a:latin typeface="Consolas"/>
              </a:rPr>
              <a:t>"AMQP"</a:t>
            </a:r>
            <a:r>
              <a:rPr sz="1100" i="0" b="0">
                <a:solidFill>
                  <a:srgbClr val="D4D4D4"/>
                </a:solidFill>
                <a:latin typeface="Consolas"/>
              </a:rPr>
              <a:t>)</a:t>
            </a:r>
          </a:p>
        </p:txBody>
      </p:sp>
      <p:sp>
        <p:nvSpPr>
          <p:cNvPr id="13" name="Rounded Rectangle 12"/>
          <p:cNvSpPr/>
          <p:nvPr/>
        </p:nvSpPr>
        <p:spPr>
          <a:xfrm>
            <a:off x="7668579" y="1261872"/>
            <a:ext cx="4120780" cy="3318569"/>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g-c4-component-paso1.png"/>
          <p:cNvPicPr>
            <a:picLocks noChangeAspect="1"/>
          </p:cNvPicPr>
          <p:nvPr/>
        </p:nvPicPr>
        <p:blipFill>
          <a:blip r:embed="rId2"/>
          <a:stretch>
            <a:fillRect/>
          </a:stretch>
        </p:blipFill>
        <p:spPr>
          <a:xfrm>
            <a:off x="7723443" y="1316736"/>
            <a:ext cx="4011052" cy="3208841"/>
          </a:xfrm>
          <a:prstGeom prst="rect">
            <a:avLst/>
          </a:prstGeom>
        </p:spPr>
      </p:pic>
      <p:sp>
        <p:nvSpPr>
          <p:cNvPr id="15" name="TextBox 14"/>
          <p:cNvSpPr txBox="1"/>
          <p:nvPr/>
        </p:nvSpPr>
        <p:spPr>
          <a:xfrm>
            <a:off x="7723443" y="4580441"/>
            <a:ext cx="4011052" cy="320040"/>
          </a:xfrm>
          <a:prstGeom prst="rect">
            <a:avLst/>
          </a:prstGeom>
          <a:noFill/>
        </p:spPr>
        <p:txBody>
          <a:bodyPr wrap="square">
            <a:spAutoFit/>
          </a:bodyPr>
          <a:lstStyle/>
          <a:p>
            <a:pPr algn="ctr"/>
            <a:r>
              <a:rPr sz="1200" b="0" i="1">
                <a:solidFill>
                  <a:srgbClr val="666666"/>
                </a:solidFill>
                <a:latin typeface="Calibri"/>
              </a:rPr>
              <a:t>Lo que dibuja este código</a:t>
            </a:r>
          </a:p>
        </p:txBody>
      </p:sp>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Retroalimentacion util: observacion, evidencia, impacto y accion con fecha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tro-cuatro-parte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retro-cuatro-parte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retro-cuatro-partes-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retro-cuatro-partes-paso4.png"/>
          <p:cNvPicPr>
            <a:picLocks noChangeAspect="1"/>
          </p:cNvPicPr>
          <p:nvPr/>
        </p:nvPicPr>
        <p:blipFill>
          <a:blip r:embed="rId5"/>
          <a:stretch>
            <a:fillRect/>
          </a:stretch>
        </p:blipFill>
        <p:spPr>
          <a:xfrm>
            <a:off x="5876318" y="1261872"/>
            <a:ext cx="5852160" cy="4681728"/>
          </a:xfrm>
          <a:prstGeom prst="rect">
            <a:avLst/>
          </a:prstGeom>
        </p:spPr>
      </p:pic>
      <p:pic>
        <p:nvPicPr>
          <p:cNvPr id="10" name="Picture 9" descr="retro-cuatro-partes-paso5.png"/>
          <p:cNvPicPr>
            <a:picLocks noChangeAspect="1"/>
          </p:cNvPicPr>
          <p:nvPr/>
        </p:nvPicPr>
        <p:blipFill>
          <a:blip r:embed="rId6"/>
          <a:stretch>
            <a:fillRect/>
          </a:stretch>
        </p:blipFill>
        <p:spPr>
          <a:xfrm>
            <a:off x="5876318" y="1261872"/>
            <a:ext cx="5852160" cy="4681728"/>
          </a:xfrm>
          <a:prstGeom prst="rect">
            <a:avLst/>
          </a:prstGeom>
        </p:spPr>
      </p:pic>
      <p:sp>
        <p:nvSpPr>
          <p:cNvPr id="23" name="TextBox 2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24" name="TextBox 2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Una observación útil tiene cuatro partes: observación, evidencia, impacto y acción con fecha.</a:t>
            </a:r>
          </a:p>
          <a:p>
            <a:pPr>
              <a:spcAft>
                <a:spcPts val="800"/>
              </a:spcAft>
            </a:pPr>
            <a:r>
              <a:rPr sz="2000" b="0" i="0">
                <a:solidFill>
                  <a:srgbClr val="333333"/>
                </a:solidFill>
                <a:latin typeface="Calibri"/>
              </a:rPr>
              <a:t>–   «Falta seguridad» o «mejorar el diagrama» no cumplen ninguna: no dicen qué, ni dónde, ni cuándo.</a:t>
            </a:r>
          </a:p>
          <a:p>
            <a:pPr>
              <a:spcAft>
                <a:spcPts val="800"/>
              </a:spcAft>
            </a:pPr>
            <a:r>
              <a:rPr sz="2000" b="0" i="0">
                <a:solidFill>
                  <a:srgbClr val="333333"/>
                </a:solidFill>
                <a:latin typeface="Calibri"/>
              </a:rPr>
              <a:t>–   Tres hallazgos por proyecto como máximo, marcando cuál bloquea, y una fortaleza concreta que conservar.</a:t>
            </a:r>
          </a:p>
        </p:txBody>
      </p:sp>
      <p:sp>
        <p:nvSpPr>
          <p:cNvPr id="25" name="TextBox 2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semaforo: el umbral que decide si el proyecto va a tiempo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mafor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semafor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semafor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Verde: los seis artefactos y a lo sumo una cadena de trazabilidad rota.</a:t>
            </a:r>
          </a:p>
          <a:p>
            <a:pPr>
              <a:spcAft>
                <a:spcPts val="800"/>
              </a:spcAft>
            </a:pPr>
            <a:r>
              <a:rPr sz="2000" b="0" i="0">
                <a:solidFill>
                  <a:srgbClr val="333333"/>
                </a:solidFill>
                <a:latin typeface="Calibri"/>
              </a:rPr>
              <a:t>–   Amarillo: cinco de seis, o dos o tres cadenas rotas que se corrigen editando documentos.</a:t>
            </a:r>
          </a:p>
          <a:p>
            <a:pPr>
              <a:spcAft>
                <a:spcPts val="800"/>
              </a:spcAft>
            </a:pPr>
            <a:r>
              <a:rPr sz="2000" b="0" i="0">
                <a:solidFill>
                  <a:srgbClr val="333333"/>
                </a:solidFill>
                <a:latin typeface="Calibri"/>
              </a:rPr>
              <a:t>–   Rojo: falta el C4 de Contenedores o el Despliegue, o no hay repositorio.</a:t>
            </a:r>
          </a:p>
          <a:p>
            <a:pPr>
              <a:spcAft>
                <a:spcPts val="800"/>
              </a:spcAft>
            </a:pPr>
            <a:r>
              <a:rPr sz="2000" b="0" i="0">
                <a:solidFill>
                  <a:srgbClr val="333333"/>
                </a:solidFill>
                <a:latin typeface="Calibri"/>
              </a:rPr>
              <a:t>–   Un checkpoint se evalúa por evidencia presente, no por promesas.</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Del boceto al código Mermaid</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diagrama se escribe como código: se versiona, se compara y se corrige</a:t>
            </a:r>
          </a:p>
        </p:txBody>
      </p:sp>
      <p:sp>
        <p:nvSpPr>
          <p:cNvPr id="6" name="Rounded Rectangle 5"/>
          <p:cNvSpPr/>
          <p:nvPr/>
        </p:nvSpPr>
        <p:spPr>
          <a:xfrm>
            <a:off x="457200" y="1659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965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65960"/>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751076"/>
            <a:ext cx="10271455" cy="886968"/>
          </a:xfrm>
          <a:prstGeom prst="rect">
            <a:avLst/>
          </a:prstGeom>
          <a:noFill/>
        </p:spPr>
        <p:txBody>
          <a:bodyPr wrap="square" anchor="ctr"/>
          <a:lstStyle/>
          <a:p>
            <a:r>
              <a:rPr sz="1500" b="1" i="0">
                <a:solidFill>
                  <a:srgbClr val="095292"/>
                </a:solidFill>
                <a:latin typeface="Calibri"/>
              </a:rPr>
              <a:t>Diseña visual</a:t>
            </a:r>
          </a:p>
          <a:p>
            <a:pPr>
              <a:spcBef>
                <a:spcPts val="200"/>
              </a:spcBef>
            </a:pPr>
            <a:r>
              <a:rPr sz="1300" b="0" i="0">
                <a:solidFill>
                  <a:srgbClr val="333333"/>
                </a:solidFill>
                <a:latin typeface="Calibri"/>
              </a:rPr>
              <a:t>Dibuja el diagrama como quieras en Excalidraw o draw.io: es más rápido arrastrar cajas que escribir código, y ahí es donde se piensa el modelo.</a:t>
            </a:r>
          </a:p>
        </p:txBody>
      </p:sp>
      <p:sp>
        <p:nvSpPr>
          <p:cNvPr id="10" name="Rounded Rectangle 9"/>
          <p:cNvSpPr/>
          <p:nvPr/>
        </p:nvSpPr>
        <p:spPr>
          <a:xfrm>
            <a:off x="457200" y="2802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108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108960"/>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894076"/>
            <a:ext cx="10271455" cy="886968"/>
          </a:xfrm>
          <a:prstGeom prst="rect">
            <a:avLst/>
          </a:prstGeom>
          <a:noFill/>
        </p:spPr>
        <p:txBody>
          <a:bodyPr wrap="square" anchor="ctr"/>
          <a:lstStyle/>
          <a:p>
            <a:r>
              <a:rPr sz="1500" b="1" i="0">
                <a:solidFill>
                  <a:srgbClr val="095292"/>
                </a:solidFill>
                <a:latin typeface="Calibri"/>
              </a:rPr>
              <a:t>Traduce con IA</a:t>
            </a:r>
          </a:p>
          <a:p>
            <a:pPr>
              <a:spcBef>
                <a:spcPts val="200"/>
              </a:spcBef>
            </a:pPr>
            <a:r>
              <a:rPr sz="1300" b="0" i="0">
                <a:solidFill>
                  <a:srgbClr val="333333"/>
                </a:solidFill>
                <a:latin typeface="Calibri"/>
              </a:rPr>
              <a:t>Describe tu boceto a una IA y pídele el código Mermaid usando C4Component. Revisa el resultado: la IA acierta la sintaxis, no tu modelo.</a:t>
            </a:r>
          </a:p>
        </p:txBody>
      </p:sp>
      <p:sp>
        <p:nvSpPr>
          <p:cNvPr id="14" name="Rounded Rectangle 13"/>
          <p:cNvSpPr/>
          <p:nvPr/>
        </p:nvSpPr>
        <p:spPr>
          <a:xfrm>
            <a:off x="457200" y="3945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4251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519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4037076"/>
            <a:ext cx="10271455" cy="886968"/>
          </a:xfrm>
          <a:prstGeom prst="rect">
            <a:avLst/>
          </a:prstGeom>
          <a:noFill/>
        </p:spPr>
        <p:txBody>
          <a:bodyPr wrap="square" anchor="ctr"/>
          <a:lstStyle/>
          <a:p>
            <a:r>
              <a:rPr sz="1500" b="1" i="0">
                <a:solidFill>
                  <a:srgbClr val="095292"/>
                </a:solidFill>
                <a:latin typeface="Calibri"/>
              </a:rPr>
              <a:t>Renderiza en un visor</a:t>
            </a:r>
          </a:p>
          <a:p>
            <a:pPr>
              <a:spcBef>
                <a:spcPts val="200"/>
              </a:spcBef>
            </a:pPr>
            <a:r>
              <a:rPr sz="1300" b="0" i="0">
                <a:solidFill>
                  <a:srgbClr val="333333"/>
                </a:solidFill>
                <a:latin typeface="Calibri"/>
              </a:rPr>
              <a:t>Pega el código en un visor Mermaid (mermaid.live o la vista previa de tu editor) y míralo dibujado. Si no renderiza, corrige ahí: un end faltante o un rótulo sin comillas.</a:t>
            </a:r>
          </a:p>
        </p:txBody>
      </p:sp>
      <p:sp>
        <p:nvSpPr>
          <p:cNvPr id="18" name="Rounded Rectangle 17"/>
          <p:cNvSpPr/>
          <p:nvPr/>
        </p:nvSpPr>
        <p:spPr>
          <a:xfrm>
            <a:off x="457200" y="5088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5394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394960"/>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5180076"/>
            <a:ext cx="10271455" cy="886968"/>
          </a:xfrm>
          <a:prstGeom prst="rect">
            <a:avLst/>
          </a:prstGeom>
          <a:noFill/>
        </p:spPr>
        <p:txBody>
          <a:bodyPr wrap="square" anchor="ctr"/>
          <a:lstStyle/>
          <a:p>
            <a:r>
              <a:rPr sz="1500" b="1" i="0">
                <a:solidFill>
                  <a:srgbClr val="095292"/>
                </a:solidFill>
                <a:latin typeface="Calibri"/>
              </a:rPr>
              <a:t>Guarda código e imagen</a:t>
            </a:r>
          </a:p>
          <a:p>
            <a:pPr>
              <a:spcBef>
                <a:spcPts val="200"/>
              </a:spcBef>
            </a:pPr>
            <a:r>
              <a:rPr sz="1300" b="0" i="0">
                <a:solidFill>
                  <a:srgbClr val="333333"/>
                </a:solidFill>
                <a:latin typeface="Calibri"/>
              </a:rPr>
              <a:t>El código es la fuente del diagrama: guárdalo con tu proyecto junto con el PNG exportado.</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11 · cierre conceptual</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Consolidar evidencias en un paquete revisable.</a:t>
            </a:r>
          </a:p>
          <a:p>
            <a:pPr algn="ctr">
              <a:spcAft>
                <a:spcPts val="600"/>
              </a:spcAft>
            </a:pPr>
            <a:r>
              <a:rPr sz="1600" b="0" i="0">
                <a:solidFill>
                  <a:srgbClr val="333333"/>
                </a:solidFill>
                <a:latin typeface="Calibri"/>
              </a:rPr>
              <a:t>Detectar huecos (nombres inconsistentes, servicios de más, sin seguridad).</a:t>
            </a:r>
          </a:p>
          <a:p>
            <a:pPr algn="ctr">
              <a:spcAft>
                <a:spcPts val="600"/>
              </a:spcAft>
            </a:pPr>
            <a:r>
              <a:rPr sz="1600" b="0" i="0">
                <a:solidFill>
                  <a:srgbClr val="333333"/>
                </a:solidFill>
                <a:latin typeface="Calibri"/>
              </a:rPr>
              <a:t>Salir con backlog claro hacia Clase 12/15.</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Teoría al servicio del diseño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