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se audita con preguntas mecanicas que cualquier docente puede hacer sin ser experto en el dominio del proyecto, lo que hace esta tecnica ensenable.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docente debe apuntar a tres hallazgos por proyecto como maximo y marcar cual es el bloqueante, porque un estudiante que recibe once observaciones no corrige ninguna: se paraliza.</a:t>
            </a:r>
          </a:p>
          <a:p/>
          <a:p>
            <a:r>
              <a:t>Conviene nombrar tambien una fortaleza concreta, no por amabilidad sino porque el estudiante necesita saber que conservar; si solo escucha fallas, en la siguiente version cambia todo, incluido lo que estaba bien.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preguntas se repiten y el docente debe responderlas sin titubear.</a:t>
            </a:r>
          </a:p>
          <a:p/>
          <a:p>
            <a:r>
              <a:t>Conviene cerrar diciendo que lo que se estabilice hoy es la base sobre la que la Clase 12 agregara el analisis de rendimiento y la Clase 13 la politica de escalado, y que un proyecto con el paquete v1 incoherente no puede hacer ninguna de las dos, porque no se puede medir ni escalar un sistema que todavia no esta definido.</a:t>
            </a:r>
          </a:p>
          <a:p/>
          <a:p>
            <a:r>
              <a:t>(Sobre la actividad, no se proyecta) La primera es si esto se califica; la respuesta honesta es que este checkpoint no es la sustentacion final, que ocurre en la Clase 15, ni el Parcial 3, que es la evaluacion escrita de la Clase 14, y que hoy se registra estado y compromisos, pero el acta es el insumo con el que se mirara la entrega final: un gap senalado hoy y no cerrado pesa mucho mas que uno que aparecio despues.</a:t>
            </a:r>
          </a:p>
          <a:p/>
          <a:p>
            <a:r>
              <a:t>(Sobre la actividad, no se proyecta) La segunda es por que revisa un companero si el que califica es el docente, y la respuesta es que la revision por pares es practica estandar en la industria y que su valor no esta en el juicio del par sino en la obligacion de explicar; ademas el par pregunta lo que el docente ya asume, y esas son justo las preguntas que llegan en un Q&amp;A real.</a:t>
            </a:r>
          </a:p>
          <a:p/>
          <a:p>
            <a:r>
              <a:t>(Sobre la actividad, no se proyecta) La tercera, la mas delicada, es si cambiar el diagrama ahora significa perder el trabajo hecho, y la respuesta debe ser tajante: no, porque el artefacto no es el entregable, la decision documentada lo es; un diagrama corregido con una nota de por que cambio vale mas que uno intacto, y ese cambio justificado es exactamente lo que un ADR registra.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PI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a:p>
            <a:pPr>
              <a:spcAft>
                <a:spcPts val="800"/>
              </a:spcAft>
            </a:pPr>
            <a:r>
              <a:rPr sz="2000" b="0" i="0">
                <a:solidFill>
                  <a:srgbClr val="333333"/>
                </a:solidFill>
                <a:latin typeface="Calibri"/>
              </a:rPr>
              <a:t>–   </a:t>
            </a:r>
            <a:r>
              <a:rPr sz="2000" b="1" i="0">
                <a:solidFill>
                  <a:srgbClr val="333333"/>
                </a:solidFill>
                <a:latin typeface="Calibri"/>
              </a:rPr>
              <a:t>Microservicios teatro</a:t>
            </a:r>
            <a:r>
              <a:rPr sz="2000" b="0" i="0">
                <a:solidFill>
                  <a:srgbClr val="333333"/>
                </a:solidFill>
                <a:latin typeface="Calibri"/>
              </a:rPr>
              <a:t>: servicios separados que comparten base de datos y se despliegan siempre juntos.</a:t>
            </a:r>
          </a:p>
          <a:p>
            <a:pPr>
              <a:spcAft>
                <a:spcPts val="800"/>
              </a:spcAft>
            </a:pPr>
            <a:r>
              <a:rPr sz="2000" b="0" i="0">
                <a:solidFill>
                  <a:srgbClr val="333333"/>
                </a:solidFill>
                <a:latin typeface="Calibri"/>
              </a:rPr>
              <a:t>–   </a:t>
            </a:r>
            <a:r>
              <a:rPr sz="2000" b="1" i="0">
                <a:solidFill>
                  <a:srgbClr val="333333"/>
                </a:solidFill>
                <a:latin typeface="Calibri"/>
              </a:rPr>
              <a:t>Nombres distintos</a:t>
            </a:r>
            <a:r>
              <a:rPr sz="2000" b="0" i="0">
                <a:solidFill>
                  <a:srgbClr val="333333"/>
                </a:solidFill>
                <a:latin typeface="Calibri"/>
              </a:rPr>
              <a:t>: «API de turnos» en el C4 y «backend» en el Despliegue rompen la trazabilidad.</a:t>
            </a:r>
          </a:p>
          <a:p>
            <a:pPr>
              <a:spcAft>
                <a:spcPts val="800"/>
              </a:spcAft>
            </a:pPr>
            <a:r>
              <a:rPr sz="2000" b="0" i="0">
                <a:solidFill>
                  <a:srgbClr val="333333"/>
                </a:solidFill>
                <a:latin typeface="Calibri"/>
              </a:rPr>
              <a:t>–   </a:t>
            </a:r>
            <a:r>
              <a:rPr sz="2000" b="1" i="0">
                <a:solidFill>
                  <a:srgbClr val="333333"/>
                </a:solidFill>
                <a:latin typeface="Calibri"/>
              </a:rPr>
              <a:t>CI sin tests</a:t>
            </a:r>
            <a:r>
              <a:rPr sz="2000" b="0" i="0">
                <a:solidFill>
                  <a:srgbClr val="333333"/>
                </a:solidFill>
                <a:latin typeface="Calibri"/>
              </a:rPr>
              <a:t>: un pipeline que no puede fallar no verifica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a:p>
            <a:pPr>
              <a:spcAft>
                <a:spcPts val="800"/>
              </a:spcAft>
            </a:pPr>
            <a:r>
              <a:rPr sz="2000" b="0" i="0">
                <a:solidFill>
                  <a:srgbClr val="333333"/>
                </a:solidFill>
                <a:latin typeface="Calibri"/>
              </a:rPr>
              <a:t>–   Una revision de arquitectura es una lectura estructurada de los artefactos de diseno, hecha por alguien distinto del autor, antes de implementar o cambiar el diseno.</a:t>
            </a:r>
          </a:p>
          <a:p>
            <a:pPr>
              <a:spcAft>
                <a:spcPts val="800"/>
              </a:spcAft>
            </a:pPr>
            <a:r>
              <a:rPr sz="2000" b="0" i="0">
                <a:solidFill>
                  <a:srgbClr val="333333"/>
                </a:solidFill>
                <a:latin typeface="Calibri"/>
              </a:rPr>
              <a:t>–   Sus tres salidas son: hallazgos con evidencia, riesgos nombrados y acciones con responsable.</a:t>
            </a:r>
          </a:p>
          <a:p>
            <a:pPr>
              <a:spcAft>
                <a:spcPts val="800"/>
              </a:spcAft>
            </a:pPr>
            <a:r>
              <a:rPr sz="2000" b="0" i="0">
                <a:solidFill>
                  <a:srgbClr val="333333"/>
                </a:solidFill>
                <a:latin typeface="Calibri"/>
              </a:rPr>
              <a:t>–   Ejemplo en CloudLite: el Containers nombra «API de turnos» y el Despliegue nombra «backend»; el hallazgo es la incoherencia, la evidencia son los dos diagramas y la accion es unificar el 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CloudLite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CloudLite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CloudLite,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CloudLite,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CloudLite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subgraph api[API REST de CloudLite - Node + Express]</a:t>
            </a:r>
          </a:p>
          <a:p>
            <a:pPr>
              <a:spcAft>
                <a:spcPts val="371"/>
              </a:spcAft>
            </a:pPr>
            <a:r>
              <a:rPr sz="1300" b="0" i="0">
                <a:solidFill>
                  <a:srgbClr val="FFFFFF"/>
                </a:solidFill>
                <a:latin typeface="Calibri"/>
              </a:rPr>
              <a:t>    rutas[Capa de rutas&lt;br/&gt;valida entrada y responde HTTP]</a:t>
            </a:r>
          </a:p>
          <a:p>
            <a:pPr>
              <a:spcAft>
                <a:spcPts val="371"/>
              </a:spcAft>
            </a:pPr>
            <a:r>
              <a:rPr sz="1300" b="0" i="0">
                <a:solidFill>
                  <a:srgbClr val="FFFFFF"/>
                </a:solidFill>
                <a:latin typeface="Calibri"/>
              </a:rPr>
              <a:t>    servicio[Servicio de dominio&lt;br/&gt;reglas de &lt;su dominio&gt;]</a:t>
            </a:r>
          </a:p>
          <a:p>
            <a:pPr>
              <a:spcAft>
                <a:spcPts val="371"/>
              </a:spcAft>
            </a:pPr>
            <a:r>
              <a:rPr sz="1300" b="0" i="0">
                <a:solidFill>
                  <a:srgbClr val="FFFFFF"/>
                </a:solidFill>
                <a:latin typeface="Calibri"/>
              </a:rPr>
              <a:t>    repo[Repositorio&lt;br/&gt;consultas SQL]</a:t>
            </a:r>
          </a:p>
          <a:p>
            <a:pPr>
              <a:spcAft>
                <a:spcPts val="371"/>
              </a:spcAft>
            </a:pPr>
            <a:r>
              <a:rPr sz="1300" b="0" i="0">
                <a:solidFill>
                  <a:srgbClr val="FFFFFF"/>
                </a:solidFill>
                <a:latin typeface="Calibri"/>
              </a:rPr>
              <a:t>    auth[Autenticacion&lt;br/&gt;verifica el token]</a:t>
            </a:r>
          </a:p>
          <a:p>
            <a:pPr>
              <a:spcAft>
                <a:spcPts val="371"/>
              </a:spcAft>
            </a:pPr>
            <a:r>
              <a:rPr sz="1300" b="0" i="0">
                <a:solidFill>
                  <a:srgbClr val="FFFFFF"/>
                </a:solidFill>
                <a:latin typeface="Calibri"/>
              </a:rPr>
              <a:t>  end</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web[Web SPA] --&gt;|JSON/HTTPS| rutas</a:t>
            </a:r>
          </a:p>
          <a:p>
            <a:pPr>
              <a:spcAft>
                <a:spcPts val="371"/>
              </a:spcAft>
            </a:pPr>
            <a:r>
              <a:rPr sz="1300" b="0" i="0">
                <a:solidFill>
                  <a:srgbClr val="FFFFFF"/>
                </a:solidFill>
                <a:latin typeface="Calibri"/>
              </a:rPr>
              <a:t>  rutas --&gt; auth</a:t>
            </a:r>
          </a:p>
          <a:p>
            <a:pPr>
              <a:spcAft>
                <a:spcPts val="371"/>
              </a:spcAft>
            </a:pPr>
            <a:r>
              <a:rPr sz="1300" b="0" i="0">
                <a:solidFill>
                  <a:srgbClr val="FFFFFF"/>
                </a:solidFill>
                <a:latin typeface="Calibri"/>
              </a:rPr>
              <a:t>  rutas --&gt; servicio</a:t>
            </a:r>
          </a:p>
          <a:p>
            <a:pPr>
              <a:spcAft>
                <a:spcPts val="371"/>
              </a:spcAft>
            </a:pPr>
            <a:r>
              <a:rPr sz="1300" b="0" i="0">
                <a:solidFill>
                  <a:srgbClr val="FFFFFF"/>
                </a:solidFill>
                <a:latin typeface="Calibri"/>
              </a:rPr>
              <a:t>  servicio --&gt; repo</a:t>
            </a:r>
          </a:p>
          <a:p>
            <a:pPr>
              <a:spcAft>
                <a:spcPts val="371"/>
              </a:spcAft>
            </a:pPr>
            <a:r>
              <a:rPr sz="1300" b="0" i="0">
                <a:solidFill>
                  <a:srgbClr val="FFFFFF"/>
                </a:solidFill>
                <a:latin typeface="Calibri"/>
              </a:rPr>
              <a:t>  repo --&gt;|SQL| db[(PostgreSQL)]</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 regla del nivel Component: las cajas son piezas de CODIGO dentro</a:t>
            </a:r>
          </a:p>
          <a:p>
            <a:pPr>
              <a:spcAft>
                <a:spcPts val="371"/>
              </a:spcAft>
            </a:pPr>
            <a:r>
              <a:rPr sz="1300" b="0" i="0">
                <a:solidFill>
                  <a:srgbClr val="FFFFFF"/>
                </a:solidFill>
                <a:latin typeface="Calibri"/>
              </a:rPr>
              <a:t>%% de UN container, no servicios nuevos. Si le pone un puerto, es un</a:t>
            </a:r>
          </a:p>
          <a:p>
            <a:pPr>
              <a:spcAft>
                <a:spcPts val="371"/>
              </a:spcAft>
            </a:pPr>
            <a:r>
              <a:rPr sz="1300" b="0" i="0">
                <a:solidFill>
                  <a:srgbClr val="FFFFFF"/>
                </a:solidFill>
                <a:latin typeface="Calibri"/>
              </a:rPr>
              <a:t>%% container y va en el diagrama de la Clase 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PI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