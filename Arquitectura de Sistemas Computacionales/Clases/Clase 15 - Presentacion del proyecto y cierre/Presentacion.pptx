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notesMaster" Target="notesMasters/notesMaster1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DESARROLLO (para explicarlo, no se proyecta):</a:t>
            </a:r>
          </a:p>
          <a:p/>
          <a:p>
            <a:r>
              <a:t>Describir un artefacto es decir que contiene: «este es el diagrama de despliegue de CloudLite App, aqui esta el contenedor de la API, aqui la base de datos».</a:t>
            </a:r>
          </a:p>
          <a:p/>
          <a:p>
            <a:r>
              <a:t>Sustentar es responder por que quedo asi y no de otra forma, y que se acepto perder al elegirlo.</a:t>
            </a:r>
          </a:p>
          <a:p/>
          <a:p>
            <a:r>
              <a:t>Si una eleccion no cumple esas tres condiciones no es arquitectura sino detalle de implementacion: elegir el nombre de una variable no es arquitectura, elegir si el frontend y la API viven en el mismo contenedor si lo es.</a:t>
            </a:r>
          </a:p>
          <a:p/>
          <a:p>
            <a:r>
              <a:t>Un trade-off es lo que se sacrifica al tomar esa decision.</a:t>
            </a:r>
          </a:p>
          <a:p/>
          <a:p>
            <a:r>
              <a:t>No existe decision de arquitectura sin trade-off, y cuando un estudiante afirma que su opcion es mejor en todo, lo que ocurre en realidad es que todavia no encontro que perdio.</a:t>
            </a:r>
          </a:p>
          <a:p/>
          <a:p>
            <a:r>
              <a:t>Toda la sustentacion de hoy se apoya en esta distincion, porque lo que vale no es describir bien sino justificar bien.</a:t>
            </a:r>
          </a:p>
          <a:p/>
          <a:p>
            <a:r>
              <a:t>Un ejemplo de las dos formas en CloudLite: describir es «la API corre en un contenedor sobre PaaS»</a:t>
            </a:r>
          </a:p>
          <a:p/>
          <a:p>
            <a:r>
              <a:t>Justificar es «la API corre sobre PaaS porque el equipo es de 1 persona y no puede operar parches del sistema operativo; a cambio aceptamos menos control sobre la red».</a:t>
            </a:r>
          </a:p>
          <a:p/>
          <a:p>
            <a:r>
              <a:t>Un error comun es responder con la tecnologia en lugar de la razon: «usamos Docker» no justifica nada</a:t>
            </a:r>
          </a:p>
          <a:p/>
          <a:p>
            <a:r>
              <a:t>NOTAS:</a:t>
            </a:r>
          </a:p>
          <a:p/>
          <a:p>
            <a:r>
              <a:t>«usamos Docker porque el mismo artefacto corre igual en el laboratorio y en produccion» si justifica.</a:t>
            </a:r>
          </a:p>
          <a:p/>
          <a:p>
            <a:r>
              <a:t>(No se proyecta) Sustentar no es describir, y esa distincion es el eje de toda la clase.</a:t>
            </a:r>
          </a:p>
          <a:p/>
          <a:p>
            <a:r>
              <a:t>(No se proyecta) Conviene fijar el termino con precision: una decision de arquitectura es una eleccion que afecta la estructura del sistema, es costosa de revertir una vez implementada, y tiene al menos una alternativa razonable que se descarto.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DESARROLLO (para explicarlo, no se proyecta):</a:t>
            </a:r>
          </a:p>
          <a:p/>
          <a:p>
            <a:r>
              <a:t>Primera capa, el QUE: «CloudLite corre con un contenedor por servicio».</a:t>
            </a:r>
          </a:p>
          <a:p/>
          <a:p>
            <a:r>
              <a:t>Segunda capa, el POR QUE: «porque el proyecto lo sostiene una sola persona sin presupuesto de nube, y un contenedor se levanta igual en el portatil de cualquiera y en Killercoda, sin instalar un hipervisor ni pedir tarjeta de credito».</a:t>
            </a:r>
          </a:p>
          <a:p/>
          <a:p>
            <a:r>
              <a:t>Tercera capa, A CAMBIO DE QUE: «a cambio de perder el aislamiento fuerte que da una maquina virtual completa, y de asumir que si el host cae, caen todos los servicios a la vez porque comparten el mismo kernel».</a:t>
            </a:r>
          </a:p>
          <a:p/>
          <a:p>
            <a:r>
              <a:t>NOTAS:</a:t>
            </a:r>
          </a:p>
          <a:p/>
          <a:p>
            <a:r>
              <a:t>Quien llega a la segunda esta justificando.</a:t>
            </a:r>
          </a:p>
          <a:p/>
          <a:p>
            <a:r>
              <a:t>Quien llega a la tercera esta sustentando como un arquitecto, porque demuestra que conocia el costo de su decision antes de tomarla y aun asi la tomo.</a:t>
            </a:r>
          </a:p>
          <a:p/>
          <a:p>
            <a:r>
              <a:t>(No se proyecta) Existe una prueba practica de tres capas que el docente puede aplicar en voz alta a cualquier afirmacion del estudiante, y conviene ensenarla antes de que empiecen las presentaciones.</a:t>
            </a:r>
          </a:p>
          <a:p/>
          <a:p>
            <a:r>
              <a:t>(No se proyecta) Quien solo llega a la primera capa esta leyendo el diagrama en voz alta y no deberia obtener los puntos de sustentacion.</a:t>
            </a:r>
          </a:p>
          <a:p/>
          <a:p>
            <a:r>
              <a:t>(No se proyecta) La instruccion operativa para el docente es simple: ante cada afirmacion, preguntar «a cambio de que», y no aceptar la respuesta «de nada».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DESARROLLO (para explicarlo, no se proyecta):</a:t>
            </a:r>
          </a:p>
          <a:p/>
          <a:p>
            <a:r>
              <a:t>Titulo, con el numero consecutivo, que es justamente por lo que se cita.</a:t>
            </a:r>
          </a:p>
          <a:p/>
          <a:p>
            <a:r>
              <a:t>Contexto, es decir que problema se estaba resolviendo y con que restricciones.</a:t>
            </a:r>
          </a:p>
          <a:p/>
          <a:p>
            <a:r>
              <a:t>Y consecuencias, donde se escribe lo bueno, lo malo y lo neutro que se acepta.</a:t>
            </a:r>
          </a:p>
          <a:p/>
          <a:p>
            <a:r>
              <a:t>La forma profesional es «esta decision esta registrada en el ADR-002, y el trade-off que aceptamos fue perder portabilidad entre proveedores», con el numero del ADR visible en la diapositiva.</a:t>
            </a:r>
          </a:p>
          <a:p/>
          <a:p>
            <a:r>
              <a:t>NOTAS:</a:t>
            </a:r>
          </a:p>
          <a:p/>
          <a:p>
            <a:r>
              <a:t>Estado, «Aceptado» mas la fecha en que se decidio.</a:t>
            </a:r>
          </a:p>
          <a:p/>
          <a:p>
            <a:r>
              <a:t>Decision, en una frase afirmativa y en presente.</a:t>
            </a:r>
          </a:p>
          <a:p/>
          <a:p>
            <a:r>
              <a:t>Alternativas descartadas, exactamente dos, cada una con la razon concreta del descarte.</a:t>
            </a:r>
          </a:p>
          <a:p/>
          <a:p>
            <a:r>
              <a:t>Citar un ADR por numero le dice al evaluador que existe una traza escrita y verificable, no una improvisacion del momento; es la diferencia entre quien decidio y quien recuerda.</a:t>
            </a:r>
          </a:p>
          <a:p/>
          <a:p>
            <a:r>
              <a:t>(No se proyecta) El artefacto que sostiene esa tercera capa es el ADR, o Architecture Decision Record: un documento corto, de una pagina como maximo, que registra UNA sola decision con las seis secciones rotuladas que el curso fijo en la Clase 2 y que no han cambiado desde entonces.</a:t>
            </a:r>
          </a:p>
          <a:p/>
          <a:p>
            <a:r>
              <a:t>(No se proyecta) Los estudiantes ya produjeron el ADR-001 en la Clase 2, cuando decidieron el modelo de servicio dominante entre IaaS, PaaS y SaaS; a lo largo del curso debieron acumular tres o cuatro mas: contenedores frente a maquinas virtuales (Clase 3), donde poner la frontera entre servicios (Clase 4), y que se escala y que no (Clase 13).</a:t>
            </a:r>
          </a:p>
          <a:p/>
          <a:p>
            <a:r>
              <a:t>(No se proyecta) En la sustentacion el ADR no se lee en voz alta: se cita.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DESARROLLO (para explicarlo, no se proyecta):</a:t>
            </a:r>
          </a:p>
          <a:p/>
          <a:p>
            <a:r>
              <a:t>Un pitch tecnico de 5 a 8 minutos no se improvisa ni se llena de diapositivas.</a:t>
            </a:r>
          </a:p>
          <a:p/>
          <a:p>
            <a:r>
              <a:t>El reparto que funciona, y que es convencion de industria y no regla dura, es el siguiente: 45 a 60 segundos para el problema y el dominio, es decir que hace CloudLite y para quien, sin nombrar una sola tecnologia todavia</a:t>
            </a:r>
          </a:p>
          <a:p/>
          <a:p>
            <a:r>
              <a:t>90 segundos para la arquitectura, apoyandose en el diagrama de contexto y el de contenedores</a:t>
            </a:r>
          </a:p>
          <a:p/>
          <a:p>
            <a:r>
              <a:t>90 segundos para la decision principal con su trade-off, citando el ADR; 60 a 90 segundos para la evidencia ejecutable, o sea la captura de la sesion del laboratorio con el contenedor corriendo y el workflow de GitHub Actions en verde</a:t>
            </a:r>
          </a:p>
          <a:p/>
          <a:p>
            <a:r>
              <a:t>45 segundos para el punto debil declarado, lo que no escala o lo que no se midio; y 30 segundos de cierre.</a:t>
            </a:r>
          </a:p>
          <a:p/>
          <a:p>
            <a:r>
              <a:t>La suma queda entre 6 y 7 minutos, con margen para tropiezos.</a:t>
            </a:r>
          </a:p>
          <a:p/>
          <a:p>
            <a:r>
              <a:t>La regla practica de diapositivas es una idea por diapositiva y un maximo de ocho diapositivas para ocho minutos.</a:t>
            </a:r>
          </a:p>
          <a:p/>
          <a:p>
            <a:r>
              <a:t>Un error comun es gastar la mitad del tiempo en el dominio: el problema se cuenta en 1 minuto, y el resto es arquitectura y decisiones.</a:t>
            </a:r>
          </a:p>
          <a:p/>
          <a:p>
            <a:r>
              <a:t>Otro es leer las diapositivas: la diapositiva muestra el diagrama y la persona explica la decision; si el texto proyectado y lo dicho son iguales, sobra uno de los dos.</a:t>
            </a:r>
          </a:p>
          <a:p/>
          <a:p>
            <a:r>
              <a:t>(No se proyecta) La razon es concreta y el docente debe decirla: si el estudiante trae veinte diapositivas, no termina, corre las ultimas, y las ultimas suelen ser justamente las de seguridad, costos y escalabilidad, donde estan los puntos de la rubrica que menos se defienden solos.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DESARROLLO (para explicarlo, no se proyecta):</a:t>
            </a:r>
          </a:p>
          <a:p/>
          <a:p>
            <a:r>
              <a:t>En un equipo profesional, cuando el sistema falla a las once de la noche, contesta quien esta disponible, no el autor del diagrama; un sistema que solo una persona entiende es un riesgo operativo con nombre propio.</a:t>
            </a:r>
          </a:p>
          <a:p/>
          <a:p>
            <a:r>
              <a:t>La practica concreta que se recomienda antes de presentar es un ensayo cruzado con otro estudiante: cada uno explica en 60 segundos una parte del sistema del otro y devuelve los huecos que encontro (en equipo, cada integrante explica una parte que NO le toco preparar).</a:t>
            </a:r>
          </a:p>
          <a:p/>
          <a:p>
            <a:r>
              <a:t>NOTAS:</a:t>
            </a:r>
          </a:p>
          <a:p/>
          <a:p>
            <a:r>
              <a:t>La razon no es castigar.</a:t>
            </a:r>
          </a:p>
          <a:p/>
          <a:p>
            <a:r>
              <a:t>Ese ejercicio suele revelar en cinco minutos lo que la nota habria revelado demasiado tarde.</a:t>
            </a:r>
          </a:p>
          <a:p/>
          <a:p>
            <a:r>
              <a:t>(No se proyecta) El criterio de calidad que se anuncio desde el checkpoint de la Clase 11 es la regla de los 60 segundos: quien sustenta debe poder explicar CUALQUIER parte del sistema en 60 segundos, sin buscar en el informe.</a:t>
            </a:r>
          </a:p>
          <a:p/>
          <a:p>
            <a:r>
              <a:t>(No se proyecta) El trabajo es individual por defecto, asi que en la mayoria de los casos ese "quien" es el propio autor y la regla se comprueba sola; cuando el docente autorizo un equipo de dos o tres, la regla se vuelve exigente y se lee asi: CUALQUIER integrante debe poder explicar CUALQUIER parte.</a:t>
            </a:r>
          </a:p>
          <a:p/>
          <a:p>
            <a:r>
              <a:t>(No se proyecta) Esto casi siempre genera la primera pregunta real del estudiante: «podemos repartirnos los temas y que cada uno prepare solo el suyo?».</a:t>
            </a:r>
          </a:p>
          <a:p/>
          <a:p>
            <a:r>
              <a:t>(No se proyecta) La respuesta del docente debe ser: en equipo se puede repartir quien HABLA de cada tema, pero no quien ENTIENDE cada tema, porque el Q&amp;A se dirige al azar; y en modo individual no hay reparto posible, de modo que la pregunta pierde sentido y lo que queda es preparar el sistema completo.</a:t>
            </a:r>
          </a:p>
          <a:p/>
          <a:p>
            <a:r>
              <a:t>(No se proyecta) El segundo motivo es de evaluacion: si el estudiante no puede explicar su propio diagrama de despliegue, el evaluador no tiene forma de saber si el artefacto es suyo o copiado, y ese es exactamente el vacio que la sustentacion existe para cerrar.</a:t>
            </a:r>
          </a:p>
          <a:p/>
          <a:p>
            <a:r>
              <a:t>(No se proyecta) En los equipos autorizados el mismo riesgo se multiplica: si solo un integrante puede explicar el despliegue, no hay evidencia de que los demas participaran, y por eso la rubrica exige que todos hablen y descuenta cuando presenta uno solo.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DESARROLLO (para explicarlo, no se proyecta):</a:t>
            </a:r>
          </a:p>
          <a:p/>
          <a:p>
            <a:r>
              <a:t>La pregunta de profundizacion empuja un nivel mas alla de lo presentado: «por que la base de datos no esta en el mismo contenedor que la API».</a:t>
            </a:r>
          </a:p>
          <a:p/>
          <a:p>
            <a:r>
              <a:t>La pregunta hipotetica, o what-if, evalua si el diseno se entiende como sistema y no como dibujo: «si el trafico se multiplica por diez el lunes, que pieza de CloudLite se rompe primero y como se darian cuenta».</a:t>
            </a:r>
          </a:p>
          <a:p/>
          <a:p>
            <a:r>
              <a:t>No es clase autonoma y la defensa no se reemplaza por un video grabado, porque el Q&amp;A dirigido al azar es justamente el instrumento que verifica autoria y no tiene sustituto asincronico.</a:t>
            </a:r>
          </a:p>
          <a:p/>
          <a:p>
            <a:r>
              <a:t>NOTAS:</a:t>
            </a:r>
          </a:p>
          <a:p/>
          <a:p>
            <a:r>
              <a:t>Improvisar un dato falso, en cambio, se detecta con una sola pregunta de seguimiento y cuesta mucho mas que admitir el limite.</a:t>
            </a:r>
          </a:p>
          <a:p/>
          <a:p>
            <a:r>
              <a:t>(No se proyecta) El Q&amp;A tecnico tiene tres tipos de pregunta y conviene que el docente los reconozca para dosificarlos.</a:t>
            </a:r>
          </a:p>
          <a:p/>
          <a:p>
            <a:r>
              <a:t>(No se proyecta) La pregunta de verificacion comprueba que el estudiante hizo lo que dice: «muestreme el archivo.yml del workflow» o «en que linea del Dockerfile esta la imagen base y por que eligieron una variante alpine».</a:t>
            </a:r>
          </a:p>
          <a:p/>
          <a:p>
            <a:r>
              <a:t>(No se proyecta) Aqui aparece la segunda pregunta previsible del estudiante: «y si no sabemos la respuesta?».</a:t>
            </a:r>
          </a:p>
          <a:p/>
          <a:p>
            <a:r>
              <a:t>(No se proyecta) La respuesta correcta es que decir «no lo medimos» no penaliza si va acompanado de como se mediria: «no medimos el p95 porque no hay trafico real, pero el plan es simular 50 peticiones por segundo y observar la latencia de la API, que es el cuello de botella que sospechamos por lo que vimos en la Clase 12».</a:t>
            </a:r>
          </a:p>
          <a:p/>
          <a:p>
            <a:r>
              <a:t>(No se proyecta) Y conviene ser explicito sobre el formato de la sesion, porque es lo que decide como se prepara el estudiante: la Clase 15 se dicta en la ultima sesion del semestre (16 de noviembre) como sustentacion EN VIVO, sincrona, con turnos de unos 6 minutos de pitch y 2 a 4 de preguntas.</a:t>
            </a:r>
          </a:p>
          <a:p/>
          <a:p>
            <a:r>
              <a:t>(No se proyecta) El Q&amp;A escrito que pide el taller (tres preguntas duras que el propio estudiante se haria, con su respuesta) no reemplaza nada: es la preparacion del Q&amp;A en vivo, y en la practica el estudiante que lo escribio en serio responde mucho mejor cuando la pregunta llega de verdad.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TEXTO COMPLETO DE LA LÁMINA (se proyecta resumido):</a:t>
            </a:r>
          </a:p>
          <a:p/>
          <a:p>
            <a:r>
              <a:t>En la industria, esta sustentacion tiene nombre propio: design review, o architecture review.</a:t>
            </a:r>
          </a:p>
          <a:p/>
          <a:p>
            <a:r>
              <a:t>El ADR es un formato real, usado en equipos reales, no un invento academico del curso.</a:t>
            </a:r>
          </a:p>
          <a:p/>
          <a:p>
            <a:r>
              <a:t>La frase de cierre util es que arquitectura no es una lista de logos de proveedores, sino un conjunto de decisiones documentadas con sus consecuencias.</a:t>
            </a:r>
          </a:p>
          <a:p/>
          <a:p>
            <a:r>
              <a:t>DESARROLLO (para explicarlo, no se proyecta):</a:t>
            </a:r>
          </a:p>
          <a:p/>
          <a:p>
            <a:r>
              <a:t>En la industria, esta sustentacion tiene nombre propio: design review, o architecture review.</a:t>
            </a:r>
          </a:p>
          <a:p/>
          <a:p>
            <a:r>
              <a:t>Un equipo presenta una propuesta a pares y a arquitectos mas experimentados cuyo trabajo explicito es buscarle el punto debil antes de que ese punto debil cueste dinero</a:t>
            </a:r>
          </a:p>
          <a:p/>
          <a:p>
            <a:r>
              <a:t>Y lo que se pregunta ahi es exactamente lo mismo que hoy, es decir que decidieron, que descartaron, que aceptaron perder, y como sabran si se equivocaron.</a:t>
            </a:r>
          </a:p>
          <a:p/>
          <a:p>
            <a:r>
              <a:t>El ADR es un formato real, usado en equipos reales, no un invento academico del curso.</a:t>
            </a:r>
          </a:p>
          <a:p/>
          <a:p>
            <a:r>
              <a:t>La frase de cierre util es que arquitectura no es una lista de logos de proveedores, sino un conjunto de decisiones documentadas con sus consecuencias.</a:t>
            </a:r>
          </a:p>
          <a:p/>
          <a:p>
            <a:r>
              <a:t>Y el pedido final debe ser concreto y verificable: conserven el repositorio con el informe, los diagramas y el workflow como portafolio, porque eso es lo que se muestra en una primera entrevista tecnica cuando piden un ejemplo de trabajo propio.</a:t>
            </a:r>
          </a:p>
          <a:p/>
          <a:p>
            <a:r>
              <a:t>(No se proyecta) El cierre del curso debe conectar lo hecho con la practica profesional, porque de eso depende que el estudiante conserve el material en vez de borrarlo al terminar el semestre.</a:t>
            </a:r>
          </a:p>
          <a:p/>
          <a:p>
            <a:r>
              <a:t>(No se proyecta) Conviene tambien cerrar la duda sobre las herramientas, porque algun estudiante la trae: el curso prohibio la nube de pago por razones pedagogicas y de equidad, no porque draw.io, Killercoda y GitHub Actions sean juguetes.</a:t>
            </a:r>
          </a:p>
          <a:p/>
          <a:p>
            <a:r>
              <a:t>(No se proyecta) El diagrama de contenedores, el Dockerfile y el pipeline que el estudiante escribio son los mismos artefactos que se producen con una cuenta corporativa; lo que no se aprende en un free tier es justamente lo que si se aprendio aqui, que es razonar el trade-off.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notesSlide" Target="../notesSlides/notesSlide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notesSlide" Target="../notesSlides/notes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png"/><Relationship Id="rId4" Type="http://schemas.openxmlformats.org/officeDocument/2006/relationships/notesSlide" Target="../notesSlides/notesSlide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5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Relationship Id="rId4" Type="http://schemas.openxmlformats.org/officeDocument/2006/relationships/image" Target="../media/image13.png"/><Relationship Id="rId5" Type="http://schemas.openxmlformats.org/officeDocument/2006/relationships/notesSlide" Target="../notesSlides/notesSlide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notesSlide" Target="../notesSlides/notesSlide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743200"/>
            <a:ext cx="121916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1828800" cy="79710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180015" y="3200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269CCB"/>
                </a:solidFill>
                <a:latin typeface="Calibri"/>
              </a:rPr>
              <a:t>Clase 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914400"/>
            <a:ext cx="1127729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Presentación del proyecto + cierre</a:t>
            </a:r>
          </a:p>
          <a:p>
            <a:pPr algn="ctr">
              <a:spcBef>
                <a:spcPts val="800"/>
              </a:spcBef>
            </a:pPr>
            <a:r>
              <a:rPr sz="1500" b="0" i="0">
                <a:solidFill>
                  <a:srgbClr val="269CCB"/>
                </a:solidFill>
                <a:latin typeface="Calibri"/>
              </a:rPr>
              <a:t>Sustentar una arquitectura · cierre del curso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200400"/>
            <a:ext cx="11277295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Bloque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120 min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· sesión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virtual síncrona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por Google Meet.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Tema: sustentar una arquitectura es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justificar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, no describir · cierre del curso.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Agenda de hoy (120 min)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0–10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Encuadre: sustentar no es describir.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333333"/>
                </a:solidFill>
                <a:latin typeface="Calibri"/>
              </a:rPr>
              <a:t>10–110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Presentaciones en vivo: pitch corto y preguntas técnicas.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333333"/>
                </a:solidFill>
                <a:latin typeface="Calibri"/>
              </a:rPr>
              <a:t>110–120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Cierre del curso: lo aprendido y la práctica profesional.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Objetivos de la clase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Sustentar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en vivo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la app con evidencias completas.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Responder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en vivo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preguntas de arquitectura (ADRs, amenazas, escala).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Cerrar el curso con reflexión de aprendizaje.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Sustentar no es describir: el eje de toda la clase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803166" y="1188719"/>
            <a:ext cx="5998464" cy="4828032"/>
          </a:xfrm>
          <a:prstGeom prst="roundRect">
            <a:avLst>
              <a:gd name="adj" fmla="val 4000"/>
            </a:avLst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describir-vs-sustentar-paso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7" name="Picture 6" descr="describir-vs-sustentar-paso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870301" y="5961888"/>
            <a:ext cx="586419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666666"/>
                </a:solidFill>
                <a:latin typeface="Calibri"/>
              </a:rPr>
              <a:t>Clic para avanzar la animación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353312"/>
            <a:ext cx="5093061" cy="5047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Describir es decir qué contiene un artefacto.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Sustentar es decir por qué quedó así y no de otra forma, y qué se aceptó perder al elegirlo.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Una decisión de arquitectura afecta la estructura, es costosa de revertir y tiene una alternativa descartada.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trade-off es lo que se sacrifica al decidir: no hay decisión sin trade-off.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prueba de tres capas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803166" y="1188719"/>
            <a:ext cx="5998464" cy="4828032"/>
          </a:xfrm>
          <a:prstGeom prst="roundRect">
            <a:avLst>
              <a:gd name="adj" fmla="val 4000"/>
            </a:avLst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tres-capas-paso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7" name="Picture 6" descr="tres-capas-paso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8" name="Picture 7" descr="tres-capas-paso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870301" y="5961888"/>
            <a:ext cx="586419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666666"/>
                </a:solidFill>
                <a:latin typeface="Calibri"/>
              </a:rPr>
              <a:t>Clic para avanzar la animación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1353312"/>
            <a:ext cx="5093061" cy="5047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Primera capa, el QUÉ: «la app corre con un contenedor por servicio».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Segunda, el POR QUÉ: «porque la sostiene una sola persona sin presupuesto de nube».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Tercera, A CAMBIO DE QUÉ: «perdemos el aislamiento fuerte de una máquina virtual completa».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Quien llega a la tercera capa está sustentando.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ADR: el artefacto que sostiene la tercera capa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797149" y="1343926"/>
            <a:ext cx="6010497" cy="4837658"/>
          </a:xfrm>
          <a:prstGeom prst="roundRect">
            <a:avLst>
              <a:gd name="adj" fmla="val 4000"/>
            </a:avLst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ilus-adr-cita-paso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0301" y="1417078"/>
            <a:ext cx="5864193" cy="469135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1353312"/>
            <a:ext cx="5093061" cy="5047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ADR registra UNA decisión en seis secciones: título, estado, contexto, decisión, alternativas descartadas y consecuencias.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la sustentación el ADR no se lee: se cita por su número.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«Esta decisión está en el ADR-002, y el trade-off que aceptamos fue…»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pitch de 5 a 8 minutos: el reparto que funciona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803166" y="1188719"/>
            <a:ext cx="5998464" cy="4828032"/>
          </a:xfrm>
          <a:prstGeom prst="roundRect">
            <a:avLst>
              <a:gd name="adj" fmla="val 4000"/>
            </a:avLst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pitch-reparto-paso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7" name="Picture 6" descr="pitch-reparto-paso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870301" y="5961888"/>
            <a:ext cx="586419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666666"/>
                </a:solidFill>
                <a:latin typeface="Calibri"/>
              </a:rPr>
              <a:t>Clic para avanzar la animación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353312"/>
            <a:ext cx="5093061" cy="5047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pitch de 5 a 8 minutos no se improvisa ni se llena de diapositivas.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Reparto: problema, arquitectura, decisión con su trade-off, evidencia ejecutable, punto débil y cierre.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suma queda entre 6 y 7 minutos, con margen.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Una idea por diapositiva y ocho como máximo.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regla de los 60 segundos, anunciada desde la Clase 11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797149" y="1343926"/>
            <a:ext cx="6010497" cy="4837658"/>
          </a:xfrm>
          <a:prstGeom prst="roundRect">
            <a:avLst>
              <a:gd name="adj" fmla="val 4000"/>
            </a:avLst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ilus-regla-60-paso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0301" y="1417078"/>
            <a:ext cx="5864193" cy="469135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1353312"/>
            <a:ext cx="5093061" cy="5047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un equipo profesional, cuando el sistema falla a las once de la noche, contesta quien esta disponible, no el autor del diagrama.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sistema que solo una persona entiende es un riesgo operativo con nombre propio.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Q&amp;A tecnico: tres tipos de pregunta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803166" y="1188719"/>
            <a:ext cx="5998464" cy="4828032"/>
          </a:xfrm>
          <a:prstGeom prst="roundRect">
            <a:avLst>
              <a:gd name="adj" fmla="val 4000"/>
            </a:avLst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qa-tres-tipos-paso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7" name="Picture 6" descr="qa-tres-tipos-paso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8" name="Picture 7" descr="qa-tres-tipos-paso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870301" y="5961888"/>
            <a:ext cx="586419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666666"/>
                </a:solidFill>
                <a:latin typeface="Calibri"/>
              </a:rPr>
              <a:t>Clic para avanzar la animación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1353312"/>
            <a:ext cx="5093061" cy="5047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Verificación: comprueba que se hizo lo que se dice.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Profundización: empuja un nivel más allá de lo presentado.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Hipotética: «si el tráfico se multiplica por diez, ¿qué se rompe primero?».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«No lo medimos» más cómo se mediría no penaliza; un dato inventado sí.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cierre del curso: conectar lo hecho con la practica profesional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797149" y="1343926"/>
            <a:ext cx="6010497" cy="4837658"/>
          </a:xfrm>
          <a:prstGeom prst="roundRect">
            <a:avLst>
              <a:gd name="adj" fmla="val 4000"/>
            </a:avLst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ilus-practica-profesional-paso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0301" y="1417078"/>
            <a:ext cx="5864193" cy="469135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1353312"/>
            <a:ext cx="5093061" cy="5047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la industria, esta sustentacion tiene nombre propio: design review, o architecture review.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ADR es un formato real, usado en equipos reales, no un invento academico del curso.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frase de cierre util es que arquitectura no es una lista de logos de proveedores, sino un conjunto de decisiones documentadas con sus…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Cierre del curso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RAA1–3 aplicados. Conserven el repo como portafolio.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Gracias — arquitectura es trade-offs documentados, no logos de proveedores.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Recorrido: dominio → modelo de servicio → contenedor → Containers → seguridad → despliegue → CI y monitoreo → costos → rendimiento → escala.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Cada paso fue una decisión con su trade-off escrito: eso es lo que se lleva a la práctica profesional.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ADR por decisión importante permite, años después, saber por qué el sistema es como 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Del boceto al código Mermaid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El diagrama se escribe como código: se versiona, se compara y se corrige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659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94360" y="1965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965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1751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Diseña visual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Dibuja el diagrama como quieras en Excalidraw o draw.io: es más rápido arrastrar cajas que escribir código, y ahí es donde se piensa el modelo.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802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94360" y="3108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3108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2894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Traduce con IA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Describe tu boceto a una IA y pídele el código Mermaid usando flowchart. Revisa el resultado: la IA acierta la sintaxis, no tu modelo.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3945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94360" y="4251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4251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4037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Renderiza en un visor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Pega el código en un visor Mermaid (mermaid.live o la vista previa de tu editor) y míralo dibujado. Si no renderiza, corrige ahí: un end faltante o un rótulo sin comillas.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5088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94360" y="5394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5394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88720" y="5180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Guarda código e imagen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El código es la fuente del diagrama: guárdalo con tu proyecto junto con el PNG exportado.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15 · cierre del curso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Arquitectura = decisiones estructurales con sus razones y consecuencias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Context, Containers y Deployment cuentan el mismo sistema desde tres ángulos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Conserva el repo (informe, diagramas, Dockerfile, ci.yml) como portafolio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Arquitectura = decisiones documentadas con sus consecuencias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