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8" roundtripDataSignature="AMtx7mgL8MDVU7V3vMbdSxCH8ZDHnuNOa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customschemas.google.com/relationships/presentationmetadata" Target="meta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5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7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7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8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8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9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9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9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9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1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1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1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2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2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2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3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4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3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uniajc_blanco.png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274320"/>
            <a:ext cx="1828800" cy="797105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69CCB"/>
                </a:solidFill>
                <a:latin typeface="Calibri"/>
                <a:ea typeface="Calibri"/>
                <a:cs typeface="Calibri"/>
                <a:sym typeface="Calibri"/>
              </a:rPr>
              <a:t>Clase 2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Modelos de servicio: IaaS, PaaS, SaaS</a:t>
            </a:r>
            <a:endParaRPr/>
          </a:p>
          <a:p>
            <a:pPr indent="0" lvl="0" marL="0" marR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69CCB"/>
                </a:solidFill>
                <a:latin typeface="Calibri"/>
                <a:ea typeface="Calibri"/>
                <a:cs typeface="Calibri"/>
                <a:sym typeface="Calibri"/>
              </a:rPr>
              <a:t>ADR del PI · elección del modelo de servicio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457200" y="3200400"/>
            <a:ext cx="11277300" cy="108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Hoy avanzamos el PI en:</a:t>
            </a: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Decidir modelo dominante (IaaS/PaaS/SaaS) para CloudLite + ADR breve</a:t>
            </a:r>
            <a:endParaRPr sz="16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Bloque </a:t>
            </a:r>
            <a:r>
              <a:rPr b="1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120 min</a:t>
            </a: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· Teoría breve · Taller PI · cierre.</a:t>
            </a:r>
            <a:endParaRPr sz="16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Herramientas gratis + navegador · sin AWS/GCP/Oracle Cloud.</a:t>
            </a:r>
            <a:endParaRPr sz="1600"/>
          </a:p>
        </p:txBody>
      </p:sp>
      <p:sp>
        <p:nvSpPr>
          <p:cNvPr id="90" name="Google Shape;90;p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Agenda de hoy (120 min)</a:t>
            </a:r>
            <a:endParaRPr/>
          </a:p>
        </p:txBody>
      </p:sp>
      <p:sp>
        <p:nvSpPr>
          <p:cNvPr id="98" name="Google Shape;98;p2"/>
          <p:cNvSpPr txBox="1"/>
          <p:nvPr/>
        </p:nvSpPr>
        <p:spPr>
          <a:xfrm>
            <a:off x="457200" y="1170432"/>
            <a:ext cx="11277300" cy="181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0–10</a:t>
            </a: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Encuadre: hoy avanzamos el PI en… + entregable concreto.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10–40</a:t>
            </a: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Teoría Core breve (solo lo necesario para el taller PI).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40–100</a:t>
            </a: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Taller guiado PI (demo en vivo + avance individual).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100–115</a:t>
            </a: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Revisión de evidencias del PI.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115–120</a:t>
            </a: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Cierre: criterio de éxito + plazo domingo 23:59.</a:t>
            </a:r>
            <a:endParaRPr sz="1700"/>
          </a:p>
        </p:txBody>
      </p:sp>
      <p:sp>
        <p:nvSpPr>
          <p:cNvPr id="99" name="Google Shape;99;p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Objetivos de la clase</a:t>
            </a:r>
            <a:endParaRPr/>
          </a:p>
        </p:txBody>
      </p:sp>
      <p:sp>
        <p:nvSpPr>
          <p:cNvPr id="107" name="Google Shape;107;p3"/>
          <p:cNvSpPr txBox="1"/>
          <p:nvPr/>
        </p:nvSpPr>
        <p:spPr>
          <a:xfrm>
            <a:off x="457200" y="1170432"/>
            <a:ext cx="11277300" cy="108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Comparar IaaS, PaaS y SaaS con criterios de control, operación y velocidad.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Elegir el </a:t>
            </a:r>
            <a:r>
              <a:rPr b="1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modelo dominante</a:t>
            </a: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de CloudLite con justificación.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Documentar la decisión como </a:t>
            </a:r>
            <a:r>
              <a:rPr b="1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ADR</a:t>
            </a: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reutilizable en el informe PI.</a:t>
            </a:r>
            <a:endParaRPr sz="1700"/>
          </a:p>
        </p:txBody>
      </p:sp>
      <p:sp>
        <p:nvSpPr>
          <p:cNvPr id="108" name="Google Shape;108;p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4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4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PI CloudLite — entregable de hoy</a:t>
            </a:r>
            <a:endParaRPr/>
          </a:p>
        </p:txBody>
      </p:sp>
      <p:sp>
        <p:nvSpPr>
          <p:cNvPr id="116" name="Google Shape;116;p4"/>
          <p:cNvSpPr txBox="1"/>
          <p:nvPr/>
        </p:nvSpPr>
        <p:spPr>
          <a:xfrm>
            <a:off x="457200" y="1170432"/>
            <a:ext cx="11277300" cy="14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Entregable:</a:t>
            </a: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ADR-001: decisión de modelo de servicio + matriz de comparación aplicada al dominio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Herramienta: </a:t>
            </a:r>
            <a:r>
              <a:rPr b="1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Google Docs · draw.io (opcional)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Todo lo que construyan hoy entra al </a:t>
            </a:r>
            <a:r>
              <a:rPr b="1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informe/repo del PI</a:t>
            </a: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(no es lab suelto).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Individual por defecto · el docente puede autorizar equipos de 2–3; la entrega en ExamLab siempre es individual.</a:t>
            </a:r>
            <a:endParaRPr sz="1700"/>
          </a:p>
        </p:txBody>
      </p:sp>
      <p:sp>
        <p:nvSpPr>
          <p:cNvPr id="117" name="Google Shape;117;p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5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5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5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IaaS · PaaS · SaaS (sin cloud de pago)</a:t>
            </a:r>
            <a:endParaRPr/>
          </a:p>
        </p:txBody>
      </p:sp>
      <p:sp>
        <p:nvSpPr>
          <p:cNvPr id="125" name="Google Shape;125;p5"/>
          <p:cNvSpPr txBox="1"/>
          <p:nvPr/>
        </p:nvSpPr>
        <p:spPr>
          <a:xfrm>
            <a:off x="457188" y="1243582"/>
            <a:ext cx="11277300" cy="14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IaaS</a:t>
            </a: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: usted administra SO/red/runtime; el proveedor da cómputo/red/disco.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PaaS</a:t>
            </a: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: usted despliega app; el proveedor gestiona runtime/escala básica.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SaaS</a:t>
            </a: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: consume el servicio listo (correo, CRM); poca personalización profunda.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En este curso </a:t>
            </a:r>
            <a:r>
              <a:rPr b="1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simulamos</a:t>
            </a: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con labs/navegador; no abrimos cuentas IaaS con tarjeta.</a:t>
            </a:r>
            <a:endParaRPr sz="1700"/>
          </a:p>
        </p:txBody>
      </p:sp>
      <p:sp>
        <p:nvSpPr>
          <p:cNvPr id="126" name="Google Shape;126;p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6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Cómo decidir para CloudLite</a:t>
            </a:r>
            <a:endParaRPr/>
          </a:p>
        </p:txBody>
      </p:sp>
      <p:sp>
        <p:nvSpPr>
          <p:cNvPr id="134" name="Google Shape;134;p6"/>
          <p:cNvSpPr txBox="1"/>
          <p:nvPr/>
        </p:nvSpPr>
        <p:spPr>
          <a:xfrm>
            <a:off x="457200" y="1170432"/>
            <a:ext cx="11277300" cy="14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Pregunte: ¿necesito controlar red/SO o solo desplegar API+datos?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Para un MVP académico suele ganar </a:t>
            </a:r>
            <a:r>
              <a:rPr b="1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PaaS conceptual</a:t>
            </a: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+ contenedores (portable).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Si el dominio exige mucho control de red → justifique IaaS *simulado* en diagrama.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SaaS solo como </a:t>
            </a:r>
            <a:r>
              <a:rPr b="1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satélite</a:t>
            </a: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(auth, email, analytics) — no como toda la app.</a:t>
            </a:r>
            <a:endParaRPr sz="1700"/>
          </a:p>
        </p:txBody>
      </p:sp>
      <p:sp>
        <p:nvSpPr>
          <p:cNvPr id="135" name="Google Shape;135;p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7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7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Plantilla ADR-001</a:t>
            </a:r>
            <a:endParaRPr/>
          </a:p>
        </p:txBody>
      </p:sp>
      <p:sp>
        <p:nvSpPr>
          <p:cNvPr id="143" name="Google Shape;143;p7"/>
          <p:cNvSpPr txBox="1"/>
          <p:nvPr/>
        </p:nvSpPr>
        <p:spPr>
          <a:xfrm>
            <a:off x="457200" y="1170432"/>
            <a:ext cx="11277300" cy="108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Contexto · Decisión · Alternativas · Consecuencias · Riesgos.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Máximo 1 página. Lenguaje de arquitectura, no marketing.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Debe citar 2 trade-offs (ej.: control vs velocidad de entrega).</a:t>
            </a:r>
            <a:endParaRPr sz="1700"/>
          </a:p>
        </p:txBody>
      </p:sp>
      <p:sp>
        <p:nvSpPr>
          <p:cNvPr id="144" name="Google Shape;144;p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8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8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8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ADR-001 — la plantilla completa cabe en una pagina</a:t>
            </a:r>
            <a:endParaRPr/>
          </a:p>
        </p:txBody>
      </p:sp>
      <p:sp>
        <p:nvSpPr>
          <p:cNvPr id="152" name="Google Shape;152;p8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fmla="val 12000" name="adj"/>
            </a:avLst>
          </a:prstGeom>
          <a:solidFill>
            <a:srgbClr val="1E2A38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8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269CCB"/>
                </a:solidFill>
                <a:latin typeface="Calibri"/>
                <a:ea typeface="Calibri"/>
                <a:cs typeface="Calibri"/>
                <a:sym typeface="Calibri"/>
              </a:rPr>
              <a:t>● ● ●</a:t>
            </a:r>
            <a:endParaRPr/>
          </a:p>
        </p:txBody>
      </p:sp>
      <p:sp>
        <p:nvSpPr>
          <p:cNvPr id="155" name="Google Shape;155;p8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# ADR-001: Modelo de servicio de CloudLite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14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## Contexto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MVP academico, un desarrollador (2 o 3 si el docente autorizo equipo), sin presupuesto cloud.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14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## Decision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PaaS conceptual + contenedores (portable).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14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## Alternativas descartadas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- IaaS: control total, pero operamos SO y red -&gt; tiempo que no tenemos.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- SaaS como nucleo: no personalizable; solo satelite (auth/email).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14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## Consecuencias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+ Menos operacion.  - Menos control de red.  ~ Portabilidad OK.</a:t>
            </a:r>
            <a:endParaRPr/>
          </a:p>
        </p:txBody>
      </p:sp>
      <p:sp>
        <p:nvSpPr>
          <p:cNvPr id="156" name="Google Shape;156;p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Si el ADR no nombra un modelo DOMINANTE y 2 descartes con razon, no es un ADR.</a:t>
            </a:r>
            <a:endParaRPr/>
          </a:p>
        </p:txBody>
      </p:sp>
      <p:sp>
        <p:nvSpPr>
          <p:cNvPr id="157" name="Google Shape;157;p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9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9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9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Herramientas de hoy</a:t>
            </a:r>
            <a:endParaRPr/>
          </a:p>
        </p:txBody>
      </p:sp>
      <p:sp>
        <p:nvSpPr>
          <p:cNvPr id="165" name="Google Shape;165;p9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B8D8EE"/>
                </a:solidFill>
                <a:latin typeface="Calibri"/>
                <a:ea typeface="Calibri"/>
                <a:cs typeface="Calibri"/>
                <a:sym typeface="Calibri"/>
              </a:rPr>
              <a:t>Gratis · navegador o free tier · sin cuenta de pago</a:t>
            </a:r>
            <a:endParaRPr/>
          </a:p>
        </p:txBody>
      </p:sp>
      <p:sp>
        <p:nvSpPr>
          <p:cNvPr id="166" name="Google Shape;166;p9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9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9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oogle_docs.png" id="169" name="Google Shape;169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43329" y="1847087"/>
            <a:ext cx="1252728" cy="125272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Google Docs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ADR-001</a:t>
            </a:r>
            <a:endParaRPr/>
          </a:p>
        </p:txBody>
      </p:sp>
      <p:sp>
        <p:nvSpPr>
          <p:cNvPr id="171" name="Google Shape;171;p9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9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9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rawio.png" id="174" name="Google Shape;174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9483" y="1847087"/>
            <a:ext cx="1252728" cy="1252728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9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draw.io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Matriz de modelos</a:t>
            </a:r>
            <a:endParaRPr/>
          </a:p>
        </p:txBody>
      </p:sp>
      <p:sp>
        <p:nvSpPr>
          <p:cNvPr id="176" name="Google Shape;176;p9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9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9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examlab.png" id="179" name="Google Shape;179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295638" y="1847087"/>
            <a:ext cx="1252728" cy="1252728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ExamLab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Donde se entrega</a:t>
            </a:r>
            <a:endParaRPr/>
          </a:p>
        </p:txBody>
      </p:sp>
      <p:sp>
        <p:nvSpPr>
          <p:cNvPr id="181" name="Google Shape;181;p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0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0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Taller PI (paso a paso)</a:t>
            </a:r>
            <a:endParaRPr/>
          </a:p>
        </p:txBody>
      </p:sp>
      <p:sp>
        <p:nvSpPr>
          <p:cNvPr id="189" name="Google Shape;189;p10"/>
          <p:cNvSpPr txBox="1"/>
          <p:nvPr/>
        </p:nvSpPr>
        <p:spPr>
          <a:xfrm>
            <a:off x="457200" y="1170432"/>
            <a:ext cx="11277300" cy="3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Paso 1: relea su ficha y su C4 Context de la Clase 1. No cambie de dominio: las preguntas 5 a 7 se califican sobre el mismo sistema, y el ADR que redacte hoy se reutiliza en el informe del PI y en la sustentacion de la Clase 15.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Paso 2: construya en la pregunta 5 la matriz `Criterio | IaaS | PaaS | SaaS` con las cuatro filas en orden (control, costo cualitativo, operacion, time-to-demo) y maximo 2 lineas por celda; verifique que cada celda nombre una capacidad o una restriccion de SU dominio, y que la fila de operacion no afirme que en PaaS o SaaS usted deja de responder por su propia aplicacion.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Paso 3: redacte en la pregunta 6 el ADR-001 con titulo, estado con fecha, la decision en UNA sola frase con UN modelo dominante, y exactamente 2 alternativas descartadas con el motivo atado a su dominio; verifique que la seccion de decision no nombre dos modelos, porque en ese caso vale cero.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4.</a:t>
            </a: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Paso 4: escriba en la pregunta 7 las consecuencias en los tres ejes (operacion, costo y aprendizaje), con al menos una positiva y una negativa por eje marcadas con + y -, y verifique que al menos una negativa hable de amarre al proveedor o de perdida de control; guarde y continue, que la actividad se entrega completa al cierre del corte.</a:t>
            </a:r>
            <a:endParaRPr sz="1700"/>
          </a:p>
        </p:txBody>
      </p:sp>
      <p:sp>
        <p:nvSpPr>
          <p:cNvPr id="190" name="Google Shape;190;p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1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Para continuar (PI)</a:t>
            </a:r>
            <a:endParaRPr/>
          </a:p>
        </p:txBody>
      </p:sp>
      <p:sp>
        <p:nvSpPr>
          <p:cNvPr id="198" name="Google Shape;198;p11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fmla="val 12000" name="adj"/>
            </a:avLst>
          </a:prstGeom>
          <a:solidFill>
            <a:srgbClr val="E8F4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1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1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269CCB"/>
                </a:solidFill>
                <a:latin typeface="Calibri"/>
                <a:ea typeface="Calibri"/>
                <a:cs typeface="Calibri"/>
                <a:sym typeface="Calibri"/>
              </a:rPr>
              <a:t>Info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Entregable: ADR-001: decisión de modelo de servicio + matriz de comparación aplicada al dominio</a:t>
            </a:r>
            <a:endParaRPr/>
          </a:p>
        </p:txBody>
      </p:sp>
      <p:sp>
        <p:nvSpPr>
          <p:cNvPr id="201" name="Google Shape;201;p11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fmla="val 12000" name="adj"/>
            </a:avLst>
          </a:prstGeom>
          <a:solidFill>
            <a:srgbClr val="FFF8E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1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1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FFD000"/>
                </a:solidFill>
                <a:latin typeface="Calibri"/>
                <a:ea typeface="Calibri"/>
                <a:cs typeface="Calibri"/>
                <a:sym typeface="Calibri"/>
              </a:rPr>
              <a:t>Aclaración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Subir evidencias al paquete CloudLite (Drive/repo) y a ExamLab (https://uniaj.examlab.workers.dev/) domingo 23:59.</a:t>
            </a:r>
            <a:endParaRPr/>
          </a:p>
        </p:txBody>
      </p:sp>
      <p:sp>
        <p:nvSpPr>
          <p:cNvPr id="204" name="Google Shape;204;p11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fmla="val 12000" name="adj"/>
            </a:avLst>
          </a:prstGeom>
          <a:solidFill>
            <a:srgbClr val="FBE4E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1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A02030"/>
                </a:solidFill>
                <a:latin typeface="Calibri"/>
                <a:ea typeface="Calibri"/>
                <a:cs typeface="Calibri"/>
                <a:sym typeface="Calibri"/>
              </a:rPr>
              <a:t>Atención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Sin cloud de pago ni instalaciones obligatorias de hipervisores/Docker Desktop.</a:t>
            </a:r>
            <a:endParaRPr/>
          </a:p>
        </p:txBody>
      </p:sp>
      <p:sp>
        <p:nvSpPr>
          <p:cNvPr id="207" name="Google Shape;207;p1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uniajc_color.png" id="213" name="Google Shape;21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5998464"/>
            <a:ext cx="1463040" cy="643233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12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Clase 2 · PI en movimiento</a:t>
            </a:r>
            <a:endParaRPr/>
          </a:p>
        </p:txBody>
      </p:sp>
      <p:sp>
        <p:nvSpPr>
          <p:cNvPr id="215" name="Google Shape;215;p12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Decidir modelo dominante (IaaS/PaaS/SaaS) para CloudLite + ADR breve</a:t>
            </a:r>
            <a:endParaRPr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Evidencia: ADR-001: decisión de modelo de servicio + matriz de comparación aplicada al dominio</a:t>
            </a:r>
            <a:endParaRPr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Siguiente paso = siguiente hito del PI CloudLite</a:t>
            </a:r>
            <a:endParaRPr/>
          </a:p>
        </p:txBody>
      </p:sp>
      <p:sp>
        <p:nvSpPr>
          <p:cNvPr id="216" name="Google Shape;216;p12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269CCB"/>
                </a:solidFill>
                <a:latin typeface="Calibri"/>
                <a:ea typeface="Calibri"/>
                <a:cs typeface="Calibri"/>
                <a:sym typeface="Calibri"/>
              </a:rPr>
              <a:t>Teoría al servicio del proyecto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