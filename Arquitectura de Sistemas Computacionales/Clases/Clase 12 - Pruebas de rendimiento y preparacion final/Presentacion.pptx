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27432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916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ogo_uniajc_blanco.png"/>
          <p:cNvPicPr>
            <a:picLocks noChangeAspect="1"/>
          </p:cNvPicPr>
          <p:nvPr/>
        </p:nvPicPr>
        <p:blipFill>
          <a:blip r:embed="rId2"/>
          <a:stretch>
            <a:fillRect/>
          </a:stretch>
        </p:blipFill>
        <p:spPr>
          <a:xfrm>
            <a:off x="457200" y="274320"/>
            <a:ext cx="1828800" cy="797105"/>
          </a:xfrm>
          <a:prstGeom prst="rect">
            <a:avLst/>
          </a:prstGeom>
        </p:spPr>
      </p:pic>
      <p:sp>
        <p:nvSpPr>
          <p:cNvPr id="5" name="TextBox 4"/>
          <p:cNvSpPr txBox="1"/>
          <p:nvPr/>
        </p:nvSpPr>
        <p:spPr>
          <a:xfrm>
            <a:off x="10180015" y="320040"/>
            <a:ext cx="1645920" cy="365760"/>
          </a:xfrm>
          <a:prstGeom prst="rect">
            <a:avLst/>
          </a:prstGeom>
          <a:noFill/>
        </p:spPr>
        <p:txBody>
          <a:bodyPr wrap="square">
            <a:spAutoFit/>
          </a:bodyPr>
          <a:lstStyle/>
          <a:p>
            <a:pPr algn="r"/>
            <a:r>
              <a:rPr sz="1200" b="1" i="0">
                <a:solidFill>
                  <a:srgbClr val="269CCB"/>
                </a:solidFill>
                <a:latin typeface="Calibri"/>
              </a:rPr>
              <a:t>Clase 12</a:t>
            </a:r>
          </a:p>
        </p:txBody>
      </p:sp>
      <p:sp>
        <p:nvSpPr>
          <p:cNvPr id="6" name="TextBox 5"/>
          <p:cNvSpPr txBox="1"/>
          <p:nvPr/>
        </p:nvSpPr>
        <p:spPr>
          <a:xfrm>
            <a:off x="457200" y="914400"/>
            <a:ext cx="11277295" cy="1371600"/>
          </a:xfrm>
          <a:prstGeom prst="rect">
            <a:avLst/>
          </a:prstGeom>
          <a:noFill/>
        </p:spPr>
        <p:txBody>
          <a:bodyPr wrap="square" anchor="ctr"/>
          <a:lstStyle/>
          <a:p>
            <a:pPr algn="ctr"/>
            <a:r>
              <a:rPr sz="2800" b="1" i="0">
                <a:solidFill>
                  <a:srgbClr val="FFFFFF"/>
                </a:solidFill>
                <a:latin typeface="Calibri"/>
              </a:rPr>
              <a:t>Pruebas de rendimiento · Preparación de presentación final</a:t>
            </a:r>
          </a:p>
          <a:p>
            <a:pPr algn="ctr">
              <a:spcBef>
                <a:spcPts val="800"/>
              </a:spcBef>
            </a:pPr>
            <a:r>
              <a:rPr sz="1500" b="0" i="0">
                <a:solidFill>
                  <a:srgbClr val="269CCB"/>
                </a:solidFill>
                <a:latin typeface="Calibri"/>
              </a:rPr>
              <a:t>Métricas objetivo + ensayo de pitch PI</a:t>
            </a:r>
          </a:p>
        </p:txBody>
      </p:sp>
      <p:sp>
        <p:nvSpPr>
          <p:cNvPr id="7" name="TextBox 6"/>
          <p:cNvSpPr txBox="1"/>
          <p:nvPr/>
        </p:nvSpPr>
        <p:spPr>
          <a:xfrm>
            <a:off x="457200" y="3200400"/>
            <a:ext cx="11277295" cy="2560320"/>
          </a:xfrm>
          <a:prstGeom prst="rect">
            <a:avLst/>
          </a:prstGeom>
          <a:noFill/>
        </p:spPr>
        <p:txBody>
          <a:bodyPr wrap="square">
            <a:spAutoFit/>
          </a:bodyPr>
          <a:lstStyle/>
          <a:p>
            <a:pPr>
              <a:spcAft>
                <a:spcPts val="800"/>
              </a:spcAft>
            </a:pPr>
            <a:r>
              <a:rPr sz="1500" b="1" i="0">
                <a:solidFill>
                  <a:srgbClr val="333333"/>
                </a:solidFill>
                <a:latin typeface="Calibri"/>
              </a:rPr>
              <a:t>Hoy avanzamos el PI en:</a:t>
            </a:r>
            <a:r>
              <a:rPr sz="1500" b="0" i="0">
                <a:solidFill>
                  <a:srgbClr val="333333"/>
                </a:solidFill>
                <a:latin typeface="Calibri"/>
              </a:rPr>
              <a:t> Escenario de rendimiento + ensayo 5–8 min de sustentación</a:t>
            </a:r>
          </a:p>
          <a:p>
            <a:pPr>
              <a:spcAft>
                <a:spcPts val="800"/>
              </a:spcAft>
            </a:pPr>
            <a:r>
              <a:rPr sz="1500" b="0" i="0">
                <a:solidFill>
                  <a:srgbClr val="333333"/>
                </a:solidFill>
                <a:latin typeface="Calibri"/>
              </a:rPr>
              <a:t>Bloque </a:t>
            </a:r>
            <a:r>
              <a:rPr sz="1500" b="1" i="0">
                <a:solidFill>
                  <a:srgbClr val="333333"/>
                </a:solidFill>
                <a:latin typeface="Calibri"/>
              </a:rPr>
              <a:t>120 min</a:t>
            </a:r>
            <a:r>
              <a:rPr sz="1500" b="0" i="0">
                <a:solidFill>
                  <a:srgbClr val="333333"/>
                </a:solidFill>
                <a:latin typeface="Calibri"/>
              </a:rPr>
              <a:t> · Teoría breve · Taller PI · cierre.</a:t>
            </a:r>
          </a:p>
          <a:p>
            <a:pPr>
              <a:spcAft>
                <a:spcPts val="800"/>
              </a:spcAft>
            </a:pPr>
            <a:r>
              <a:rPr sz="1500" b="0" i="0">
                <a:solidFill>
                  <a:srgbClr val="333333"/>
                </a:solidFill>
                <a:latin typeface="Calibri"/>
              </a:rPr>
              <a:t>Herramientas gratis + navegador · sin AWS/GCP/Oracle Cloud.</a:t>
            </a:r>
          </a:p>
        </p:txBody>
      </p:sp>
      <p:sp>
        <p:nvSpPr>
          <p:cNvPr id="8" name="TextBox 7"/>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Agenda de hoy (120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0–10</a:t>
            </a:r>
            <a:r>
              <a:rPr sz="2000" b="0" i="0">
                <a:solidFill>
                  <a:srgbClr val="333333"/>
                </a:solidFill>
                <a:latin typeface="Calibri"/>
              </a:rPr>
              <a:t> Encuadre: hoy avanzamos el PI en… + entregable concreto.</a:t>
            </a:r>
          </a:p>
          <a:p>
            <a:pPr>
              <a:spcAft>
                <a:spcPts val="800"/>
              </a:spcAft>
            </a:pPr>
            <a:r>
              <a:rPr sz="2000" b="1" i="0">
                <a:solidFill>
                  <a:srgbClr val="333333"/>
                </a:solidFill>
                <a:latin typeface="Calibri"/>
              </a:rPr>
              <a:t>10–40</a:t>
            </a:r>
            <a:r>
              <a:rPr sz="2000" b="0" i="0">
                <a:solidFill>
                  <a:srgbClr val="333333"/>
                </a:solidFill>
                <a:latin typeface="Calibri"/>
              </a:rPr>
              <a:t> Teoría Core breve (solo lo necesario para el taller PI).</a:t>
            </a:r>
          </a:p>
          <a:p>
            <a:pPr>
              <a:spcAft>
                <a:spcPts val="800"/>
              </a:spcAft>
            </a:pPr>
            <a:r>
              <a:rPr sz="2000" b="0" i="0">
                <a:solidFill>
                  <a:srgbClr val="333333"/>
                </a:solidFill>
                <a:latin typeface="Calibri"/>
              </a:rPr>
              <a:t>–   </a:t>
            </a:r>
            <a:r>
              <a:rPr sz="2000" b="1" i="0">
                <a:solidFill>
                  <a:srgbClr val="333333"/>
                </a:solidFill>
                <a:latin typeface="Calibri"/>
              </a:rPr>
              <a:t>40–100</a:t>
            </a:r>
            <a:r>
              <a:rPr sz="2000" b="0" i="0">
                <a:solidFill>
                  <a:srgbClr val="333333"/>
                </a:solidFill>
                <a:latin typeface="Calibri"/>
              </a:rPr>
              <a:t> Taller guiado PI (demo en vivo + avance individual).</a:t>
            </a:r>
          </a:p>
          <a:p>
            <a:pPr>
              <a:spcAft>
                <a:spcPts val="800"/>
              </a:spcAft>
            </a:pPr>
            <a:r>
              <a:rPr sz="2000" b="1" i="0">
                <a:solidFill>
                  <a:srgbClr val="333333"/>
                </a:solidFill>
                <a:latin typeface="Calibri"/>
              </a:rPr>
              <a:t>100–115</a:t>
            </a:r>
            <a:r>
              <a:rPr sz="2000" b="0" i="0">
                <a:solidFill>
                  <a:srgbClr val="333333"/>
                </a:solidFill>
                <a:latin typeface="Calibri"/>
              </a:rPr>
              <a:t> Revisión de evidencias del PI.</a:t>
            </a:r>
          </a:p>
          <a:p>
            <a:pPr>
              <a:spcAft>
                <a:spcPts val="800"/>
              </a:spcAft>
            </a:pPr>
            <a:r>
              <a:rPr sz="2000" b="1" i="0">
                <a:solidFill>
                  <a:srgbClr val="333333"/>
                </a:solidFill>
                <a:latin typeface="Calibri"/>
              </a:rPr>
              <a:t>115–120</a:t>
            </a:r>
            <a:r>
              <a:rPr sz="2000" b="0" i="0">
                <a:solidFill>
                  <a:srgbClr val="333333"/>
                </a:solidFill>
                <a:latin typeface="Calibri"/>
              </a:rPr>
              <a:t> Cierre: criterio de éxito + plazo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Objetivos de la clase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Definir métricas/objetivos de rendimiento realistas para CloudLite.</a:t>
            </a:r>
          </a:p>
          <a:p>
            <a:pPr>
              <a:spcAft>
                <a:spcPts val="800"/>
              </a:spcAft>
            </a:pPr>
            <a:r>
              <a:rPr sz="2000" b="0" i="0">
                <a:solidFill>
                  <a:srgbClr val="333333"/>
                </a:solidFill>
                <a:latin typeface="Calibri"/>
              </a:rPr>
              <a:t>–   Diseñar un escenario de prueba (aunque sea cualitativo/simulado).</a:t>
            </a:r>
          </a:p>
          <a:p>
            <a:pPr>
              <a:spcAft>
                <a:spcPts val="800"/>
              </a:spcAft>
            </a:pPr>
            <a:r>
              <a:rPr sz="2000" b="0" i="0">
                <a:solidFill>
                  <a:srgbClr val="333333"/>
                </a:solidFill>
                <a:latin typeface="Calibri"/>
              </a:rPr>
              <a:t>–   Ensayar el pitch de sustentación (prep PI; Parcial 3 es otro día).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PI CloudLite — entregable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Sección Rendimiento + guion de pitch + paquete casi-final</a:t>
            </a:r>
          </a:p>
          <a:p>
            <a:pPr>
              <a:spcAft>
                <a:spcPts val="800"/>
              </a:spcAft>
            </a:pPr>
            <a:r>
              <a:rPr sz="2000" b="0" i="0">
                <a:solidFill>
                  <a:srgbClr val="333333"/>
                </a:solidFill>
                <a:latin typeface="Calibri"/>
              </a:rPr>
              <a:t>–   Herramienta: </a:t>
            </a:r>
            <a:r>
              <a:rPr sz="2000" b="1" i="0">
                <a:solidFill>
                  <a:srgbClr val="333333"/>
                </a:solidFill>
                <a:latin typeface="Calibri"/>
              </a:rPr>
              <a:t>Google Docs · draw.io · (opcional) lab contenedor</a:t>
            </a:r>
          </a:p>
          <a:p>
            <a:pPr>
              <a:spcAft>
                <a:spcPts val="800"/>
              </a:spcAft>
            </a:pPr>
            <a:r>
              <a:rPr sz="2000" b="0" i="0">
                <a:solidFill>
                  <a:srgbClr val="333333"/>
                </a:solidFill>
                <a:latin typeface="Calibri"/>
              </a:rPr>
              <a:t>–   Todo lo que construyan hoy entra al </a:t>
            </a:r>
            <a:r>
              <a:rPr sz="2000" b="1" i="0">
                <a:solidFill>
                  <a:srgbClr val="333333"/>
                </a:solidFill>
                <a:latin typeface="Calibri"/>
              </a:rPr>
              <a:t>informe/repo del PI</a:t>
            </a:r>
            <a:r>
              <a:rPr sz="2000" b="0" i="0">
                <a:solidFill>
                  <a:srgbClr val="333333"/>
                </a:solidFill>
                <a:latin typeface="Calibri"/>
              </a:rPr>
              <a:t> (no es lab suelto).</a:t>
            </a:r>
          </a:p>
          <a:p>
            <a:pPr>
              <a:spcAft>
                <a:spcPts val="800"/>
              </a:spcAft>
            </a:pPr>
            <a:r>
              <a:rPr sz="2000" b="0" i="0">
                <a:solidFill>
                  <a:srgbClr val="333333"/>
                </a:solidFill>
                <a:latin typeface="Calibri"/>
              </a:rPr>
              <a:t>–   Individual por defecto · el docente puede autorizar equipos de 2–3; la entrega en la plataforma del curso siempre es individual.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Rendimiento sin stress-tool de pago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Definan: RPS/usuarios concurrentes objetivo · p95 latencia · error rate.</a:t>
            </a:r>
          </a:p>
          <a:p>
            <a:pPr>
              <a:spcAft>
                <a:spcPts val="800"/>
              </a:spcAft>
            </a:pPr>
            <a:r>
              <a:rPr sz="2000" b="0" i="0">
                <a:solidFill>
                  <a:srgbClr val="333333"/>
                </a:solidFill>
                <a:latin typeface="Calibri"/>
              </a:rPr>
              <a:t>–   Escenario: pico de matrícula / hora pico de citas — narren carga.</a:t>
            </a:r>
          </a:p>
          <a:p>
            <a:pPr>
              <a:spcAft>
                <a:spcPts val="800"/>
              </a:spcAft>
            </a:pPr>
            <a:r>
              <a:rPr sz="2000" b="0" i="0">
                <a:solidFill>
                  <a:srgbClr val="333333"/>
                </a:solidFill>
                <a:latin typeface="Calibri"/>
              </a:rPr>
              <a:t>–   Bottlenecks probables: DB, auth, I/O de objetos.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Preparación de presentación (5–8 min)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1 min problema · 2 min arquitectura · 1 min contenedor · 1 min CI · 1 min seguridad/costos · Q&amp;A.</a:t>
            </a:r>
          </a:p>
          <a:p>
            <a:pPr>
              <a:spcAft>
                <a:spcPts val="800"/>
              </a:spcAft>
            </a:pPr>
            <a:r>
              <a:rPr sz="2000" b="0" i="0">
                <a:solidFill>
                  <a:srgbClr val="333333"/>
                </a:solidFill>
                <a:latin typeface="Calibri"/>
              </a:rPr>
              <a:t>–   Demo: diagrama + captura lab/Actions (no improvisar login cloud).</a:t>
            </a:r>
          </a:p>
          <a:p>
            <a:pPr>
              <a:spcAft>
                <a:spcPts val="800"/>
              </a:spcAft>
            </a:pPr>
            <a:r>
              <a:rPr sz="2000" b="0" i="0">
                <a:solidFill>
                  <a:srgbClr val="333333"/>
                </a:solidFill>
                <a:latin typeface="Calibri"/>
              </a:rPr>
              <a:t>–   Sustentas tú los 5 bloques; si hay equipo autorizado, hablan todos.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Paquete de entrega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Informe + diagramas + Dockerfile + YAML + capturas.</a:t>
            </a:r>
          </a:p>
          <a:p>
            <a:pPr>
              <a:spcAft>
                <a:spcPts val="800"/>
              </a:spcAft>
            </a:pPr>
            <a:r>
              <a:rPr sz="2000" b="0" i="0">
                <a:solidFill>
                  <a:srgbClr val="333333"/>
                </a:solidFill>
                <a:latin typeface="Calibri"/>
              </a:rPr>
              <a:t>–   Fecha/canal: coordinación del periodo.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«Que sea rapido» no es un requisito</a:t>
            </a:r>
          </a:p>
        </p:txBody>
      </p:sp>
      <p:sp>
        <p:nvSpPr>
          <p:cNvPr id="5" name="Rounded Rectangle 4"/>
          <p:cNvSpPr/>
          <p:nvPr/>
        </p:nvSpPr>
        <p:spPr>
          <a:xfrm>
            <a:off x="457200" y="1261872"/>
            <a:ext cx="5478627" cy="5093208"/>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5478627" cy="50292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353312"/>
            <a:ext cx="5204307" cy="365760"/>
          </a:xfrm>
          <a:prstGeom prst="rect">
            <a:avLst/>
          </a:prstGeom>
          <a:noFill/>
        </p:spPr>
        <p:txBody>
          <a:bodyPr wrap="square" anchor="ctr"/>
          <a:lstStyle/>
          <a:p>
            <a:pPr algn="ctr"/>
            <a:r>
              <a:rPr sz="1600" b="1" i="0">
                <a:solidFill>
                  <a:srgbClr val="FFFFFF"/>
                </a:solidFill>
                <a:latin typeface="Calibri"/>
              </a:rPr>
              <a:t>Enunciado vago</a:t>
            </a:r>
          </a:p>
        </p:txBody>
      </p:sp>
      <p:sp>
        <p:nvSpPr>
          <p:cNvPr id="8" name="TextBox 7"/>
          <p:cNvSpPr txBox="1"/>
          <p:nvPr/>
        </p:nvSpPr>
        <p:spPr>
          <a:xfrm>
            <a:off x="621792"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«La app tiene que ser rapida»</a:t>
            </a:r>
          </a:p>
          <a:p>
            <a:pPr>
              <a:spcAft>
                <a:spcPts val="800"/>
              </a:spcAft>
            </a:pPr>
            <a:r>
              <a:rPr sz="1500" b="0" i="0">
                <a:solidFill>
                  <a:srgbClr val="333333"/>
                </a:solidFill>
                <a:latin typeface="Calibri"/>
              </a:rPr>
              <a:t>–   «Aguanta harta gente»</a:t>
            </a:r>
          </a:p>
          <a:p>
            <a:pPr>
              <a:spcAft>
                <a:spcPts val="800"/>
              </a:spcAft>
            </a:pPr>
            <a:r>
              <a:rPr sz="1500" b="0" i="0">
                <a:solidFill>
                  <a:srgbClr val="333333"/>
                </a:solidFill>
                <a:latin typeface="Calibri"/>
              </a:rPr>
              <a:t>–   «Si se pone lenta, le subimos recursos»</a:t>
            </a:r>
          </a:p>
          <a:p>
            <a:pPr>
              <a:spcAft>
                <a:spcPts val="800"/>
              </a:spcAft>
            </a:pPr>
            <a:r>
              <a:rPr sz="1500" b="0" i="0">
                <a:solidFill>
                  <a:srgbClr val="333333"/>
                </a:solidFill>
                <a:latin typeface="Calibri"/>
              </a:rPr>
              <a:t>–   No hay con que comparar despues</a:t>
            </a:r>
          </a:p>
        </p:txBody>
      </p:sp>
      <p:sp>
        <p:nvSpPr>
          <p:cNvPr id="9" name="Rounded Rectangle 8"/>
          <p:cNvSpPr/>
          <p:nvPr/>
        </p:nvSpPr>
        <p:spPr>
          <a:xfrm>
            <a:off x="6255867" y="1261872"/>
            <a:ext cx="5478627" cy="5093208"/>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55867" y="1261872"/>
            <a:ext cx="5478627" cy="5029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93027" y="1353312"/>
            <a:ext cx="5204307" cy="365760"/>
          </a:xfrm>
          <a:prstGeom prst="rect">
            <a:avLst/>
          </a:prstGeom>
          <a:noFill/>
        </p:spPr>
        <p:txBody>
          <a:bodyPr wrap="square" anchor="ctr"/>
          <a:lstStyle/>
          <a:p>
            <a:pPr algn="ctr"/>
            <a:r>
              <a:rPr sz="1600" b="1" i="0">
                <a:solidFill>
                  <a:srgbClr val="FFFFFF"/>
                </a:solidFill>
                <a:latin typeface="Calibri"/>
              </a:rPr>
              <a:t>Enunciado medible</a:t>
            </a:r>
          </a:p>
        </p:txBody>
      </p:sp>
      <p:sp>
        <p:nvSpPr>
          <p:cNvPr id="12" name="TextBox 11"/>
          <p:cNvSpPr txBox="1"/>
          <p:nvPr/>
        </p:nvSpPr>
        <p:spPr>
          <a:xfrm>
            <a:off x="6420459" y="1901952"/>
            <a:ext cx="5158587" cy="4498848"/>
          </a:xfrm>
          <a:prstGeom prst="rect">
            <a:avLst/>
          </a:prstGeom>
          <a:noFill/>
        </p:spPr>
        <p:txBody>
          <a:bodyPr wrap="square">
            <a:spAutoFit/>
          </a:bodyPr>
          <a:lstStyle/>
          <a:p>
            <a:pPr>
              <a:spcAft>
                <a:spcPts val="800"/>
              </a:spcAft>
            </a:pPr>
            <a:r>
              <a:rPr sz="1500" b="0" i="0">
                <a:solidFill>
                  <a:srgbClr val="333333"/>
                </a:solidFill>
                <a:latin typeface="Calibri"/>
              </a:rPr>
              <a:t>–   </a:t>
            </a:r>
            <a:r>
              <a:rPr sz="1500" b="1" i="0">
                <a:solidFill>
                  <a:srgbClr val="333333"/>
                </a:solidFill>
                <a:latin typeface="Calibri"/>
              </a:rPr>
              <a:t>p95 &lt; 300 ms</a:t>
            </a:r>
            <a:r>
              <a:rPr sz="1500" b="0" i="0">
                <a:solidFill>
                  <a:srgbClr val="333333"/>
                </a:solidFill>
                <a:latin typeface="Calibri"/>
              </a:rPr>
              <a:t> en el endpoint de reserva</a:t>
            </a:r>
          </a:p>
          <a:p>
            <a:pPr>
              <a:spcAft>
                <a:spcPts val="800"/>
              </a:spcAft>
            </a:pPr>
            <a:r>
              <a:rPr sz="1500" b="0" i="0">
                <a:solidFill>
                  <a:srgbClr val="333333"/>
                </a:solidFill>
                <a:latin typeface="Calibri"/>
              </a:rPr>
              <a:t>–   Escenario: </a:t>
            </a:r>
            <a:r>
              <a:rPr sz="1500" b="1" i="0">
                <a:solidFill>
                  <a:srgbClr val="333333"/>
                </a:solidFill>
                <a:latin typeface="Calibri"/>
              </a:rPr>
              <a:t>150 RPS</a:t>
            </a:r>
            <a:r>
              <a:rPr sz="1500" b="0" i="0">
                <a:solidFill>
                  <a:srgbClr val="333333"/>
                </a:solidFill>
                <a:latin typeface="Calibri"/>
              </a:rPr>
              <a:t> en el pico de inicio de semestre</a:t>
            </a:r>
          </a:p>
          <a:p>
            <a:pPr>
              <a:spcAft>
                <a:spcPts val="800"/>
              </a:spcAft>
            </a:pPr>
            <a:r>
              <a:rPr sz="1500" b="0" i="0">
                <a:solidFill>
                  <a:srgbClr val="333333"/>
                </a:solidFill>
                <a:latin typeface="Calibri"/>
              </a:rPr>
              <a:t>–   Bottleneck sospechado: </a:t>
            </a:r>
            <a:r>
              <a:rPr sz="1500" b="1" i="0">
                <a:solidFill>
                  <a:srgbClr val="333333"/>
                </a:solidFill>
                <a:latin typeface="Calibri"/>
              </a:rPr>
              <a:t>consulta a la BD</a:t>
            </a:r>
          </a:p>
          <a:p>
            <a:pPr>
              <a:spcAft>
                <a:spcPts val="800"/>
              </a:spcAft>
            </a:pPr>
            <a:r>
              <a:rPr sz="1500" b="0" i="0">
                <a:solidFill>
                  <a:srgbClr val="333333"/>
                </a:solidFill>
                <a:latin typeface="Calibri"/>
              </a:rPr>
              <a:t>–   Se puede verificar: pasa o no pasa</a:t>
            </a:r>
          </a:p>
        </p:txBody>
      </p:sp>
      <p:sp>
        <p:nvSpPr>
          <p:cNvPr id="13" name="TextBox 12"/>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navegador o free tier · sin cuenta de pago</a:t>
            </a:r>
          </a:p>
        </p:txBody>
      </p:sp>
      <p:sp>
        <p:nvSpPr>
          <p:cNvPr id="6" name="Rounded Rectangle 5"/>
          <p:cNvSpPr/>
          <p:nvPr/>
        </p:nvSpPr>
        <p:spPr>
          <a:xfrm>
            <a:off x="457200"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google_docs.png"/>
          <p:cNvPicPr>
            <a:picLocks noChangeAspect="1"/>
          </p:cNvPicPr>
          <p:nvPr/>
        </p:nvPicPr>
        <p:blipFill>
          <a:blip r:embed="rId2"/>
          <a:stretch>
            <a:fillRect/>
          </a:stretch>
        </p:blipFill>
        <p:spPr>
          <a:xfrm>
            <a:off x="1659331" y="1847087"/>
            <a:ext cx="1220724" cy="1220724"/>
          </a:xfrm>
          <a:prstGeom prst="rect">
            <a:avLst/>
          </a:prstGeom>
        </p:spPr>
      </p:pic>
      <p:sp>
        <p:nvSpPr>
          <p:cNvPr id="10" name="TextBox 9"/>
          <p:cNvSpPr txBox="1"/>
          <p:nvPr/>
        </p:nvSpPr>
        <p:spPr>
          <a:xfrm>
            <a:off x="530352" y="3159251"/>
            <a:ext cx="3478682" cy="621792"/>
          </a:xfrm>
          <a:prstGeom prst="rect">
            <a:avLst/>
          </a:prstGeom>
          <a:noFill/>
        </p:spPr>
        <p:txBody>
          <a:bodyPr wrap="square" anchor="t"/>
          <a:lstStyle/>
          <a:p>
            <a:pPr algn="ctr"/>
            <a:r>
              <a:rPr sz="1300" b="1" i="0">
                <a:solidFill>
                  <a:srgbClr val="095292"/>
                </a:solidFill>
                <a:latin typeface="Calibri"/>
              </a:rPr>
              <a:t>Google Docs</a:t>
            </a:r>
          </a:p>
          <a:p>
            <a:pPr algn="ctr">
              <a:spcBef>
                <a:spcPts val="200"/>
              </a:spcBef>
            </a:pPr>
            <a:r>
              <a:rPr sz="1000" b="0" i="0">
                <a:solidFill>
                  <a:srgbClr val="666666"/>
                </a:solidFill>
                <a:latin typeface="Calibri"/>
              </a:rPr>
              <a:t>Objetivo de rendimiento</a:t>
            </a:r>
          </a:p>
        </p:txBody>
      </p:sp>
      <p:sp>
        <p:nvSpPr>
          <p:cNvPr id="11" name="Rounded Rectangle 10"/>
          <p:cNvSpPr/>
          <p:nvPr/>
        </p:nvSpPr>
        <p:spPr>
          <a:xfrm>
            <a:off x="4283354"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rawio.png"/>
          <p:cNvPicPr>
            <a:picLocks noChangeAspect="1"/>
          </p:cNvPicPr>
          <p:nvPr/>
        </p:nvPicPr>
        <p:blipFill>
          <a:blip r:embed="rId3"/>
          <a:stretch>
            <a:fillRect/>
          </a:stretch>
        </p:blipFill>
        <p:spPr>
          <a:xfrm>
            <a:off x="5485485" y="1847087"/>
            <a:ext cx="1220724" cy="1220724"/>
          </a:xfrm>
          <a:prstGeom prst="rect">
            <a:avLst/>
          </a:prstGeom>
        </p:spPr>
      </p:pic>
      <p:sp>
        <p:nvSpPr>
          <p:cNvPr id="15" name="TextBox 14"/>
          <p:cNvSpPr txBox="1"/>
          <p:nvPr/>
        </p:nvSpPr>
        <p:spPr>
          <a:xfrm>
            <a:off x="4356506" y="3159251"/>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Bottleneck</a:t>
            </a:r>
          </a:p>
        </p:txBody>
      </p:sp>
      <p:sp>
        <p:nvSpPr>
          <p:cNvPr id="16" name="Rounded Rectangle 15"/>
          <p:cNvSpPr/>
          <p:nvPr/>
        </p:nvSpPr>
        <p:spPr>
          <a:xfrm>
            <a:off x="8109508" y="1591056"/>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mermaid.png"/>
          <p:cNvPicPr>
            <a:picLocks noChangeAspect="1"/>
          </p:cNvPicPr>
          <p:nvPr/>
        </p:nvPicPr>
        <p:blipFill>
          <a:blip r:embed="rId4"/>
          <a:stretch>
            <a:fillRect/>
          </a:stretch>
        </p:blipFill>
        <p:spPr>
          <a:xfrm>
            <a:off x="9311640" y="1847087"/>
            <a:ext cx="1220724" cy="1220724"/>
          </a:xfrm>
          <a:prstGeom prst="rect">
            <a:avLst/>
          </a:prstGeom>
        </p:spPr>
      </p:pic>
      <p:sp>
        <p:nvSpPr>
          <p:cNvPr id="20" name="TextBox 19"/>
          <p:cNvSpPr txBox="1"/>
          <p:nvPr/>
        </p:nvSpPr>
        <p:spPr>
          <a:xfrm>
            <a:off x="8182660" y="3159251"/>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Codigo del diagrama</a:t>
            </a:r>
          </a:p>
        </p:txBody>
      </p:sp>
      <p:sp>
        <p:nvSpPr>
          <p:cNvPr id="21" name="Rounded Rectangle 20"/>
          <p:cNvSpPr/>
          <p:nvPr/>
        </p:nvSpPr>
        <p:spPr>
          <a:xfrm>
            <a:off x="4283354" y="4055364"/>
            <a:ext cx="3624986" cy="229971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283354" y="4055364"/>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283354" y="4119372"/>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examlab.png"/>
          <p:cNvPicPr>
            <a:picLocks noChangeAspect="1"/>
          </p:cNvPicPr>
          <p:nvPr/>
        </p:nvPicPr>
        <p:blipFill>
          <a:blip r:embed="rId5"/>
          <a:stretch>
            <a:fillRect/>
          </a:stretch>
        </p:blipFill>
        <p:spPr>
          <a:xfrm>
            <a:off x="5485485" y="4311396"/>
            <a:ext cx="1220724" cy="1220724"/>
          </a:xfrm>
          <a:prstGeom prst="rect">
            <a:avLst/>
          </a:prstGeom>
        </p:spPr>
      </p:pic>
      <p:sp>
        <p:nvSpPr>
          <p:cNvPr id="25" name="TextBox 24"/>
          <p:cNvSpPr txBox="1"/>
          <p:nvPr/>
        </p:nvSpPr>
        <p:spPr>
          <a:xfrm>
            <a:off x="4356506" y="5623560"/>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Donde se entrega</a:t>
            </a:r>
          </a:p>
        </p:txBody>
      </p:sp>
      <p:sp>
        <p:nvSpPr>
          <p:cNvPr id="26" name="TextBox 2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Del boceto a la plataforma del curso (diagrama)</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El diagrama se entrega como código Mermaid dentro de la plataforma del curso, no como imagen</a:t>
            </a:r>
          </a:p>
        </p:txBody>
      </p:sp>
      <p:sp>
        <p:nvSpPr>
          <p:cNvPr id="6" name="Rounded Rectangle 5"/>
          <p:cNvSpPr/>
          <p:nvPr/>
        </p:nvSpPr>
        <p:spPr>
          <a:xfrm>
            <a:off x="457200" y="1659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94360" y="1965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1965960"/>
            <a:ext cx="438912" cy="438912"/>
          </a:xfrm>
          <a:prstGeom prst="rect">
            <a:avLst/>
          </a:prstGeom>
          <a:noFill/>
        </p:spPr>
        <p:txBody>
          <a:bodyPr wrap="square" anchor="ctr"/>
          <a:lstStyle/>
          <a:p>
            <a:pPr algn="ctr"/>
            <a:r>
              <a:rPr sz="1600" b="1" i="0">
                <a:solidFill>
                  <a:srgbClr val="FFFFFF"/>
                </a:solidFill>
                <a:latin typeface="Calibri"/>
              </a:rPr>
              <a:t>1</a:t>
            </a:r>
          </a:p>
        </p:txBody>
      </p:sp>
      <p:sp>
        <p:nvSpPr>
          <p:cNvPr id="9" name="TextBox 8"/>
          <p:cNvSpPr txBox="1"/>
          <p:nvPr/>
        </p:nvSpPr>
        <p:spPr>
          <a:xfrm>
            <a:off x="1188720" y="1751076"/>
            <a:ext cx="10271455" cy="886968"/>
          </a:xfrm>
          <a:prstGeom prst="rect">
            <a:avLst/>
          </a:prstGeom>
          <a:noFill/>
        </p:spPr>
        <p:txBody>
          <a:bodyPr wrap="square" anchor="ctr"/>
          <a:lstStyle/>
          <a:p>
            <a:r>
              <a:rPr sz="1500" b="1" i="0">
                <a:solidFill>
                  <a:srgbClr val="095292"/>
                </a:solidFill>
                <a:latin typeface="Calibri"/>
              </a:rPr>
              <a:t>Disena visual</a:t>
            </a:r>
          </a:p>
          <a:p>
            <a:pPr>
              <a:spcBef>
                <a:spcPts val="200"/>
              </a:spcBef>
            </a:pPr>
            <a:r>
              <a:rPr sz="1300" b="0" i="0">
                <a:solidFill>
                  <a:srgbClr val="333333"/>
                </a:solidFill>
                <a:latin typeface="Calibri"/>
              </a:rPr>
              <a:t>Dibuja el diagrama como quieras en Excalidraw o draw.io: es mas rapido arrastrar cajas que escribir codigo, y ahi es donde piensas el modelo.</a:t>
            </a:r>
          </a:p>
        </p:txBody>
      </p:sp>
      <p:sp>
        <p:nvSpPr>
          <p:cNvPr id="10" name="Rounded Rectangle 9"/>
          <p:cNvSpPr/>
          <p:nvPr/>
        </p:nvSpPr>
        <p:spPr>
          <a:xfrm>
            <a:off x="457200" y="2802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94360" y="3108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94360" y="3108960"/>
            <a:ext cx="438912" cy="438912"/>
          </a:xfrm>
          <a:prstGeom prst="rect">
            <a:avLst/>
          </a:prstGeom>
          <a:noFill/>
        </p:spPr>
        <p:txBody>
          <a:bodyPr wrap="square" anchor="ctr"/>
          <a:lstStyle/>
          <a:p>
            <a:pPr algn="ctr"/>
            <a:r>
              <a:rPr sz="1600" b="1" i="0">
                <a:solidFill>
                  <a:srgbClr val="FFFFFF"/>
                </a:solidFill>
                <a:latin typeface="Calibri"/>
              </a:rPr>
              <a:t>2</a:t>
            </a:r>
          </a:p>
        </p:txBody>
      </p:sp>
      <p:sp>
        <p:nvSpPr>
          <p:cNvPr id="13" name="TextBox 12"/>
          <p:cNvSpPr txBox="1"/>
          <p:nvPr/>
        </p:nvSpPr>
        <p:spPr>
          <a:xfrm>
            <a:off x="1188720" y="2894076"/>
            <a:ext cx="10271455" cy="886968"/>
          </a:xfrm>
          <a:prstGeom prst="rect">
            <a:avLst/>
          </a:prstGeom>
          <a:noFill/>
        </p:spPr>
        <p:txBody>
          <a:bodyPr wrap="square" anchor="ctr"/>
          <a:lstStyle/>
          <a:p>
            <a:r>
              <a:rPr sz="1500" b="1" i="0">
                <a:solidFill>
                  <a:srgbClr val="095292"/>
                </a:solidFill>
                <a:latin typeface="Calibri"/>
              </a:rPr>
              <a:t>Traduce con IA</a:t>
            </a:r>
          </a:p>
          <a:p>
            <a:pPr>
              <a:spcBef>
                <a:spcPts val="200"/>
              </a:spcBef>
            </a:pPr>
            <a:r>
              <a:rPr sz="1300" b="0" i="0">
                <a:solidFill>
                  <a:srgbClr val="333333"/>
                </a:solidFill>
                <a:latin typeface="Calibri"/>
              </a:rPr>
              <a:t>Copia o describe tu boceto a una IA y pidele el codigo Mermaid: «convierte este diagrama a Mermaid usando sequenceDiagram». Revisa el resultado: la IA acierta la sintaxis, no tu modelo.</a:t>
            </a:r>
          </a:p>
        </p:txBody>
      </p:sp>
      <p:sp>
        <p:nvSpPr>
          <p:cNvPr id="14" name="Rounded Rectangle 13"/>
          <p:cNvSpPr/>
          <p:nvPr/>
        </p:nvSpPr>
        <p:spPr>
          <a:xfrm>
            <a:off x="457200" y="3945636"/>
            <a:ext cx="11277295" cy="105156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4251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4251960"/>
            <a:ext cx="438912" cy="438912"/>
          </a:xfrm>
          <a:prstGeom prst="rect">
            <a:avLst/>
          </a:prstGeom>
          <a:noFill/>
        </p:spPr>
        <p:txBody>
          <a:bodyPr wrap="square" anchor="ctr"/>
          <a:lstStyle/>
          <a:p>
            <a:pPr algn="ctr"/>
            <a:r>
              <a:rPr sz="1600" b="1" i="0">
                <a:solidFill>
                  <a:srgbClr val="FFFFFF"/>
                </a:solidFill>
                <a:latin typeface="Calibri"/>
              </a:rPr>
              <a:t>3</a:t>
            </a:r>
          </a:p>
        </p:txBody>
      </p:sp>
      <p:sp>
        <p:nvSpPr>
          <p:cNvPr id="17" name="TextBox 16"/>
          <p:cNvSpPr txBox="1"/>
          <p:nvPr/>
        </p:nvSpPr>
        <p:spPr>
          <a:xfrm>
            <a:off x="1188720" y="4037076"/>
            <a:ext cx="10271455" cy="886968"/>
          </a:xfrm>
          <a:prstGeom prst="rect">
            <a:avLst/>
          </a:prstGeom>
          <a:noFill/>
        </p:spPr>
        <p:txBody>
          <a:bodyPr wrap="square" anchor="ctr"/>
          <a:lstStyle/>
          <a:p>
            <a:r>
              <a:rPr sz="1500" b="1" i="0">
                <a:solidFill>
                  <a:srgbClr val="095292"/>
                </a:solidFill>
                <a:latin typeface="Calibri"/>
              </a:rPr>
              <a:t>Pega y renderiza en la plataforma del curso</a:t>
            </a:r>
          </a:p>
          <a:p>
            <a:pPr>
              <a:spcBef>
                <a:spcPts val="200"/>
              </a:spcBef>
            </a:pPr>
            <a:r>
              <a:rPr sz="1300" b="0" i="0">
                <a:solidFill>
                  <a:srgbClr val="333333"/>
                </a:solidFill>
                <a:latin typeface="Calibri"/>
              </a:rPr>
              <a:t>Pega ese codigo en la caja de texto de la pregunta y mira como lo dibuja la plataforma. Si no renderiza, corrige ahi mismo: lo que se califica es el diagrama renderizado dentro de la plataforma del curso.</a:t>
            </a:r>
          </a:p>
        </p:txBody>
      </p:sp>
      <p:sp>
        <p:nvSpPr>
          <p:cNvPr id="18" name="Rounded Rectangle 17"/>
          <p:cNvSpPr/>
          <p:nvPr/>
        </p:nvSpPr>
        <p:spPr>
          <a:xfrm>
            <a:off x="457200" y="5088636"/>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94360" y="539496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539496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1" name="TextBox 20"/>
          <p:cNvSpPr txBox="1"/>
          <p:nvPr/>
        </p:nvSpPr>
        <p:spPr>
          <a:xfrm>
            <a:off x="1188720" y="5180076"/>
            <a:ext cx="10271455" cy="886968"/>
          </a:xfrm>
          <a:prstGeom prst="rect">
            <a:avLst/>
          </a:prstGeom>
          <a:noFill/>
        </p:spPr>
        <p:txBody>
          <a:bodyPr wrap="square" anchor="ctr"/>
          <a:lstStyle/>
          <a:p>
            <a:r>
              <a:rPr sz="1500" b="1" i="0">
                <a:solidFill>
                  <a:srgbClr val="095292"/>
                </a:solidFill>
                <a:latin typeface="Calibri"/>
              </a:rPr>
              <a:t>Guarda el PNG para tu PI</a:t>
            </a:r>
          </a:p>
          <a:p>
            <a:pPr>
              <a:spcBef>
                <a:spcPts val="200"/>
              </a:spcBef>
            </a:pPr>
            <a:r>
              <a:rPr sz="1300" b="0" i="0">
                <a:solidFill>
                  <a:srgbClr val="333333"/>
                </a:solidFill>
                <a:latin typeface="Calibri"/>
              </a:rPr>
              <a:t>Exporta tambien la imagen a la carpeta de tu Proyecto Integrador. Esa copia es para tu informe; no reemplaza la respuesta en la plataforma.</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(paso a paso)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1600" b="1" i="0">
                <a:solidFill>
                  <a:srgbClr val="333333"/>
                </a:solidFill>
                <a:latin typeface="Calibri"/>
              </a:rPr>
              <a:t>1.</a:t>
            </a:r>
            <a:r>
              <a:rPr sz="1600" b="0" i="0">
                <a:solidFill>
                  <a:srgbClr val="333333"/>
                </a:solidFill>
                <a:latin typeface="Calibri"/>
              </a:rPr>
              <a:t> Paso 1: describan el escenario de carga del pico real de su dominio con los 6 datos obligatorios (evento del pico, usuarios concurrentes, peticiones por segundo, mezcla de operaciones en porcentajes que sumen 100, duracion de la ventana y volumen de datos de partida), verificando que la mezcla sume exactamente 100 por ciento y que el pico corresponda a una fecha real del calendario de su dominio.</a:t>
            </a:r>
          </a:p>
          <a:p>
            <a:pPr>
              <a:spcAft>
                <a:spcPts val="800"/>
              </a:spcAft>
            </a:pPr>
            <a:r>
              <a:rPr sz="1600" b="0" i="0">
                <a:solidFill>
                  <a:srgbClr val="333333"/>
                </a:solidFill>
                <a:latin typeface="Calibri"/>
              </a:rPr>
              <a:t>–   </a:t>
            </a:r>
            <a:r>
              <a:rPr sz="1600" b="1" i="0">
                <a:solidFill>
                  <a:srgbClr val="333333"/>
                </a:solidFill>
                <a:latin typeface="Calibri"/>
              </a:rPr>
              <a:t>2.</a:t>
            </a:r>
            <a:r>
              <a:rPr sz="1600" b="0" i="0">
                <a:solidFill>
                  <a:srgbClr val="333333"/>
                </a:solidFill>
                <a:latin typeface="Calibri"/>
              </a:rPr>
              <a:t> Paso 2: definan las 3 metricas objetivo en una tabla de 4 columnas con numero, ventana de medicion, forma de medirla y consecuencia de incumplirla, verificando que cada objetivo tenga un numero y una ventana (por ejemplo p95 por debajo de 800 ms en 5 minutos) y que ninguna diga rapido o aceptable sin cifra.</a:t>
            </a:r>
          </a:p>
          <a:p>
            <a:pPr>
              <a:spcAft>
                <a:spcPts val="800"/>
              </a:spcAft>
            </a:pPr>
            <a:r>
              <a:rPr sz="1600" b="0" i="0">
                <a:solidFill>
                  <a:srgbClr val="333333"/>
                </a:solidFill>
                <a:latin typeface="Calibri"/>
              </a:rPr>
              <a:t>–   </a:t>
            </a:r>
            <a:r>
              <a:rPr sz="1600" b="1" i="0">
                <a:solidFill>
                  <a:srgbClr val="333333"/>
                </a:solidFill>
                <a:latin typeface="Calibri"/>
              </a:rPr>
              <a:t>3.</a:t>
            </a:r>
            <a:r>
              <a:rPr sz="1600" b="0" i="0">
                <a:solidFill>
                  <a:srgbClr val="333333"/>
                </a:solidFill>
                <a:latin typeface="Calibri"/>
              </a:rPr>
              <a:t> Paso 3: escriban en la plataforma del curso el sequenceDiagram del camino critico con el presupuesto de latencia repartido por salto, verificando que la suma de los tramos sea menor o igual al objetivo de p95 y que la nota final muestre el margen restante en milisegundos.</a:t>
            </a:r>
          </a:p>
          <a:p>
            <a:pPr>
              <a:spcAft>
                <a:spcPts val="800"/>
              </a:spcAft>
            </a:pPr>
            <a:r>
              <a:rPr sz="1600" b="0" i="0">
                <a:solidFill>
                  <a:srgbClr val="333333"/>
                </a:solidFill>
                <a:latin typeface="Calibri"/>
              </a:rPr>
              <a:t>–   </a:t>
            </a:r>
            <a:r>
              <a:rPr sz="1600" b="1" i="0">
                <a:solidFill>
                  <a:srgbClr val="333333"/>
                </a:solidFill>
                <a:latin typeface="Calibri"/>
              </a:rPr>
              <a:t>4.</a:t>
            </a:r>
            <a:r>
              <a:rPr sz="1600" b="0" i="0">
                <a:solidFill>
                  <a:srgbClr val="333333"/>
                </a:solidFill>
                <a:latin typeface="Calibri"/>
              </a:rPr>
              <a:t> Paso 4: ensayen el pitch de 5 a 8 minutos con cronometro y llenen la tabla de guion de 6 filas con minuto, seccion, quien habla, mensaje clave y evidencia en pantalla, verificando que la suma de los minutos quede entre 5 y 8, que ninguna seccion pase de 2:00 (y, si el docente autorizo equipo, que todos los integrantes hablen) y que cada seccion tenga una evidencia concreta que se pueda mostrar.</a:t>
            </a:r>
          </a:p>
          <a:p>
            <a:pPr>
              <a:spcAft>
                <a:spcPts val="800"/>
              </a:spcAft>
            </a:pPr>
            <a:r>
              <a:rPr sz="1600" b="0" i="0">
                <a:solidFill>
                  <a:srgbClr val="333333"/>
                </a:solidFill>
                <a:latin typeface="Calibri"/>
              </a:rPr>
              <a:t>–   </a:t>
            </a:r>
            <a:r>
              <a:rPr sz="1600" b="1" i="0">
                <a:solidFill>
                  <a:srgbClr val="333333"/>
                </a:solidFill>
                <a:latin typeface="Calibri"/>
              </a:rPr>
              <a:t>5.</a:t>
            </a:r>
            <a:r>
              <a:rPr sz="1600" b="0" i="0">
                <a:solidFill>
                  <a:srgbClr val="333333"/>
                </a:solidFill>
                <a:latin typeface="Calibri"/>
              </a:rPr>
              <a:t> Paso 5: cierren los 5 items del backlog de la Clase 11 dejando registro de los residuales, dejen el paquete casi final ordenado en el repositorio o el Drive y suban las 6 preguntas a la plataforma del curso (modulo Talleres) antes del en la fecha que indique el docente, verificando que el cuello de botella declarado en el analisis sea el mismo que muestra el diagrama de secuencia.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continuar (PI)</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Entregable: Sección Rendimiento + guion de pitch + paquete casi-final</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Subir evidencias al paquete CloudLite (Drive/repo) y a la plataforma del curso en la fecha que indique el docente.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Sin cloud de pago ni instalaciones obligatorias de hipervisores/Docker Desktop.</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PI en movimiento</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Escenario de rendimiento + ensayo 5–8 min de sustentación</a:t>
            </a:r>
          </a:p>
          <a:p>
            <a:pPr algn="ctr">
              <a:spcAft>
                <a:spcPts val="600"/>
              </a:spcAft>
            </a:pPr>
            <a:r>
              <a:rPr sz="1600" b="0" i="0">
                <a:solidFill>
                  <a:srgbClr val="333333"/>
                </a:solidFill>
                <a:latin typeface="Calibri"/>
              </a:rPr>
              <a:t>Evidencia: Sección Rendimiento + guion de pitch + paquete casi-final</a:t>
            </a:r>
          </a:p>
          <a:p>
            <a:pPr algn="ctr">
              <a:spcAft>
                <a:spcPts val="600"/>
              </a:spcAft>
            </a:pPr>
            <a:r>
              <a:rPr sz="1600" b="0" i="0">
                <a:solidFill>
                  <a:srgbClr val="333333"/>
                </a:solidFill>
                <a:latin typeface="Calibri"/>
              </a:rPr>
              <a:t>Siguiente paso = siguiente hito del PI CloudLite</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Teoría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