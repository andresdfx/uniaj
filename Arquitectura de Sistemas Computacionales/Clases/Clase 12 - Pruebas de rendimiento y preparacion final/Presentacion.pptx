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12</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Pruebas de rendimiento · Preparación de presentación final</a:t>
            </a:r>
          </a:p>
          <a:p>
            <a:pPr algn="ctr">
              <a:spcBef>
                <a:spcPts val="800"/>
              </a:spcBef>
            </a:pPr>
            <a:r>
              <a:rPr sz="1500" b="0" i="0">
                <a:solidFill>
                  <a:srgbClr val="269CCB"/>
                </a:solidFill>
                <a:latin typeface="Calibri"/>
              </a:rPr>
              <a:t>Métricas objetivo + ensayo de pitch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Escenario de rendimiento + ensayo 5–8 min de sustentación</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métricas/objetivos de rendimiento realistas para CloudLite.</a:t>
            </a:r>
          </a:p>
          <a:p>
            <a:pPr>
              <a:spcAft>
                <a:spcPts val="800"/>
              </a:spcAft>
            </a:pPr>
            <a:r>
              <a:rPr sz="2000" b="0" i="0">
                <a:solidFill>
                  <a:srgbClr val="333333"/>
                </a:solidFill>
                <a:latin typeface="Calibri"/>
              </a:rPr>
              <a:t>–   Diseñar un escenario de prueba (aunque sea cualitativo/simulado).</a:t>
            </a:r>
          </a:p>
          <a:p>
            <a:pPr>
              <a:spcAft>
                <a:spcPts val="800"/>
              </a:spcAft>
            </a:pPr>
            <a:r>
              <a:rPr sz="2000" b="0" i="0">
                <a:solidFill>
                  <a:srgbClr val="333333"/>
                </a:solidFill>
                <a:latin typeface="Calibri"/>
              </a:rPr>
              <a:t>–   Ensayar el pitch de sustentación (prep PI; Parcial 3 es otro día).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Rendimiento sin stress-tool de pago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Definan: RPS/usuarios concurrentes objetivo · p95 latencia · error rate.</a:t>
            </a:r>
          </a:p>
          <a:p>
            <a:pPr>
              <a:spcAft>
                <a:spcPts val="800"/>
              </a:spcAft>
            </a:pPr>
            <a:r>
              <a:rPr sz="2000" b="0" i="0">
                <a:solidFill>
                  <a:srgbClr val="333333"/>
                </a:solidFill>
                <a:latin typeface="Calibri"/>
              </a:rPr>
              <a:t>–   Escenario: pico de matrícula / hora pico de citas — narren carga.</a:t>
            </a:r>
          </a:p>
          <a:p>
            <a:pPr>
              <a:spcAft>
                <a:spcPts val="800"/>
              </a:spcAft>
            </a:pPr>
            <a:r>
              <a:rPr sz="2000" b="0" i="0">
                <a:solidFill>
                  <a:srgbClr val="333333"/>
                </a:solidFill>
                <a:latin typeface="Calibri"/>
              </a:rPr>
              <a:t>–   Bottlenecks probables: DB, auth, I/O de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Preparación de presentación (5–8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1 min problema · 2 min arquitectura · 1 min contenedor · 1 min CI · 1 min seguridad/costos · Q&amp;A.</a:t>
            </a:r>
          </a:p>
          <a:p>
            <a:pPr>
              <a:spcAft>
                <a:spcPts val="800"/>
              </a:spcAft>
            </a:pPr>
            <a:r>
              <a:rPr sz="2000" b="0" i="0">
                <a:solidFill>
                  <a:srgbClr val="333333"/>
                </a:solidFill>
                <a:latin typeface="Calibri"/>
              </a:rPr>
              <a:t>–   Demo: diagrama + captura lab/Actions (no improvisar login cloud).</a:t>
            </a:r>
          </a:p>
          <a:p>
            <a:pPr>
              <a:spcAft>
                <a:spcPts val="800"/>
              </a:spcAft>
            </a:pPr>
            <a:r>
              <a:rPr sz="2000" b="0" i="0">
                <a:solidFill>
                  <a:srgbClr val="333333"/>
                </a:solidFill>
                <a:latin typeface="Calibri"/>
              </a:rPr>
              <a:t>–   Sustentas tú los 5 bloques; si hay equipo autorizado, hablan todos.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Paquete de entrega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Informe + diagramas + Dockerfile + YAML + capturas.</a:t>
            </a:r>
          </a:p>
          <a:p>
            <a:pPr>
              <a:spcAft>
                <a:spcPts val="800"/>
              </a:spcAft>
            </a:pPr>
            <a:r>
              <a:rPr sz="2000" b="0" i="0">
                <a:solidFill>
                  <a:srgbClr val="333333"/>
                </a:solidFill>
                <a:latin typeface="Calibri"/>
              </a:rPr>
              <a:t>–   Fecha/canal: coordinación del periodo.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Latencia, throughput y concurrencia: la identidad que las une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Rendimiento es la unica parte del curso donde el estudiante puede pasar de opinar a medir, y por eso conviene empezar por el vocabulario exacto.</a:t>
            </a:r>
          </a:p>
          <a:p>
            <a:pPr>
              <a:spcAft>
                <a:spcPts val="800"/>
              </a:spcAft>
            </a:pPr>
            <a:r>
              <a:rPr sz="2000" b="0" i="0">
                <a:solidFill>
                  <a:srgbClr val="333333"/>
                </a:solidFill>
                <a:latin typeface="Calibri"/>
              </a:rPr>
              <a:t>–   La latencia, o tiempo de respuesta, es cuanto tarda UNA peticion desde que sale del cliente hasta que llega la respuesta completa; se mide en milisegundos y es lo que siente el usuario.</a:t>
            </a:r>
          </a:p>
          <a:p>
            <a:pPr>
              <a:spcAft>
                <a:spcPts val="800"/>
              </a:spcAft>
            </a:pPr>
            <a:r>
              <a:rPr sz="2000" b="0" i="0">
                <a:solidFill>
                  <a:srgbClr val="333333"/>
                </a:solidFill>
                <a:latin typeface="Calibri"/>
              </a:rPr>
              <a:t>–   El throughput, o caudal, es cuantas peticiones atiende el sistema por unidad de tiempo; se mide en peticiones por segundo, abreviado RPS, y es lo que importa para la capacidad.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Latencia, throughput y concurrencia: la identidad que las une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se mueven juntas: un sistema puede atender 500 RPS con latencia terrible porque todo espera en cola, y otro puede tener latencia excelente con 3 RPS porque nadie lo usa.</a:t>
            </a:r>
          </a:p>
          <a:p>
            <a:pPr>
              <a:spcAft>
                <a:spcPts val="800"/>
              </a:spcAft>
            </a:pPr>
            <a:r>
              <a:rPr sz="2000" b="0" i="0">
                <a:solidFill>
                  <a:srgbClr val="333333"/>
                </a:solidFill>
                <a:latin typeface="Calibri"/>
              </a:rPr>
              <a:t>–   Si CloudLite atiende 5 RPS con 300 milisegundos, hay en promedio 1.5 peticiones simultaneas dentro del sistema, y ese numero decide cuantos hilos, cuantas conexiones a base de datos y cuantas instancias se necesitan.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del tema es entender por que el promedio miente y el percentil no.</a:t>
            </a:r>
          </a:p>
          <a:p>
            <a:pPr>
              <a:spcAft>
                <a:spcPts val="800"/>
              </a:spcAft>
            </a:pPr>
            <a:r>
              <a:rPr sz="2000" b="0" i="0">
                <a:solidFill>
                  <a:srgbClr val="333333"/>
                </a:solidFill>
                <a:latin typeface="Calibri"/>
              </a:rPr>
              <a:t>–   Un percentil es el valor por debajo del cual cae un porcentaje dado de las observaciones ordenadas de menor a mayor: el p95 del tiempo de respuesta es el tiempo tal que el 95 por ciento de las peticiones respondieron en ese tiempo o menos, y el 5 por ciento restante tardo mas.</a:t>
            </a:r>
          </a:p>
          <a:p>
            <a:pPr>
              <a:spcAft>
                <a:spcPts val="800"/>
              </a:spcAft>
            </a:pPr>
            <a:r>
              <a:rPr sz="2000" b="0" i="0">
                <a:solidFill>
                  <a:srgbClr val="333333"/>
                </a:solidFill>
                <a:latin typeface="Calibri"/>
              </a:rPr>
              <a:t>–   El ejemplo numerico es obligatorio porque convence de inmediato.</a:t>
            </a:r>
          </a:p>
          <a:p>
            <a:pPr>
              <a:spcAft>
                <a:spcPts val="800"/>
              </a:spcAft>
            </a:pPr>
            <a:r>
              <a:rPr sz="2000" b="0" i="0">
                <a:solidFill>
                  <a:srgbClr val="333333"/>
                </a:solidFill>
                <a:latin typeface="Calibri"/>
              </a:rPr>
              <a:t>–   Suponga 100 peticiones a CloudLite: 95 responden en 120 milisegundos y 5 responden en 4000 porque cayeron en una consulta sin indice.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promedio es 314 milisegundos, una cifra que suena aceptable y que no le paso a nadie: ninguna peticion real tardo 314 milisegundos.</a:t>
            </a:r>
          </a:p>
          <a:p>
            <a:pPr>
              <a:spcAft>
                <a:spcPts val="800"/>
              </a:spcAft>
            </a:pPr>
            <a:r>
              <a:rPr sz="2000" b="0" i="0">
                <a:solidFill>
                  <a:srgbClr val="333333"/>
                </a:solidFill>
                <a:latin typeface="Calibri"/>
              </a:rPr>
              <a:t>–   El p50, o mediana, es 120; el p99 es 4000.</a:t>
            </a:r>
          </a:p>
          <a:p>
            <a:pPr>
              <a:spcAft>
                <a:spcPts val="800"/>
              </a:spcAft>
            </a:pPr>
            <a:r>
              <a:rPr sz="2000" b="0" i="0">
                <a:solidFill>
                  <a:srgbClr val="333333"/>
                </a:solidFill>
                <a:latin typeface="Calibri"/>
              </a:rPr>
              <a:t>–   Reportar el promedio esconde a cinco usuarios de cada cien esperando cuatro segundos; reportar p95 y p99 los hace visibles.</a:t>
            </a:r>
          </a:p>
          <a:p>
            <a:pPr>
              <a:spcAft>
                <a:spcPts val="800"/>
              </a:spcAft>
            </a:pPr>
            <a:r>
              <a:rPr sz="2000" b="0" i="0">
                <a:solidFill>
                  <a:srgbClr val="333333"/>
                </a:solidFill>
                <a:latin typeface="Calibri"/>
              </a:rPr>
              <a:t>–   Un objetivo sin condicion de carga no significa nada: cualquier sistema es rapido sin usuarios.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debajo de unos 100 milisegundos la respuesta se percibe instantanea; hasta cerca de 1 segundo el usuario mantiene el hilo aunque note la demora; pasados unos 10 segundos pierde la atencion y cambia de tarea o recarga.</a:t>
            </a:r>
          </a:p>
          <a:p>
            <a:pPr>
              <a:spcAft>
                <a:spcPts val="800"/>
              </a:spcAft>
            </a:pPr>
            <a:r>
              <a:rPr sz="2000" b="0" i="0">
                <a:solidFill>
                  <a:srgbClr val="333333"/>
                </a:solidFill>
                <a:latin typeface="Calibri"/>
              </a:rPr>
              <a:t>–   Ninguna es regla dura: un reporte pesado puede tener un objetivo legitimo de 3 segundos y un autocompletado necesita estar bajo 100.</a:t>
            </a:r>
          </a:p>
          <a:p>
            <a:pPr>
              <a:spcAft>
                <a:spcPts val="800"/>
              </a:spcAft>
            </a:pPr>
            <a:r>
              <a:rPr sz="2000" b="0" i="0">
                <a:solidFill>
                  <a:srgbClr val="333333"/>
                </a:solidFill>
                <a:latin typeface="Calibri"/>
              </a:rPr>
              <a:t>–   Junto al tiempo va siempre la tasa de error, el porcentaje de peticiones que fallan, porque un sistema que responde rapido devolviendo errores no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aparecen tres siglas: el SLI es el indicador que se mide, el SLO es el objetivo interno que el equipo se compromete a cumplir y el SLA es el compromiso contractual con penalidad.</a:t>
            </a:r>
          </a:p>
          <a:p>
            <a:pPr>
              <a:spcAft>
                <a:spcPts val="800"/>
              </a:spcAft>
            </a:pPr>
            <a:r>
              <a:rPr sz="2000" b="0" i="0">
                <a:solidFill>
                  <a:srgbClr val="333333"/>
                </a:solidFill>
                <a:latin typeface="Calibri"/>
              </a:rPr>
              <a:t>–   Un SLO de 99.9 por ciento de disponibilidad, los "tres nueves", admite unos 43 minutos de caida al mes; el 99.99 baja a poco mas de 4 minutos</a:t>
            </a:r>
          </a:p>
          <a:p>
            <a:pPr>
              <a:spcAft>
                <a:spcPts val="800"/>
              </a:spcAft>
            </a:pPr>
            <a:r>
              <a:rPr sz="2000" b="0" i="0">
                <a:solidFill>
                  <a:srgbClr val="333333"/>
                </a:solidFill>
                <a:latin typeface="Calibri"/>
              </a:rPr>
              <a:t>–   Y esa diferencia de un decimal suele multiplicar el costo de la arquitectura, lo que amarra con la tabla de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escenario de carga: aritmetica de servilleta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componente del entregable es el escenario de carga, y el estudiante casi siempre lo inventa exagerado.</a:t>
            </a:r>
          </a:p>
          <a:p>
            <a:pPr>
              <a:spcAft>
                <a:spcPts val="800"/>
              </a:spcAft>
            </a:pPr>
            <a:r>
              <a:rPr sz="2000" b="0" i="0">
                <a:solidFill>
                  <a:srgbClr val="333333"/>
                </a:solidFill>
                <a:latin typeface="Calibri"/>
              </a:rPr>
              <a:t>–   Suponga 1000 usuarios activos al dia, cada uno con unas 20 peticiones en su sesion: son 20000 peticiones diarias.</a:t>
            </a:r>
          </a:p>
          <a:p>
            <a:pPr>
              <a:spcAft>
                <a:spcPts val="800"/>
              </a:spcAft>
            </a:pPr>
            <a:r>
              <a:rPr sz="2000" b="0" i="0">
                <a:solidFill>
                  <a:srgbClr val="333333"/>
                </a:solidFill>
                <a:latin typeface="Calibri"/>
              </a:rPr>
              <a:t>–   Si un 40 por ciento cae en una ventana de dos horas, eso es 8000 peticiones en 7200 segundos, algo mas de 1 RPS promedio en la hora pico.</a:t>
            </a:r>
          </a:p>
          <a:p>
            <a:pPr>
              <a:spcAft>
                <a:spcPts val="800"/>
              </a:spcAft>
            </a:pPr>
            <a:r>
              <a:rPr sz="2000" b="0" i="0">
                <a:solidFill>
                  <a:srgbClr val="333333"/>
                </a:solidFill>
                <a:latin typeface="Calibri"/>
              </a:rPr>
              <a:t>–   Como el trafico real llega en rafagas, se aplica un factor de pico de 3 a 5 veces y se dimensiona para unos 5 RPS.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escenario de carga: aritmetica de servilleta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numero es el que debe aparecer en el informe, y es un orden de magnitud tres mil veces menor que los "10000 RPS" que algun estudiante escribira por sonar ambicioso.</a:t>
            </a:r>
          </a:p>
          <a:p>
            <a:pPr>
              <a:spcAft>
                <a:spcPts val="800"/>
              </a:spcAft>
            </a:pPr>
            <a:r>
              <a:rPr sz="2000" b="0" i="0">
                <a:solidFill>
                  <a:srgbClr val="333333"/>
                </a:solidFill>
                <a:latin typeface="Calibri"/>
              </a:rPr>
              <a:t>–   La leccion es doble: un objetivo de rendimiento sin cuenta de sobre es marketing y no ingenieria, y dimensionar para 5 RPS en vez de 10000 es justamente lo que evita el sobreaprovisionamiento que la Clase 10 senalo como desperdicio.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 componente es el bottleneck, o cuello de botella: el componente que se agota primero y limita el rendimiento de todo el sistema.</a:t>
            </a:r>
          </a:p>
          <a:p>
            <a:pPr>
              <a:spcAft>
                <a:spcPts val="800"/>
              </a:spcAft>
            </a:pPr>
            <a:r>
              <a:rPr sz="2000" b="0" i="0">
                <a:solidFill>
                  <a:srgbClr val="333333"/>
                </a:solidFill>
                <a:latin typeface="Calibri"/>
              </a:rPr>
              <a:t>–   La afirmacion fuerte, que conviene decir tal cual, es que en cualquier instante hay exactamente un cuello de botella; "todo esta lento" nunca es un diagnostico, es la ausencia de uno.</a:t>
            </a:r>
          </a:p>
          <a:p>
            <a:pPr>
              <a:spcAft>
                <a:spcPts val="800"/>
              </a:spcAft>
            </a:pPr>
            <a:r>
              <a:rPr sz="2000" b="0" i="0">
                <a:solidFill>
                  <a:srgbClr val="333333"/>
                </a:solidFill>
                <a:latin typeface="Calibri"/>
              </a:rPr>
              <a:t>–   Se localiza con las senales doradas de la Clase 8, en particular la saturacion, mirando cual recurso esta cerca de su limite mientras los demas estan holgados.</a:t>
            </a:r>
          </a:p>
          <a:p>
            <a:pPr>
              <a:spcAft>
                <a:spcPts val="800"/>
              </a:spcAft>
            </a:pPr>
            <a:r>
              <a:rPr sz="2000" b="0" i="0">
                <a:solidFill>
                  <a:srgbClr val="333333"/>
                </a:solidFill>
                <a:latin typeface="Calibri"/>
              </a:rPr>
              <a:t>–   En CloudLite los candidatos son pocos y reconocibles.</a:t>
            </a:r>
          </a:p>
          <a:p>
            <a:pPr>
              <a:spcAft>
                <a:spcPts val="800"/>
              </a:spcAft>
            </a:pPr>
            <a:r>
              <a:rPr sz="2000" b="0" i="0">
                <a:solidFill>
                  <a:srgbClr val="333333"/>
                </a:solidFill>
                <a:latin typeface="Calibri"/>
              </a:rPr>
              <a:t>–   El primero es el problema N mas 1 en el endpoint de listado: la API pide la lista con una consulta y luego, dentro del ciclo, hace una consulta adicional por cada registro para traer un dato relacionado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50 registros son 51 viajes a la base de datos y el tiempo se va en latencia de red acumulada, no en CPU.</a:t>
            </a:r>
          </a:p>
          <a:p>
            <a:pPr>
              <a:spcAft>
                <a:spcPts val="800"/>
              </a:spcAft>
            </a:pPr>
            <a:r>
              <a:rPr sz="2000" b="0" i="0">
                <a:solidFill>
                  <a:srgbClr val="333333"/>
                </a:solidFill>
                <a:latin typeface="Calibri"/>
              </a:rPr>
              <a:t>–   El segundo es el pool de conexiones: si el pool tiene 10 conexiones y llegan 40 peticiones concurrentes, 30 esperan turno y la latencia se dispara aunque la CPU de la API y la de la base de datos esten al 20 por ciento.</a:t>
            </a:r>
          </a:p>
          <a:p>
            <a:pPr>
              <a:spcAft>
                <a:spcPts val="800"/>
              </a:spcAft>
            </a:pPr>
            <a:r>
              <a:rPr sz="2000" b="0" i="0">
                <a:solidFill>
                  <a:srgbClr val="333333"/>
                </a:solidFill>
                <a:latin typeface="Calibri"/>
              </a:rPr>
              <a:t>–   El tercero, si CloudLite envia notificaciones de forma sincronica dentro de la peticion, es el proveedor externo: el usuario espera a que un tercero responda, y la mitigacion no es mas CPU sino sacar el envio de la ruta critica hacia una cola.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prueba de estres sube la carga de forma progresiva hasta que el sistema se degrada o se rompe</a:t>
            </a:r>
          </a:p>
          <a:p>
            <a:pPr>
              <a:spcAft>
                <a:spcPts val="800"/>
              </a:spcAft>
            </a:pPr>
            <a:r>
              <a:rPr sz="2000" b="0" i="0">
                <a:solidFill>
                  <a:srgbClr val="333333"/>
                </a:solidFill>
                <a:latin typeface="Calibri"/>
              </a:rPr>
              <a:t>–   Y responde cual es la capacidad maxima y como se comporta al fallar; el dato interesante no es el punto de quiebre sino la forma de la falla, porque degradarse respondiendo lento es aceptable y caerse por completo no.</a:t>
            </a:r>
          </a:p>
          <a:p>
            <a:pPr>
              <a:spcAft>
                <a:spcPts val="800"/>
              </a:spcAft>
            </a:pPr>
            <a:r>
              <a:rPr sz="2000" b="0" i="0">
                <a:solidFill>
                  <a:srgbClr val="333333"/>
                </a:solidFill>
                <a:latin typeface="Calibri"/>
              </a:rPr>
              <a:t>–   La prueba de picos, o spike test, aplica una subida subita y grande simulando una promocion o una noticia viral</a:t>
            </a:r>
          </a:p>
          <a:p>
            <a:pPr>
              <a:spcAft>
                <a:spcPts val="800"/>
              </a:spcAft>
            </a:pPr>
            <a:r>
              <a:rPr sz="2000" b="0" i="0">
                <a:solidFill>
                  <a:srgbClr val="333333"/>
                </a:solidFill>
                <a:latin typeface="Calibri"/>
              </a:rPr>
              <a:t>–   Y responde si el sistema reacciona a tiempo; anticipa el limite del autoescalado de la Clase 13, porque arrancar una instancia toma decenas de segundos y un pico mas rapido golpea antes de que llegue la ayuda.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prueba de resistencia, o soak, mantiene carga moderada durante horas y responde si hay fugas de memoria o conexiones que no se liberan; con menos de una hora no se detecta nada y de 2 a 4 horas es lo tipico.</a:t>
            </a:r>
          </a:p>
          <a:p>
            <a:pPr>
              <a:spcAft>
                <a:spcPts val="800"/>
              </a:spcAft>
            </a:pPr>
            <a:r>
              <a:rPr sz="2000" b="0" i="0">
                <a:solidFill>
                  <a:srgbClr val="333333"/>
                </a:solidFill>
                <a:latin typeface="Calibri"/>
              </a:rPr>
              <a:t>–   No se necesita ninguna herramienta de pago: en Killercoda se puede lanzar un contenedor con k6, hey o Apache Bench y golpear el stub del servicio, y si el lab no carga, el escenario se documenta en papel con la aritmetica de arriba.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es el ensayo del pitch y tiene su propia teoria.</a:t>
            </a:r>
          </a:p>
          <a:p>
            <a:pPr>
              <a:spcAft>
                <a:spcPts val="800"/>
              </a:spcAft>
            </a:pPr>
            <a:r>
              <a:rPr sz="2000" b="0" i="0">
                <a:solidFill>
                  <a:srgbClr val="333333"/>
                </a:solidFill>
                <a:latin typeface="Calibri"/>
              </a:rPr>
              <a:t>–   Cinco a ocho minutos son entre 700 y 1000 palabras habladas, lo que alcanza para siete u ocho ideas y no mas, asi que el guion se escribe por presupuesto de tiempo: unos 45 segundos para el problema y el usuario</a:t>
            </a:r>
          </a:p>
          <a:p>
            <a:pPr>
              <a:spcAft>
                <a:spcPts val="800"/>
              </a:spcAft>
            </a:pPr>
            <a:r>
              <a:rPr sz="2000" b="0" i="0">
                <a:solidFill>
                  <a:srgbClr val="333333"/>
                </a:solidFill>
                <a:latin typeface="Calibri"/>
              </a:rPr>
              <a:t>–   60 para el diagrama de Contexto, 90 para los Contenedores y las decisiones que los separan, 60 para seguridad y despliegue, 45 para el pipeline y las metricas, 45 para costos y escalabilidad, y 30 de cierre.</a:t>
            </a:r>
          </a:p>
          <a:p>
            <a:pPr>
              <a:spcAft>
                <a:spcPts val="800"/>
              </a:spcAft>
            </a:pPr>
            <a:r>
              <a:rPr sz="2000" b="0" i="0">
                <a:solidFill>
                  <a:srgbClr val="333333"/>
                </a:solidFill>
                <a:latin typeface="Calibri"/>
              </a:rPr>
              <a:t>–   La regla de oro del pitch de arquitectura es que se presentan decisiones con su trade-off, no un recorrido por las cajas del diagrama: "elegimos base de datos gestionada aunque cuesta el doble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podemos garantizar respaldos manuales" es una frase de arquitecto; "aqui tenemos una base de datos" es una leyenda de imagen.</a:t>
            </a:r>
          </a:p>
          <a:p>
            <a:pPr>
              <a:spcAft>
                <a:spcPts val="800"/>
              </a:spcAft>
            </a:pPr>
            <a:r>
              <a:rPr sz="2000" b="0" i="0">
                <a:solidFill>
                  <a:srgbClr val="333333"/>
                </a:solidFill>
                <a:latin typeface="Calibri"/>
              </a:rPr>
              <a:t>–   Se ensaya hoy con cronometro y en voz alta, porque leer mentalmente siempre da la mitad del tiempo real</a:t>
            </a:r>
          </a:p>
          <a:p>
            <a:pPr>
              <a:spcAft>
                <a:spcPts val="800"/>
              </a:spcAft>
            </a:pPr>
            <a:r>
              <a:rPr sz="2000" b="0" i="0">
                <a:solidFill>
                  <a:srgbClr val="333333"/>
                </a:solidFill>
                <a:latin typeface="Calibri"/>
              </a:rPr>
              <a:t>–   Y sin leer las diapositivas, ya que en la Clase 15 el criterio es que quien sustenta pueda explicar cualquier parte del sistema; si el docente autorizo equipos, se ensaya ademas con rotacion de expositor, porque alli el criterio aplica a cualquier integrante.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como se prueba rendimiento sin usuarios reales; la respuesta es que la carga se simula y que lo valioso no es el numero obtenido sino el modelo: si el estudiante puede decir cuantos usuarios, cuantas peticiones por usuario</a:t>
            </a:r>
          </a:p>
          <a:p>
            <a:pPr>
              <a:spcAft>
                <a:spcPts val="800"/>
              </a:spcAft>
            </a:pPr>
            <a:r>
              <a:rPr sz="2000" b="0" i="0">
                <a:solidFill>
                  <a:srgbClr val="333333"/>
                </a:solidFill>
                <a:latin typeface="Calibri"/>
              </a:rPr>
              <a:t>–   Que factor de pico y que componente cree que cede primero, ya esta haciendo ingenieria de rendimiento aunque el sistema sea un stub.</a:t>
            </a:r>
          </a:p>
          <a:p>
            <a:pPr>
              <a:spcAft>
                <a:spcPts val="800"/>
              </a:spcAft>
            </a:pPr>
            <a:r>
              <a:rPr sz="2000" b="0" i="0">
                <a:solidFill>
                  <a:srgbClr val="333333"/>
                </a:solidFill>
                <a:latin typeface="Calibri"/>
              </a:rPr>
              <a:t>–   La segunda es si no basta con decir que se usara cache; la respuesta es que una mitigacion sin medicion es una creencia</a:t>
            </a:r>
          </a:p>
          <a:p>
            <a:pPr>
              <a:spcAft>
                <a:spcPts val="800"/>
              </a:spcAft>
            </a:pPr>
            <a:r>
              <a:rPr sz="2000" b="0" i="0">
                <a:solidFill>
                  <a:srgbClr val="333333"/>
                </a:solidFill>
                <a:latin typeface="Calibri"/>
              </a:rPr>
              <a:t>–   Y que la pregunta correcta es cache de que, con que tiempo de vida, que porcentaje de aciertos se espera y que pasa cuando el dato cambia, porque una cache mal invalidada convierte un problema de lentitud en un problema de datos incorrectos, que es peor.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tercera es cual es un buen p95, y la respuesta debe resistir la tentacion de dar una cifra universal: depende del caso de uso</a:t>
            </a:r>
          </a:p>
          <a:p>
            <a:pPr>
              <a:spcAft>
                <a:spcPts val="800"/>
              </a:spcAft>
            </a:pPr>
            <a:r>
              <a:rPr sz="2000" b="0" i="0">
                <a:solidFill>
                  <a:srgbClr val="333333"/>
                </a:solidFill>
                <a:latin typeface="Calibri"/>
              </a:rPr>
              <a:t>–   Y el criterio es que el numero este justificado y sea alcanzable con la arquitectura dibujada</a:t>
            </a:r>
          </a:p>
          <a:p>
            <a:pPr>
              <a:spcAft>
                <a:spcPts val="800"/>
              </a:spcAft>
            </a:pPr>
            <a:r>
              <a:rPr sz="2000" b="0" i="0">
                <a:solidFill>
                  <a:srgbClr val="333333"/>
                </a:solidFill>
                <a:latin typeface="Calibri"/>
              </a:rPr>
              <a:t>–   Quien promete p95 de 50 milisegundos con una consulta que recorre toda la tabla tiene un objetivo incoherente, y eso es un hallazgo mas grave que tener un objetivo modesto.</a:t>
            </a:r>
          </a:p>
          <a:p>
            <a:pPr>
              <a:spcAft>
                <a:spcPts val="800"/>
              </a:spcAft>
            </a:pPr>
            <a:r>
              <a:rPr sz="2000" b="0" i="0">
                <a:solidFill>
                  <a:srgbClr val="333333"/>
                </a:solidFill>
                <a:latin typeface="Calibri"/>
              </a:rPr>
              <a:t>–   Error tipico del docente que no domina el tema: aceptar "queremos que la app sea rapida" como objetivo de rendimiento.</a:t>
            </a:r>
          </a:p>
          <a:p>
            <a:pPr>
              <a:spcAft>
                <a:spcPts val="800"/>
              </a:spcAft>
            </a:pPr>
            <a:r>
              <a:rPr sz="2000" b="0" i="0">
                <a:solidFill>
                  <a:srgbClr val="333333"/>
                </a:solidFill>
                <a:latin typeface="Calibri"/>
              </a:rPr>
              <a:t>–   Sin metrica en percentil, sin umbral, sin condicion de carga y sin cuello de botella sospechado, la seccion de rendimiento del informe se convierte en adjetivos</a:t>
            </a:r>
          </a:p>
          <a:p>
            <a:pPr>
              <a:spcAft>
                <a:spcPts val="800"/>
              </a:spcAft>
            </a:pPr>
            <a:r>
              <a:rPr sz="2000" b="0" i="0">
                <a:solidFill>
                  <a:srgbClr val="333333"/>
                </a:solidFill>
                <a:latin typeface="Calibri"/>
              </a:rPr>
              <a:t>–   Y la consecuencia es inmediata aguas abajo: en la Clase 13 el estudiante no tiene nada sobre lo que basar el trigger del autoescalado y escribe "cuando la CPU suba"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la sustentacion de la Clase 15 no puede responder por que su diseno soporta la carga que dice soportar.</a:t>
            </a:r>
          </a:p>
          <a:p>
            <a:pPr>
              <a:spcAft>
                <a:spcPts val="800"/>
              </a:spcAft>
            </a:pPr>
            <a:r>
              <a:rPr sz="2000" b="0" i="0">
                <a:solidFill>
                  <a:srgbClr val="333333"/>
                </a:solidFill>
                <a:latin typeface="Calibri"/>
              </a:rPr>
              <a:t>–   El segundo error es dejar que el ensayo del pitch se convierta en un recorrido narrado del diagrama, leido en voz alta y sin una sola justificacion</a:t>
            </a:r>
          </a:p>
          <a:p>
            <a:pPr>
              <a:spcAft>
                <a:spcPts val="800"/>
              </a:spcAft>
            </a:pPr>
            <a:r>
              <a:rPr sz="2000" b="0" i="0">
                <a:solidFill>
                  <a:srgbClr val="333333"/>
                </a:solidFill>
                <a:latin typeface="Calibri"/>
              </a:rPr>
              <a:t>–   Y, en los equipos que el docente haya autorizado, permitir que un solo integrante hable mientras el resto observa.</a:t>
            </a:r>
          </a:p>
          <a:p>
            <a:pPr>
              <a:spcAft>
                <a:spcPts val="800"/>
              </a:spcAft>
            </a:pPr>
            <a:r>
              <a:rPr sz="2000" b="0" i="0">
                <a:solidFill>
                  <a:srgbClr val="333333"/>
                </a:solidFill>
                <a:latin typeface="Calibri"/>
              </a:rPr>
              <a:t>–   Si eso no se corrige hoy, en la Clase 15 la sustentacion llega como un guion memorizado que el Q&amp;A dirigido desarma en dos preguntas, y la nota cae por una razon que era corregible con quince minutos de ensayo bien dirigido.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presupuesto de latencia del camino critico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autonumber</a:t>
            </a:r>
          </a:p>
          <a:p>
            <a:pPr>
              <a:spcAft>
                <a:spcPts val="400"/>
              </a:spcAft>
            </a:pPr>
            <a:r>
              <a:rPr sz="1400" b="0" i="0">
                <a:solidFill>
                  <a:srgbClr val="FFFFFF"/>
                </a:solidFill>
                <a:latin typeface="Calibri"/>
              </a:rPr>
              <a:t>  participant U as Usuario</a:t>
            </a:r>
          </a:p>
          <a:p>
            <a:pPr>
              <a:spcAft>
                <a:spcPts val="400"/>
              </a:spcAft>
            </a:pPr>
            <a:r>
              <a:rPr sz="1400" b="0" i="0">
                <a:solidFill>
                  <a:srgbClr val="FFFFFF"/>
                </a:solidFill>
                <a:latin typeface="Calibri"/>
              </a:rPr>
              <a:t>  participant W as Web SPA</a:t>
            </a:r>
          </a:p>
          <a:p>
            <a:pPr>
              <a:spcAft>
                <a:spcPts val="400"/>
              </a:spcAft>
            </a:pPr>
            <a:r>
              <a:rPr sz="1400" b="0" i="0">
                <a:solidFill>
                  <a:srgbClr val="FFFFFF"/>
                </a:solidFill>
                <a:latin typeface="Calibri"/>
              </a:rPr>
              <a:t>  participant A as API</a:t>
            </a:r>
          </a:p>
          <a:p>
            <a:pPr>
              <a:spcAft>
                <a:spcPts val="400"/>
              </a:spcAft>
            </a:pPr>
            <a:r>
              <a:rPr sz="1400" b="0" i="0">
                <a:solidFill>
                  <a:srgbClr val="FFFFFF"/>
                </a:solidFill>
                <a:latin typeface="Calibri"/>
              </a:rPr>
              <a:t>  participant D as PostgreSQL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U-&gt;&gt;W: accion del pico (&lt;su caso&gt;)</a:t>
            </a:r>
          </a:p>
          <a:p>
            <a:pPr>
              <a:spcAft>
                <a:spcPts val="400"/>
              </a:spcAft>
            </a:pPr>
            <a:r>
              <a:rPr sz="1400" b="0" i="0">
                <a:solidFill>
                  <a:srgbClr val="FFFFFF"/>
                </a:solidFill>
                <a:latin typeface="Calibri"/>
              </a:rPr>
              <a:t>  W-&gt;&gt;A: POST /recurso          %% red: 40 ms</a:t>
            </a:r>
          </a:p>
          <a:p>
            <a:pPr>
              <a:spcAft>
                <a:spcPts val="400"/>
              </a:spcAft>
            </a:pPr>
            <a:r>
              <a:rPr sz="1400" b="0" i="0">
                <a:solidFill>
                  <a:srgbClr val="FFFFFF"/>
                </a:solidFill>
                <a:latin typeface="Calibri"/>
              </a:rPr>
              <a:t>  A-&gt;&gt;A: validar + autorizar    %% 10 ms</a:t>
            </a:r>
          </a:p>
          <a:p>
            <a:pPr>
              <a:spcAft>
                <a:spcPts val="400"/>
              </a:spcAft>
            </a:pPr>
            <a:r>
              <a:rPr sz="1400" b="0" i="0">
                <a:solidFill>
                  <a:srgbClr val="FFFFFF"/>
                </a:solidFill>
                <a:latin typeface="Calibri"/>
              </a:rPr>
              <a:t>  A-&gt;&gt;D: SELECT + INSERT        %% 60 ms</a:t>
            </a:r>
          </a:p>
          <a:p>
            <a:pPr>
              <a:spcAft>
                <a:spcPts val="400"/>
              </a:spcAft>
            </a:pPr>
            <a:r>
              <a:rPr sz="1400" b="0" i="0">
                <a:solidFill>
                  <a:srgbClr val="FFFFFF"/>
                </a:solidFill>
                <a:latin typeface="Calibri"/>
              </a:rPr>
              <a:t>  D--&gt;&gt;A: filas</a:t>
            </a:r>
          </a:p>
          <a:p>
            <a:pPr>
              <a:spcAft>
                <a:spcPts val="400"/>
              </a:spcAft>
            </a:pPr>
            <a:r>
              <a:rPr sz="1400" b="0" i="0">
                <a:solidFill>
                  <a:srgbClr val="FFFFFF"/>
                </a:solidFill>
                <a:latin typeface="Calibri"/>
              </a:rPr>
              <a:t>  A--&gt;&gt;W: 201 Created           %% red: 40 ms</a:t>
            </a:r>
          </a:p>
          <a:p>
            <a:pPr>
              <a:spcAft>
                <a:spcPts val="400"/>
              </a:spcAft>
            </a:pPr>
            <a:r>
              <a:rPr sz="1400" b="0" i="0">
                <a:solidFill>
                  <a:srgbClr val="FFFFFF"/>
                </a:solidFill>
                <a:latin typeface="Calibri"/>
              </a:rPr>
              <a:t>  W--&gt;&gt;U: confirmacion          %% render: 50 ms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Note over U,D: presupuesto total 200 ms · medido p95, no promedio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metricas objetivo, escritas como se verifican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metrica necesita las cuatro columnas, o no es verificable:</a:t>
            </a:r>
          </a:p>
          <a:p>
            <a:pPr>
              <a:spcAft>
                <a:spcPts val="400"/>
              </a:spcAft>
            </a:pPr>
            <a:r>
              <a:rPr sz="1400" b="0" i="0">
                <a:solidFill>
                  <a:srgbClr val="FFFFFF"/>
                </a:solidFill>
                <a:latin typeface="Calibri"/>
              </a:rPr>
              <a:t>#   metrica | objetivo | como se mide | que se hace si falla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p95 de POST /recurso   | &lt; 200 ms | percentil del log de la API</a:t>
            </a:r>
          </a:p>
          <a:p>
            <a:pPr>
              <a:spcAft>
                <a:spcPts val="400"/>
              </a:spcAft>
            </a:pPr>
            <a:r>
              <a:rPr sz="1400" b="0" i="0">
                <a:solidFill>
                  <a:srgbClr val="FFFFFF"/>
                </a:solidFill>
                <a:latin typeface="Calibri"/>
              </a:rPr>
              <a:t>#                        |          | -&gt; revisar el indice de la consulta</a:t>
            </a:r>
          </a:p>
          <a:p>
            <a:pPr>
              <a:spcAft>
                <a:spcPts val="400"/>
              </a:spcAft>
            </a:pPr>
            <a:r>
              <a:rPr sz="1400" b="0" i="0">
                <a:solidFill>
                  <a:srgbClr val="FFFFFF"/>
                </a:solidFill>
                <a:latin typeface="Calibri"/>
              </a:rPr>
              <a:t># tasa de error 5xx      | &lt; 1%     | conteo por minuto</a:t>
            </a:r>
          </a:p>
          <a:p>
            <a:pPr>
              <a:spcAft>
                <a:spcPts val="400"/>
              </a:spcAft>
            </a:pPr>
            <a:r>
              <a:rPr sz="1400" b="0" i="0">
                <a:solidFill>
                  <a:srgbClr val="FFFFFF"/>
                </a:solidFill>
                <a:latin typeface="Calibri"/>
              </a:rPr>
              <a:t>#                        |          | -&gt; abrir el log del paso que falla</a:t>
            </a:r>
          </a:p>
          <a:p>
            <a:pPr>
              <a:spcAft>
                <a:spcPts val="400"/>
              </a:spcAft>
            </a:pPr>
            <a:r>
              <a:rPr sz="1400" b="0" i="0">
                <a:solidFill>
                  <a:srgbClr val="FFFFFF"/>
                </a:solidFill>
                <a:latin typeface="Calibri"/>
              </a:rPr>
              <a:t># uso de CPU de la API   | &lt; 70%    | metrica del proveedor</a:t>
            </a:r>
          </a:p>
          <a:p>
            <a:pPr>
              <a:spcAft>
                <a:spcPts val="400"/>
              </a:spcAft>
            </a:pPr>
            <a:r>
              <a:rPr sz="1400" b="0" i="0">
                <a:solidFill>
                  <a:srgbClr val="FFFFFF"/>
                </a:solidFill>
                <a:latin typeface="Calibri"/>
              </a:rPr>
              <a:t>#                        |          | -&gt; escalar horizontal (Clase 13)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PROMEDIO no sirve: con 99 respuestas de 10 ms y una de 5 s el promedio</a:t>
            </a:r>
          </a:p>
          <a:p>
            <a:pPr>
              <a:spcAft>
                <a:spcPts val="400"/>
              </a:spcAft>
            </a:pPr>
            <a:r>
              <a:rPr sz="1400" b="0" i="0">
                <a:solidFill>
                  <a:srgbClr val="FFFFFF"/>
                </a:solidFill>
                <a:latin typeface="Calibri"/>
              </a:rPr>
              <a:t># da 60 ms y el usuario que espero 5 s existe. Por eso p95.</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sea rapido» no es un requisito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Enunciado vago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app tiene que ser rapida»</a:t>
            </a:r>
          </a:p>
          <a:p>
            <a:pPr>
              <a:spcAft>
                <a:spcPts val="800"/>
              </a:spcAft>
            </a:pPr>
            <a:r>
              <a:rPr sz="1500" b="0" i="0">
                <a:solidFill>
                  <a:srgbClr val="333333"/>
                </a:solidFill>
                <a:latin typeface="Calibri"/>
              </a:rPr>
              <a:t>–   «Aguanta harta gente»</a:t>
            </a:r>
          </a:p>
          <a:p>
            <a:pPr>
              <a:spcAft>
                <a:spcPts val="800"/>
              </a:spcAft>
            </a:pPr>
            <a:r>
              <a:rPr sz="1500" b="0" i="0">
                <a:solidFill>
                  <a:srgbClr val="333333"/>
                </a:solidFill>
                <a:latin typeface="Calibri"/>
              </a:rPr>
              <a:t>–   «Si se pone lenta, le subimos recursos»</a:t>
            </a:r>
          </a:p>
          <a:p>
            <a:pPr>
              <a:spcAft>
                <a:spcPts val="800"/>
              </a:spcAft>
            </a:pPr>
            <a:r>
              <a:rPr sz="1500" b="0" i="0">
                <a:solidFill>
                  <a:srgbClr val="333333"/>
                </a:solidFill>
                <a:latin typeface="Calibri"/>
              </a:rPr>
              <a:t>–   No hay con que comparar despues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Enunciado medible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p95 &lt; 300 ms</a:t>
            </a:r>
            <a:r>
              <a:rPr sz="1500" b="0" i="0">
                <a:solidFill>
                  <a:srgbClr val="333333"/>
                </a:solidFill>
                <a:latin typeface="Calibri"/>
              </a:rPr>
              <a:t> en el endpoint de reserva</a:t>
            </a:r>
          </a:p>
          <a:p>
            <a:pPr>
              <a:spcAft>
                <a:spcPts val="800"/>
              </a:spcAft>
            </a:pPr>
            <a:r>
              <a:rPr sz="1500" b="0" i="0">
                <a:solidFill>
                  <a:srgbClr val="333333"/>
                </a:solidFill>
                <a:latin typeface="Calibri"/>
              </a:rPr>
              <a:t>–   Escenario: </a:t>
            </a:r>
            <a:r>
              <a:rPr sz="1500" b="1" i="0">
                <a:solidFill>
                  <a:srgbClr val="333333"/>
                </a:solidFill>
                <a:latin typeface="Calibri"/>
              </a:rPr>
              <a:t>150 RPS</a:t>
            </a:r>
            <a:r>
              <a:rPr sz="1500" b="0" i="0">
                <a:solidFill>
                  <a:srgbClr val="333333"/>
                </a:solidFill>
                <a:latin typeface="Calibri"/>
              </a:rPr>
              <a:t> en el pico de inicio de semestre</a:t>
            </a:r>
          </a:p>
          <a:p>
            <a:pPr>
              <a:spcAft>
                <a:spcPts val="800"/>
              </a:spcAft>
            </a:pPr>
            <a:r>
              <a:rPr sz="1500" b="0" i="0">
                <a:solidFill>
                  <a:srgbClr val="333333"/>
                </a:solidFill>
                <a:latin typeface="Calibri"/>
              </a:rPr>
              <a:t>–   Bottleneck sospechado: </a:t>
            </a:r>
            <a:r>
              <a:rPr sz="1500" b="1" i="0">
                <a:solidFill>
                  <a:srgbClr val="333333"/>
                </a:solidFill>
                <a:latin typeface="Calibri"/>
              </a:rPr>
              <a:t>consulta a la BD</a:t>
            </a:r>
          </a:p>
          <a:p>
            <a:pPr>
              <a:spcAft>
                <a:spcPts val="800"/>
              </a:spcAft>
            </a:pPr>
            <a:r>
              <a:rPr sz="1500" b="0" i="0">
                <a:solidFill>
                  <a:srgbClr val="333333"/>
                </a:solidFill>
                <a:latin typeface="Calibri"/>
              </a:rPr>
              <a:t>–   Se puede verificar: pasa o no pasa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Objetivo de rendimiento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Bottleneck</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Sección Rendimiento + guion de pitch + paquete casi-final</a:t>
            </a:r>
          </a:p>
          <a:p>
            <a:pPr>
              <a:spcAft>
                <a:spcPts val="800"/>
              </a:spcAft>
            </a:pPr>
            <a:r>
              <a:rPr sz="2000" b="0" i="0">
                <a:solidFill>
                  <a:srgbClr val="333333"/>
                </a:solidFill>
                <a:latin typeface="Calibri"/>
              </a:rPr>
              <a:t>–   Herramienta: </a:t>
            </a:r>
            <a:r>
              <a:rPr sz="2000" b="1" i="0">
                <a:solidFill>
                  <a:srgbClr val="333333"/>
                </a:solidFill>
                <a:latin typeface="Calibri"/>
              </a:rPr>
              <a:t>Google Docs · draw.io · (opcional) lab contenedor</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describan el escenario de carga del pico real de su dominio con los 6 datos obligatorios (evento del pico, usuarios concurrentes, peticiones por segundo, mezcla de operaciones en porcentajes que sumen 100, duracion de la ventana y volumen de datos de partida), verificando que la mezcla sume exactamente 100 por ciento y que el pico corresponda a una fecha real del calendario de su dominio.</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definan las 3 metricas objetivo en una tabla de 4 columnas con numero, ventana de medicion, forma de medirla y consecuencia de incumplirla, verificando que cada objetivo tenga un numero y una ventana (por ejemplo p95 por debajo de 800 ms en 5 minutos) y que ninguna diga rapido o aceptable sin cifra.</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escriban en la plataforma del curso el sequenceDiagram del camino critico con el presupuesto de latencia repartido por salto, verificando que la suma de los tramos sea menor o igual al objetivo de p95 y que la nota final muestre el margen restante en milisegundos.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ensayen el pitch de 5 a 8 minutos con cronometro y llenen la tabla de guion de 6 filas con minuto, seccion, quien habla, mensaje clave y evidencia en pantalla, verificando que la suma de los minutos quede entre 5 y 8, que ninguna seccion pase de 2:00 (y, si el docente autorizo equipo, que todos los integrantes hablen) y que cada seccion tenga una evidencia concreta que se pueda mostrar.</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cierren los 5 items del backlog de la Clase 11 dejando registro de los residuales, dejen el paquete casi final ordenado en el repositorio o el Drive y suban las 6 preguntas a la plataforma del curso (modulo Talleres) antes del en la fecha que indique el docente, verificando que el cuello de botella declarado en el analisis sea el mismo que muestra el diagrama de secuencia.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Rendimiento + guion de pitch + paquete casi-final</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Escenario de rendimiento + ensayo 5–8 min de sustentación</a:t>
            </a:r>
          </a:p>
          <a:p>
            <a:pPr algn="ctr">
              <a:spcAft>
                <a:spcPts val="600"/>
              </a:spcAft>
            </a:pPr>
            <a:r>
              <a:rPr sz="1600" b="0" i="0">
                <a:solidFill>
                  <a:srgbClr val="333333"/>
                </a:solidFill>
                <a:latin typeface="Calibri"/>
              </a:rPr>
              <a:t>Evidencia: Sección Rendimiento + guion de pitch + paquete casi-final</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