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274320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743200"/>
            <a:ext cx="12191695" cy="73152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logo_uniajc_blanc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274320"/>
            <a:ext cx="1828800" cy="797105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10180015" y="320040"/>
            <a:ext cx="1645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200" b="1" i="0">
                <a:solidFill>
                  <a:srgbClr val="269CCB"/>
                </a:solidFill>
                <a:latin typeface="Calibri"/>
              </a:rPr>
              <a:t>Clase 12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914400"/>
            <a:ext cx="11277295" cy="13716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2800" b="1" i="0">
                <a:solidFill>
                  <a:srgbClr val="FFFFFF"/>
                </a:solidFill>
                <a:latin typeface="Calibri"/>
              </a:rPr>
              <a:t>Pruebas de rendimiento · Preparación de presentación final</a:t>
            </a:r>
          </a:p>
          <a:p>
            <a:pPr algn="ctr">
              <a:spcBef>
                <a:spcPts val="800"/>
              </a:spcBef>
            </a:pPr>
            <a:r>
              <a:rPr sz="1500" b="0" i="0">
                <a:solidFill>
                  <a:srgbClr val="269CCB"/>
                </a:solidFill>
                <a:latin typeface="Calibri"/>
              </a:rPr>
              <a:t>Métricas objetivo + ensayo de pitch PI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3200400"/>
            <a:ext cx="11277295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 b="1" i="0">
                <a:solidFill>
                  <a:srgbClr val="333333"/>
                </a:solidFill>
                <a:latin typeface="Calibri"/>
              </a:rPr>
              <a:t>Hoy avanzamos el PI en: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Escenario de rendimiento + ensayo 5–8 min de sustentación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Bloque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120 min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· Teoría breve · Taller PI · cierre.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Herramientas gratis + navegador · sin AWS/GCP/Oracle Cloud.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Agenda de hoy (120 min)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0–10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Encuadre: hoy avanzamos el PI en… + entregable concreto.</a:t>
            </a:r>
          </a:p>
          <a:p>
            <a:pPr>
              <a:spcAft>
                <a:spcPts val="800"/>
              </a:spcAft>
            </a:pPr>
            <a:r>
              <a:rPr sz="1600" b="1" i="0">
                <a:solidFill>
                  <a:srgbClr val="333333"/>
                </a:solidFill>
                <a:latin typeface="Calibri"/>
              </a:rPr>
              <a:t>10–40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Teoría Core breve (solo lo necesario para el taller PI).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40–100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Taller guiado PI (demo en vivo + trabajo de equipo).</a:t>
            </a:r>
          </a:p>
          <a:p>
            <a:pPr>
              <a:spcAft>
                <a:spcPts val="800"/>
              </a:spcAft>
            </a:pPr>
            <a:r>
              <a:rPr sz="1600" b="1" i="0">
                <a:solidFill>
                  <a:srgbClr val="333333"/>
                </a:solidFill>
                <a:latin typeface="Calibri"/>
              </a:rPr>
              <a:t>100–115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Revisión de evidencias del PI.</a:t>
            </a:r>
          </a:p>
          <a:p>
            <a:pPr>
              <a:spcAft>
                <a:spcPts val="800"/>
              </a:spcAft>
            </a:pPr>
            <a:r>
              <a:rPr sz="1600" b="1" i="0">
                <a:solidFill>
                  <a:srgbClr val="333333"/>
                </a:solidFill>
                <a:latin typeface="Calibri"/>
              </a:rPr>
              <a:t>115–120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Cierre: criterio de éxito + plazo domingo 23:59.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Objetivos de la clase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Definir métricas/objetivos de rendimiento realistas para CloudLite.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Diseñar un escenario de prueba (aunque sea cualitativo/simulado).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Ensayar el pitch de sustentación (prep PI; Parcial 3 es otro día).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PI CloudLite — entregable de hoy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Entregable: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Sección Rendimiento + guion de pitch + paquete casi-final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Herramienta: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Google Docs · draw.io · (opcional) lab contenedor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Todo lo que construyan hoy entra al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informe/repo del PI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(no es lab suelto).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Equipos 2–3 · todos deben poder explicar el artefacto.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Rendimiento sin stress-tool de pago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Definan: RPS/usuarios concurrentes objetivo · p95 latencia · error rate.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Escenario: pico de matrícula / hora pico de citas — narren carga.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Bottlenecks probables: DB, auth, I/O de objetos.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Preparación de presentación (5–8 min)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1 min problema · 2 min arquitectura · 1 min contenedor · 1 min CI · 1 min seguridad/costos · Q&amp;A.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Demo: diagrama + captura lab/Actions (no improvisar login cloud).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Todos los integrantes hablan.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Paquete de entrega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Informe + diagramas + Dockerfile + YAML + capturas.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Fecha/canal: coordinación del periodo.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«Que sea rapido» no es un requisito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5478627" cy="5093208"/>
          </a:xfrm>
          <a:prstGeom prst="roundRect">
            <a:avLst>
              <a:gd name="adj" fmla="val 12000"/>
            </a:avLst>
          </a:prstGeom>
          <a:solidFill>
            <a:srgbClr val="FBE4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261872"/>
            <a:ext cx="5478627" cy="502920"/>
          </a:xfrm>
          <a:prstGeom prst="rect">
            <a:avLst/>
          </a:prstGeom>
          <a:solidFill>
            <a:srgbClr val="A020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94360" y="1353312"/>
            <a:ext cx="5204307" cy="3657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Enunciado vago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21792" y="1901952"/>
            <a:ext cx="5158587" cy="44988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«La app tiene que ser rapida»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«Aguanta harta gente»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«Si se pone lenta, le subimos recursos»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No hay con que comparar despues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55867" y="1261872"/>
            <a:ext cx="5478627" cy="5093208"/>
          </a:xfrm>
          <a:prstGeom prst="roundRect">
            <a:avLst>
              <a:gd name="adj" fmla="val 12000"/>
            </a:avLst>
          </a:prstGeom>
          <a:solidFill>
            <a:srgbClr val="E8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255867" y="1261872"/>
            <a:ext cx="5478627" cy="5029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393027" y="1353312"/>
            <a:ext cx="5204307" cy="3657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Enunciado medible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20459" y="1901952"/>
            <a:ext cx="5158587" cy="44988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p95 &lt; 300 ms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en el endpoint de reserva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Escenario: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150 RPS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en el pico de inicio de semestre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Bottleneck sospechado: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consulta a la BD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Se puede verificar: pasa o no pasa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Taller PI (paso a paso)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1" i="0">
                <a:solidFill>
                  <a:srgbClr val="333333"/>
                </a:solidFill>
                <a:latin typeface="Calibri"/>
              </a:rPr>
              <a:t>1.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Escriban escenario de carga + 3 métricas objetivo + bottleneck esperado.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2.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Ensayen pitch 5–8 min (cronómetro); feedback entre equipos.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3.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Cierren backlog de Clase 11.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4.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Dejen paquete casi-final en Drive/repo.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5.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Entrega de avance domingo 23:59.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Para continuar (PI)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E8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261872"/>
            <a:ext cx="128016" cy="105156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399031"/>
            <a:ext cx="10774375" cy="8229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 i="0">
                <a:solidFill>
                  <a:srgbClr val="269CCB"/>
                </a:solidFill>
                <a:latin typeface="Calibri"/>
              </a:rPr>
              <a:t>Info</a:t>
            </a:r>
          </a:p>
          <a:p>
            <a:pPr>
              <a:spcBef>
                <a:spcPts val="400"/>
              </a:spcBef>
            </a:pPr>
            <a:r>
              <a:rPr sz="1400" b="0" i="0">
                <a:solidFill>
                  <a:srgbClr val="333333"/>
                </a:solidFill>
                <a:latin typeface="Calibri"/>
              </a:rPr>
              <a:t>Entregable: Sección Rendimiento + guion de pitch + paquete casi-final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57200" y="2478024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FFF8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57200" y="2478024"/>
            <a:ext cx="128016" cy="1051560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77240" y="2615184"/>
            <a:ext cx="10774375" cy="8229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 i="0">
                <a:solidFill>
                  <a:srgbClr val="FFD000"/>
                </a:solidFill>
                <a:latin typeface="Calibri"/>
              </a:rPr>
              <a:t>Aclaración</a:t>
            </a:r>
          </a:p>
          <a:p>
            <a:pPr>
              <a:spcBef>
                <a:spcPts val="400"/>
              </a:spcBef>
            </a:pPr>
            <a:r>
              <a:rPr sz="1400" b="0" i="0">
                <a:solidFill>
                  <a:srgbClr val="333333"/>
                </a:solidFill>
                <a:latin typeface="Calibri"/>
              </a:rPr>
              <a:t>Subir evidencias al paquete CloudLite (Drive/repo) y a ExamLab domingo 23:59.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3694176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FBE4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57200" y="3694176"/>
            <a:ext cx="128016" cy="1051560"/>
          </a:xfrm>
          <a:prstGeom prst="rect">
            <a:avLst/>
          </a:prstGeom>
          <a:solidFill>
            <a:srgbClr val="A020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77240" y="3831336"/>
            <a:ext cx="10774375" cy="8229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 i="0">
                <a:solidFill>
                  <a:srgbClr val="A02030"/>
                </a:solidFill>
                <a:latin typeface="Calibri"/>
              </a:rPr>
              <a:t>Atención</a:t>
            </a:r>
          </a:p>
          <a:p>
            <a:pPr>
              <a:spcBef>
                <a:spcPts val="400"/>
              </a:spcBef>
            </a:pPr>
            <a:r>
              <a:rPr sz="1400" b="0" i="0">
                <a:solidFill>
                  <a:srgbClr val="333333"/>
                </a:solidFill>
                <a:latin typeface="Calibri"/>
              </a:rPr>
              <a:t>Sin cloud de pago ni instalaciones obligatorias de hipervisores/Docker Desktop.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_uniajc_colo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71455" y="5998464"/>
            <a:ext cx="1463040" cy="643233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1737360"/>
            <a:ext cx="11277295" cy="10972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3400" b="1" i="0">
                <a:solidFill>
                  <a:srgbClr val="095292"/>
                </a:solidFill>
                <a:latin typeface="Calibri"/>
              </a:rPr>
              <a:t>Clase 12 · PI en movimiento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017520"/>
            <a:ext cx="11277295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Escenario de rendimiento + ensayo 5–8 min de sustentación</a:t>
            </a:r>
          </a:p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Evidencia: Sección Rendimiento + guion de pitch + paquete casi-final</a:t>
            </a:r>
          </a:p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Siguiente paso = siguiente hito del PI CloudLite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4754880"/>
            <a:ext cx="1127729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269CCB"/>
                </a:solidFill>
                <a:latin typeface="Calibri"/>
              </a:rPr>
              <a:t>Teoría al servicio del proyecto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