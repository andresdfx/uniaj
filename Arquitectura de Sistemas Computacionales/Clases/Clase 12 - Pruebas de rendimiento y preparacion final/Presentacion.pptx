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Rendimiento es la unica parte del curso donde el estudiante puede pasar de opinar a medir, y por eso conviene empezar por el vocabulario exacto.</a:t>
            </a:r>
          </a:p>
          <a:p>
            <a:pPr>
              <a:spcAft>
                <a:spcPts val="800"/>
              </a:spcAft>
            </a:pPr>
            <a:r>
              <a:rPr sz="2000" b="0" i="0">
                <a:solidFill>
                  <a:srgbClr val="333333"/>
                </a:solidFill>
                <a:latin typeface="Calibri"/>
              </a:rPr>
              <a:t>–   La latencia, o tiempo de respuesta, es cuanto tarda UNA peticion desde que sale del cliente hasta que llega la respuesta completa; se mide en milisegundos y es lo que siente el usuario.</a:t>
            </a:r>
          </a:p>
          <a:p>
            <a:pPr>
              <a:spcAft>
                <a:spcPts val="800"/>
              </a:spcAft>
            </a:pPr>
            <a:r>
              <a:rPr sz="2000" b="0" i="0">
                <a:solidFill>
                  <a:srgbClr val="333333"/>
                </a:solidFill>
                <a:latin typeface="Calibri"/>
              </a:rPr>
              <a:t>–   El throughput, o caudal, es cuantas peticiones atiende el sistema por unidad de tiempo; se mide en peticiones por segundo, abreviado RPS, y es lo que importa para la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se mueven juntas: un sistema puede atender 500 RPS con latencia terrible porque todo espera en cola, y otro puede tener latencia excelente con 3 RPS porque nadie lo usa.</a:t>
            </a:r>
          </a:p>
          <a:p>
            <a:pPr>
              <a:spcAft>
                <a:spcPts val="800"/>
              </a:spcAft>
            </a:pPr>
            <a:r>
              <a:rPr sz="2000" b="0" i="0">
                <a:solidFill>
                  <a:srgbClr val="333333"/>
                </a:solidFill>
                <a:latin typeface="Calibri"/>
              </a:rPr>
              <a:t>–   Si CloudLite atiende 5 RPS con 300 milisegundos, hay en promedio 1.5 peticiones simultaneas dentro del sistema, y ese numero decide cuantos hilos, cuantas conexiones a base de datos y cuantas instancias se necesitan.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del tema es entender por que el promedio miente y el percentil no.</a:t>
            </a:r>
          </a:p>
          <a:p>
            <a:pPr>
              <a:spcAft>
                <a:spcPts val="800"/>
              </a:spcAft>
            </a:pPr>
            <a:r>
              <a:rPr sz="2000" b="0" i="0">
                <a:solidFill>
                  <a:srgbClr val="333333"/>
                </a:solidFill>
                <a:latin typeface="Calibri"/>
              </a:rPr>
              <a:t>–   Un percentil es el valor por debajo del cual cae un porcentaje dado de las observaciones ordenadas de menor a mayor: el p95 del tiempo de respuesta es el tiempo tal que el 95 por ciento de las peticiones respondieron en ese tiempo o menos, y el 5 por ciento restante tardo mas.</a:t>
            </a:r>
          </a:p>
          <a:p>
            <a:pPr>
              <a:spcAft>
                <a:spcPts val="800"/>
              </a:spcAft>
            </a:pPr>
            <a:r>
              <a:rPr sz="2000" b="0" i="0">
                <a:solidFill>
                  <a:srgbClr val="333333"/>
                </a:solidFill>
                <a:latin typeface="Calibri"/>
              </a:rPr>
              <a:t>–   El ejemplo numerico es obligatorio porque convence de inmediato.</a:t>
            </a:r>
          </a:p>
          <a:p>
            <a:pPr>
              <a:spcAft>
                <a:spcPts val="800"/>
              </a:spcAft>
            </a:pPr>
            <a:r>
              <a:rPr sz="2000" b="0" i="0">
                <a:solidFill>
                  <a:srgbClr val="333333"/>
                </a:solidFill>
                <a:latin typeface="Calibri"/>
              </a:rPr>
              <a:t>–   Suponga 100 peticiones a CloudLite: 95 responden en 120 milisegundos y 5 responden en 4000 porque cayeron en una consulta sin indice.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promedio es 314 milisegundos, una cifra que suena aceptable y que no le paso a nadie: ninguna peticion real tardo 314 milisegundos.</a:t>
            </a:r>
          </a:p>
          <a:p>
            <a:pPr>
              <a:spcAft>
                <a:spcPts val="800"/>
              </a:spcAft>
            </a:pPr>
            <a:r>
              <a:rPr sz="2000" b="0" i="0">
                <a:solidFill>
                  <a:srgbClr val="333333"/>
                </a:solidFill>
                <a:latin typeface="Calibri"/>
              </a:rPr>
              <a:t>–   El p50, o mediana, es 120; el p99 es 4000.</a:t>
            </a:r>
          </a:p>
          <a:p>
            <a:pPr>
              <a:spcAft>
                <a:spcPts val="800"/>
              </a:spcAft>
            </a:pPr>
            <a:r>
              <a:rPr sz="2000" b="0" i="0">
                <a:solidFill>
                  <a:srgbClr val="333333"/>
                </a:solidFill>
                <a:latin typeface="Calibri"/>
              </a:rPr>
              <a:t>–   Reportar el promedio esconde a cinco usuarios de cada cien esperando cuatro segundos; reportar p95 y p99 los hace visibles.</a:t>
            </a:r>
          </a:p>
          <a:p>
            <a:pPr>
              <a:spcAft>
                <a:spcPts val="800"/>
              </a:spcAft>
            </a:pPr>
            <a:r>
              <a:rPr sz="2000" b="0" i="0">
                <a:solidFill>
                  <a:srgbClr val="333333"/>
                </a:solidFill>
                <a:latin typeface="Calibri"/>
              </a:rPr>
              <a:t>–   Un objetivo sin condicion de carga no significa nada: cualquier sistema es rapido sin usuarios.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debajo de unos 100 milisegundos la respuesta se percibe instantanea; hasta cerca de 1 segundo el usuario mantiene el hilo aunque note la demora; pasados unos 10 segundos pierde la atencion y cambia de tarea o recarga.</a:t>
            </a:r>
          </a:p>
          <a:p>
            <a:pPr>
              <a:spcAft>
                <a:spcPts val="800"/>
              </a:spcAft>
            </a:pPr>
            <a:r>
              <a:rPr sz="2000" b="0" i="0">
                <a:solidFill>
                  <a:srgbClr val="333333"/>
                </a:solidFill>
                <a:latin typeface="Calibri"/>
              </a:rPr>
              <a:t>–   Ninguna es regla dura: un reporte pesado puede tener un objetivo legitimo de 3 segundos y un autocompletado necesita estar bajo 100.</a:t>
            </a:r>
          </a:p>
          <a:p>
            <a:pPr>
              <a:spcAft>
                <a:spcPts val="800"/>
              </a:spcAft>
            </a:pPr>
            <a:r>
              <a:rPr sz="2000" b="0" i="0">
                <a:solidFill>
                  <a:srgbClr val="333333"/>
                </a:solidFill>
                <a:latin typeface="Calibri"/>
              </a:rPr>
              <a:t>–   Junto al tiempo va siempre la tasa de error, el porcentaje de peticiones que fallan, porque un sistema que responde rapido devolviendo errores no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aparecen tres siglas: el SLI es el indicador que se mide, el SLO es el objetivo interno que el equipo se compromete a cumplir y el SLA es el compromiso contractual con penalidad.</a:t>
            </a:r>
          </a:p>
          <a:p>
            <a:pPr>
              <a:spcAft>
                <a:spcPts val="800"/>
              </a:spcAft>
            </a:pPr>
            <a:r>
              <a:rPr sz="2000" b="0" i="0">
                <a:solidFill>
                  <a:srgbClr val="333333"/>
                </a:solidFill>
                <a:latin typeface="Calibri"/>
              </a:rPr>
              <a:t>–   Un SLO de 99.9 por ciento de disponibilidad, los "tres nueves", admite unos 43 minutos de caida al mes; el 99.99 baja a poco mas de 4 minutos</a:t>
            </a:r>
          </a:p>
          <a:p>
            <a:pPr>
              <a:spcAft>
                <a:spcPts val="800"/>
              </a:spcAft>
            </a:pPr>
            <a:r>
              <a:rPr sz="2000" b="0" i="0">
                <a:solidFill>
                  <a:srgbClr val="333333"/>
                </a:solidFill>
                <a:latin typeface="Calibri"/>
              </a:rPr>
              <a:t>–   Y esa diferencia de un decimal suele multiplicar el costo de la arquitectura, lo que amarra con la tabla de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componente del entregable es el escenario de carga, y el estudiante casi siempre lo inventa exagerado.</a:t>
            </a:r>
          </a:p>
          <a:p>
            <a:pPr>
              <a:spcAft>
                <a:spcPts val="800"/>
              </a:spcAft>
            </a:pPr>
            <a:r>
              <a:rPr sz="2000" b="0" i="0">
                <a:solidFill>
                  <a:srgbClr val="333333"/>
                </a:solidFill>
                <a:latin typeface="Calibri"/>
              </a:rPr>
              <a:t>–   Suponga 1000 usuarios activos al dia, cada uno con unas 20 peticiones en su sesion: son 20000 peticiones diarias.</a:t>
            </a:r>
          </a:p>
          <a:p>
            <a:pPr>
              <a:spcAft>
                <a:spcPts val="800"/>
              </a:spcAft>
            </a:pPr>
            <a:r>
              <a:rPr sz="2000" b="0" i="0">
                <a:solidFill>
                  <a:srgbClr val="333333"/>
                </a:solidFill>
                <a:latin typeface="Calibri"/>
              </a:rPr>
              <a:t>–   Si un 40 por ciento cae en una ventana de dos horas, eso es 8000 peticiones en 7200 segundos, algo mas de 1 RPS promedio en la hora pico.</a:t>
            </a:r>
          </a:p>
          <a:p>
            <a:pPr>
              <a:spcAft>
                <a:spcPts val="800"/>
              </a:spcAft>
            </a:pPr>
            <a:r>
              <a:rPr sz="2000" b="0" i="0">
                <a:solidFill>
                  <a:srgbClr val="333333"/>
                </a:solidFill>
                <a:latin typeface="Calibri"/>
              </a:rPr>
              <a:t>–   Como el trafico real llega en rafagas, se aplica un factor de pico de 3 a 5 veces y se dimensiona para unos 5 RPS.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numero es el que debe aparecer en el informe, y es un orden de magnitud tres mil veces menor que los "10000 RPS" que algun estudiante escribira por sonar ambicioso.</a:t>
            </a:r>
          </a:p>
          <a:p>
            <a:pPr>
              <a:spcAft>
                <a:spcPts val="800"/>
              </a:spcAft>
            </a:pPr>
            <a:r>
              <a:rPr sz="2000" b="0" i="0">
                <a:solidFill>
                  <a:srgbClr val="333333"/>
                </a:solidFill>
                <a:latin typeface="Calibri"/>
              </a:rPr>
              <a:t>–   La leccion es doble: un objetivo de rendimiento sin cuenta de sobre es marketing y no ingenieria, y dimensionar para 5 RPS en vez de 10000 es justamente lo que evita el sobreaprovisionamiento que la Clase 10 senalo como desperdicio.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 componente es el bottleneck, o cuello de botella: el componente que se agota primero y limita el rendimiento de todo el sistema.</a:t>
            </a:r>
          </a:p>
          <a:p>
            <a:pPr>
              <a:spcAft>
                <a:spcPts val="800"/>
              </a:spcAft>
            </a:pPr>
            <a:r>
              <a:rPr sz="2000" b="0" i="0">
                <a:solidFill>
                  <a:srgbClr val="333333"/>
                </a:solidFill>
                <a:latin typeface="Calibri"/>
              </a:rPr>
              <a:t>–   La afirmacion fuerte, que conviene decir tal cual, es que en cualquier instante hay exactamente un cuello de botella; "todo esta lento" nunca es un diagnostico, es la ausencia de uno.</a:t>
            </a:r>
          </a:p>
          <a:p>
            <a:pPr>
              <a:spcAft>
                <a:spcPts val="800"/>
              </a:spcAft>
            </a:pPr>
            <a:r>
              <a:rPr sz="2000" b="0" i="0">
                <a:solidFill>
                  <a:srgbClr val="333333"/>
                </a:solidFill>
                <a:latin typeface="Calibri"/>
              </a:rPr>
              <a:t>–   Se localiza con las senales doradas de la Clase 8, en particular la saturacion, mirando cual recurso esta cerca de su limite mientras los demas estan holgados.</a:t>
            </a:r>
          </a:p>
          <a:p>
            <a:pPr>
              <a:spcAft>
                <a:spcPts val="800"/>
              </a:spcAft>
            </a:pPr>
            <a:r>
              <a:rPr sz="2000" b="0" i="0">
                <a:solidFill>
                  <a:srgbClr val="333333"/>
                </a:solidFill>
                <a:latin typeface="Calibri"/>
              </a:rPr>
              <a:t>–   En CloudLite los candidatos son pocos y reconocibles.</a:t>
            </a:r>
          </a:p>
          <a:p>
            <a:pPr>
              <a:spcAft>
                <a:spcPts val="800"/>
              </a:spcAft>
            </a:pPr>
            <a:r>
              <a:rPr sz="2000" b="0" i="0">
                <a:solidFill>
                  <a:srgbClr val="333333"/>
                </a:solidFill>
                <a:latin typeface="Calibri"/>
              </a:rPr>
              <a:t>–   El primero es el problema N mas 1 en el endpoint de listado: la API pide la lista con una consulta y luego, dentro del ciclo, hace una consulta adicional por cada registro para traer un dato relacionado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50 registros son 51 viajes a la base de datos y el tiempo se va en latencia de red acumulada, no en CPU.</a:t>
            </a:r>
          </a:p>
          <a:p>
            <a:pPr>
              <a:spcAft>
                <a:spcPts val="800"/>
              </a:spcAft>
            </a:pPr>
            <a:r>
              <a:rPr sz="2000" b="0" i="0">
                <a:solidFill>
                  <a:srgbClr val="333333"/>
                </a:solidFill>
                <a:latin typeface="Calibri"/>
              </a:rPr>
              <a:t>–   El segundo es el pool de conexiones: si el pool tiene 10 conexiones y llegan 40 peticiones concurrentes, 30 esperan turno y la latencia se dispara aunque la CPU de la API y la de la base de datos esten al 20 por ciento.</a:t>
            </a:r>
          </a:p>
          <a:p>
            <a:pPr>
              <a:spcAft>
                <a:spcPts val="800"/>
              </a:spcAft>
            </a:pPr>
            <a:r>
              <a:rPr sz="2000" b="0" i="0">
                <a:solidFill>
                  <a:srgbClr val="333333"/>
                </a:solidFill>
                <a:latin typeface="Calibri"/>
              </a:rPr>
              <a:t>–   El tercero, si CloudLite envia notificaciones de forma sincronica dentro de la peticion, es el proveedor externo: el usuario espera a que un tercero responda, y la mitigacion no es mas CPU sino sacar el envio de la ruta critica hacia una cola.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estres sube la carga de forma progresiva hasta que el sistema se degrada o se rompe</a:t>
            </a:r>
          </a:p>
          <a:p>
            <a:pPr>
              <a:spcAft>
                <a:spcPts val="800"/>
              </a:spcAft>
            </a:pPr>
            <a:r>
              <a:rPr sz="2000" b="0" i="0">
                <a:solidFill>
                  <a:srgbClr val="333333"/>
                </a:solidFill>
                <a:latin typeface="Calibri"/>
              </a:rPr>
              <a:t>–   Y responde cual es la capacidad maxima y como se comporta al fallar; el dato interesante no es el punto de quiebre sino la forma de la falla, porque degradarse respondiendo lento es aceptable y caerse por completo no.</a:t>
            </a:r>
          </a:p>
          <a:p>
            <a:pPr>
              <a:spcAft>
                <a:spcPts val="800"/>
              </a:spcAft>
            </a:pPr>
            <a:r>
              <a:rPr sz="2000" b="0" i="0">
                <a:solidFill>
                  <a:srgbClr val="333333"/>
                </a:solidFill>
                <a:latin typeface="Calibri"/>
              </a:rPr>
              <a:t>–   La prueba de picos, o spike test, aplica una subida subita y grande simulando una promocion o una noticia viral</a:t>
            </a:r>
          </a:p>
          <a:p>
            <a:pPr>
              <a:spcAft>
                <a:spcPts val="800"/>
              </a:spcAft>
            </a:pPr>
            <a:r>
              <a:rPr sz="2000" b="0" i="0">
                <a:solidFill>
                  <a:srgbClr val="333333"/>
                </a:solidFill>
                <a:latin typeface="Calibri"/>
              </a:rPr>
              <a:t>–   Y responde si el sistema reacciona a tiempo; anticipa el limite del autoescalado de la Clase 13, porque arrancar una instancia toma decenas de segundos y un pico mas rapido golpea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resistencia, o soak, mantiene carga moderada durante horas y responde si hay fugas de memoria o conexiones que no se liberan; con menos de una hora no se detecta nada y de 2 a 4 horas es lo tipico.</a:t>
            </a:r>
          </a:p>
          <a:p>
            <a:pPr>
              <a:spcAft>
                <a:spcPts val="800"/>
              </a:spcAft>
            </a:pPr>
            <a:r>
              <a:rPr sz="2000" b="0" i="0">
                <a:solidFill>
                  <a:srgbClr val="333333"/>
                </a:solidFill>
                <a:latin typeface="Calibri"/>
              </a:rPr>
              <a:t>–   No se necesita ninguna herramienta de pago: en Killercoda se puede lanzar un contenedor con k6, hey o Apache Bench y golpear el stub del servicio, y si el lab no carga, el escenario se documenta en papel con la aritmetica de arriba.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es el ensayo del pitch y tiene su propia teoria.</a:t>
            </a:r>
          </a:p>
          <a:p>
            <a:pPr>
              <a:spcAft>
                <a:spcPts val="800"/>
              </a:spcAft>
            </a:pPr>
            <a:r>
              <a:rPr sz="2000" b="0" i="0">
                <a:solidFill>
                  <a:srgbClr val="333333"/>
                </a:solidFill>
                <a:latin typeface="Calibri"/>
              </a:rPr>
              <a:t>–   Cinco a ocho minutos son entre 700 y 1000 palabras habladas, lo que alcanza para siete u ocho ideas y no mas, asi que el guion se escribe por presupuesto de tiempo: unos 45 segundos para el problema y el usuario</a:t>
            </a:r>
          </a:p>
          <a:p>
            <a:pPr>
              <a:spcAft>
                <a:spcPts val="800"/>
              </a:spcAft>
            </a:pPr>
            <a:r>
              <a:rPr sz="2000" b="0" i="0">
                <a:solidFill>
                  <a:srgbClr val="333333"/>
                </a:solidFill>
                <a:latin typeface="Calibri"/>
              </a:rPr>
              <a:t>–   60 para el diagrama de Contexto, 90 para los Contenedores y las decisiones que los separan, 60 para seguridad y despliegue, 45 para el pipeline y las metricas, 45 para costos y escalabilidad, y 30 de cierre.</a:t>
            </a:r>
          </a:p>
          <a:p>
            <a:pPr>
              <a:spcAft>
                <a:spcPts val="800"/>
              </a:spcAft>
            </a:pPr>
            <a:r>
              <a:rPr sz="2000" b="0" i="0">
                <a:solidFill>
                  <a:srgbClr val="333333"/>
                </a:solidFill>
                <a:latin typeface="Calibri"/>
              </a:rPr>
              <a:t>–   La regla de oro del pitch de arquitectura es que se presentan decisiones con su trade-off, no un recorrido por las cajas del diagrama: "elegimos base de datos gestionada aunque cuesta el doble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podemos garantizar respaldos manuales" es una frase de arquitecto; "aqui tenemos una base de datos" es una leyenda de imagen.</a:t>
            </a:r>
          </a:p>
          <a:p>
            <a:pPr>
              <a:spcAft>
                <a:spcPts val="800"/>
              </a:spcAft>
            </a:pPr>
            <a:r>
              <a:rPr sz="2000" b="0" i="0">
                <a:solidFill>
                  <a:srgbClr val="333333"/>
                </a:solidFill>
                <a:latin typeface="Calibri"/>
              </a:rPr>
              <a:t>–   Se ensaya hoy con cronometro y en voz alta, porque leer mentalmente siempre da la mitad del tiempo real</a:t>
            </a:r>
          </a:p>
          <a:p>
            <a:pPr>
              <a:spcAft>
                <a:spcPts val="800"/>
              </a:spcAft>
            </a:pPr>
            <a:r>
              <a:rPr sz="2000" b="0" i="0">
                <a:solidFill>
                  <a:srgbClr val="333333"/>
                </a:solidFill>
                <a:latin typeface="Calibri"/>
              </a:rPr>
              <a:t>–   Y sin leer las diapositivas, ya que en la Clase 15 el criterio es que quien sustenta pueda explicar cualquier parte del sistema; si el docente autorizo equipos, se ensaya ademas con rotacion de expositor, porque alli el criterio aplica a cualquier integrante.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como se prueba rendimiento sin usuarios reales; la respuesta es que la carga se simula y que lo valioso no es el numero obtenido sino el modelo: si el estudiante puede decir cuantos usuarios, cuantas peticiones por usuario</a:t>
            </a:r>
          </a:p>
          <a:p>
            <a:pPr>
              <a:spcAft>
                <a:spcPts val="800"/>
              </a:spcAft>
            </a:pPr>
            <a:r>
              <a:rPr sz="2000" b="0" i="0">
                <a:solidFill>
                  <a:srgbClr val="333333"/>
                </a:solidFill>
                <a:latin typeface="Calibri"/>
              </a:rPr>
              <a:t>–   Que factor de pico y que componente cree que cede primero, ya esta haciendo ingenieria de rendimiento aunque el sistema sea un stub.</a:t>
            </a:r>
          </a:p>
          <a:p>
            <a:pPr>
              <a:spcAft>
                <a:spcPts val="800"/>
              </a:spcAft>
            </a:pPr>
            <a:r>
              <a:rPr sz="2000" b="0" i="0">
                <a:solidFill>
                  <a:srgbClr val="333333"/>
                </a:solidFill>
                <a:latin typeface="Calibri"/>
              </a:rPr>
              <a:t>–   La segunda es si no basta con decir que se usara cache; la respuesta es que una mitigacion sin medicion es una creencia</a:t>
            </a:r>
          </a:p>
          <a:p>
            <a:pPr>
              <a:spcAft>
                <a:spcPts val="800"/>
              </a:spcAft>
            </a:pPr>
            <a:r>
              <a:rPr sz="2000" b="0" i="0">
                <a:solidFill>
                  <a:srgbClr val="333333"/>
                </a:solidFill>
                <a:latin typeface="Calibri"/>
              </a:rPr>
              <a:t>–   Y que la pregunta correcta es cache de que, con que tiempo de vida, que porcentaje de aciertos se espera y que pasa cuando el dato cambia, porque una cache mal invalidada convierte un problema de lentitud en un problema de datos incorrectos, que es peor.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es cual es un buen p95, y la respuesta debe resistir la tentacion de dar una cifra universal: depende del caso de uso</a:t>
            </a:r>
          </a:p>
          <a:p>
            <a:pPr>
              <a:spcAft>
                <a:spcPts val="800"/>
              </a:spcAft>
            </a:pPr>
            <a:r>
              <a:rPr sz="2000" b="0" i="0">
                <a:solidFill>
                  <a:srgbClr val="333333"/>
                </a:solidFill>
                <a:latin typeface="Calibri"/>
              </a:rPr>
              <a:t>–   Y el criterio es que el numero este justificado y sea alcanzable con la arquitectura dibujada</a:t>
            </a:r>
          </a:p>
          <a:p>
            <a:pPr>
              <a:spcAft>
                <a:spcPts val="800"/>
              </a:spcAft>
            </a:pPr>
            <a:r>
              <a:rPr sz="2000" b="0" i="0">
                <a:solidFill>
                  <a:srgbClr val="333333"/>
                </a:solidFill>
                <a:latin typeface="Calibri"/>
              </a:rPr>
              <a:t>–   Quien promete p95 de 50 milisegundos con una consulta que recorre toda la tabla tiene un objetivo incoherente, y eso es un hallazgo mas grave que tener un objetivo modesto.</a:t>
            </a:r>
          </a:p>
          <a:p>
            <a:pPr>
              <a:spcAft>
                <a:spcPts val="800"/>
              </a:spcAft>
            </a:pPr>
            <a:r>
              <a:rPr sz="2000" b="0" i="0">
                <a:solidFill>
                  <a:srgbClr val="333333"/>
                </a:solidFill>
                <a:latin typeface="Calibri"/>
              </a:rPr>
              <a:t>–   Error tipico del docente que no domina el tema: aceptar "queremos que la app sea rapida" como objetivo de rendimiento.</a:t>
            </a:r>
          </a:p>
          <a:p>
            <a:pPr>
              <a:spcAft>
                <a:spcPts val="800"/>
              </a:spcAft>
            </a:pPr>
            <a:r>
              <a:rPr sz="2000" b="0" i="0">
                <a:solidFill>
                  <a:srgbClr val="333333"/>
                </a:solidFill>
                <a:latin typeface="Calibri"/>
              </a:rPr>
              <a:t>–   Sin metrica en percentil, sin umbral, sin condicion de carga y sin cuello de botella sospechado, la seccion de rendimiento del informe se convierte en adjetivos</a:t>
            </a:r>
          </a:p>
          <a:p>
            <a:pPr>
              <a:spcAft>
                <a:spcPts val="800"/>
              </a:spcAft>
            </a:pPr>
            <a:r>
              <a:rPr sz="2000" b="0" i="0">
                <a:solidFill>
                  <a:srgbClr val="333333"/>
                </a:solidFill>
                <a:latin typeface="Calibri"/>
              </a:rPr>
              <a:t>–   Y la consecuencia es inmediata aguas abajo: en la Clase 13 el estudiante no tiene nada sobre lo que basar el trigger del autoescalado y escribe "cuando la CPU suba"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la sustentacion de la Clase 15 no puede responder por que su diseno soporta la carga que dice soportar.</a:t>
            </a:r>
          </a:p>
          <a:p>
            <a:pPr>
              <a:spcAft>
                <a:spcPts val="800"/>
              </a:spcAft>
            </a:pPr>
            <a:r>
              <a:rPr sz="2000" b="0" i="0">
                <a:solidFill>
                  <a:srgbClr val="333333"/>
                </a:solidFill>
                <a:latin typeface="Calibri"/>
              </a:rPr>
              <a:t>–   El segundo error es dejar que el ensayo del pitch se convierta en un recorrido narrado del diagrama, leido en voz alta y sin una sola justificacion</a:t>
            </a:r>
          </a:p>
          <a:p>
            <a:pPr>
              <a:spcAft>
                <a:spcPts val="800"/>
              </a:spcAft>
            </a:pPr>
            <a:r>
              <a:rPr sz="2000" b="0" i="0">
                <a:solidFill>
                  <a:srgbClr val="333333"/>
                </a:solidFill>
                <a:latin typeface="Calibri"/>
              </a:rPr>
              <a:t>–   Y, en los equipos que el docente haya autorizado, permitir que un solo integrante hable mientras el resto observa.</a:t>
            </a:r>
          </a:p>
          <a:p>
            <a:pPr>
              <a:spcAft>
                <a:spcPts val="800"/>
              </a:spcAft>
            </a:pPr>
            <a:r>
              <a:rPr sz="2000" b="0" i="0">
                <a:solidFill>
                  <a:srgbClr val="333333"/>
                </a:solidFill>
                <a:latin typeface="Calibri"/>
              </a:rPr>
              <a:t>–   Si eso no se corrige hoy, en la Clase 15 la sustentacion llega como un guion memorizado que el Q&amp;A dirigido desarma en dos preguntas, y la nota cae por una razon que era corregible con quince minutos de ensayo bien dirigido.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presupuesto de latencia del camino critico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autonumber</a:t>
            </a:r>
          </a:p>
          <a:p>
            <a:pPr>
              <a:spcAft>
                <a:spcPts val="400"/>
              </a:spcAft>
            </a:pPr>
            <a:r>
              <a:rPr sz="1400" b="0" i="0">
                <a:solidFill>
                  <a:srgbClr val="FFFFFF"/>
                </a:solidFill>
                <a:latin typeface="Calibri"/>
              </a:rPr>
              <a:t>  participant U as Usuario</a:t>
            </a:r>
          </a:p>
          <a:p>
            <a:pPr>
              <a:spcAft>
                <a:spcPts val="400"/>
              </a:spcAft>
            </a:pPr>
            <a:r>
              <a:rPr sz="1400" b="0" i="0">
                <a:solidFill>
                  <a:srgbClr val="FFFFFF"/>
                </a:solidFill>
                <a:latin typeface="Calibri"/>
              </a:rPr>
              <a:t>  participant W as Web SPA</a:t>
            </a:r>
          </a:p>
          <a:p>
            <a:pPr>
              <a:spcAft>
                <a:spcPts val="400"/>
              </a:spcAft>
            </a:pPr>
            <a:r>
              <a:rPr sz="1400" b="0" i="0">
                <a:solidFill>
                  <a:srgbClr val="FFFFFF"/>
                </a:solidFill>
                <a:latin typeface="Calibri"/>
              </a:rPr>
              <a:t>  participant A as API</a:t>
            </a:r>
          </a:p>
          <a:p>
            <a:pPr>
              <a:spcAft>
                <a:spcPts val="400"/>
              </a:spcAft>
            </a:pPr>
            <a:r>
              <a:rPr sz="1400" b="0" i="0">
                <a:solidFill>
                  <a:srgbClr val="FFFFFF"/>
                </a:solidFill>
                <a:latin typeface="Calibri"/>
              </a:rPr>
              <a:t>  participant D as PostgreSQL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U-&gt;&gt;W: accion del pico (&lt;su caso&gt;)</a:t>
            </a:r>
          </a:p>
          <a:p>
            <a:pPr>
              <a:spcAft>
                <a:spcPts val="400"/>
              </a:spcAft>
            </a:pPr>
            <a:r>
              <a:rPr sz="1400" b="0" i="0">
                <a:solidFill>
                  <a:srgbClr val="FFFFFF"/>
                </a:solidFill>
                <a:latin typeface="Calibri"/>
              </a:rPr>
              <a:t>  W-&gt;&gt;A: POST /recurso          %% red: 40 ms</a:t>
            </a:r>
          </a:p>
          <a:p>
            <a:pPr>
              <a:spcAft>
                <a:spcPts val="400"/>
              </a:spcAft>
            </a:pPr>
            <a:r>
              <a:rPr sz="1400" b="0" i="0">
                <a:solidFill>
                  <a:srgbClr val="FFFFFF"/>
                </a:solidFill>
                <a:latin typeface="Calibri"/>
              </a:rPr>
              <a:t>  A-&gt;&gt;A: validar + autorizar    %% 10 ms</a:t>
            </a:r>
          </a:p>
          <a:p>
            <a:pPr>
              <a:spcAft>
                <a:spcPts val="400"/>
              </a:spcAft>
            </a:pPr>
            <a:r>
              <a:rPr sz="1400" b="0" i="0">
                <a:solidFill>
                  <a:srgbClr val="FFFFFF"/>
                </a:solidFill>
                <a:latin typeface="Calibri"/>
              </a:rPr>
              <a:t>  A-&gt;&gt;D: SELECT + INSERT        %% 60 ms</a:t>
            </a:r>
          </a:p>
          <a:p>
            <a:pPr>
              <a:spcAft>
                <a:spcPts val="400"/>
              </a:spcAft>
            </a:pPr>
            <a:r>
              <a:rPr sz="1400" b="0" i="0">
                <a:solidFill>
                  <a:srgbClr val="FFFFFF"/>
                </a:solidFill>
                <a:latin typeface="Calibri"/>
              </a:rPr>
              <a:t>  D--&gt;&gt;A: filas</a:t>
            </a:r>
          </a:p>
          <a:p>
            <a:pPr>
              <a:spcAft>
                <a:spcPts val="400"/>
              </a:spcAft>
            </a:pPr>
            <a:r>
              <a:rPr sz="1400" b="0" i="0">
                <a:solidFill>
                  <a:srgbClr val="FFFFFF"/>
                </a:solidFill>
                <a:latin typeface="Calibri"/>
              </a:rPr>
              <a:t>  A--&gt;&gt;W: 201 Created           %% red: 40 ms</a:t>
            </a:r>
          </a:p>
          <a:p>
            <a:pPr>
              <a:spcAft>
                <a:spcPts val="400"/>
              </a:spcAft>
            </a:pPr>
            <a:r>
              <a:rPr sz="1400" b="0" i="0">
                <a:solidFill>
                  <a:srgbClr val="FFFFFF"/>
                </a:solidFill>
                <a:latin typeface="Calibri"/>
              </a:rPr>
              <a:t>  W--&gt;&gt;U: confirmacion          %% render: 50 ms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Note over U,D: presupuesto total 200 ms · medido p95, no promedio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metricas objetivo, escritas como se verifican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metrica necesita las cuatro columnas, o no es verificable:</a:t>
            </a:r>
          </a:p>
          <a:p>
            <a:pPr>
              <a:spcAft>
                <a:spcPts val="400"/>
              </a:spcAft>
            </a:pPr>
            <a:r>
              <a:rPr sz="1400" b="0" i="0">
                <a:solidFill>
                  <a:srgbClr val="FFFFFF"/>
                </a:solidFill>
                <a:latin typeface="Calibri"/>
              </a:rPr>
              <a:t>#   metrica | objetivo | como se mide | que se hace si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p95 de POST /recurso   | &lt; 200 ms | percentil del log de la API</a:t>
            </a:r>
          </a:p>
          <a:p>
            <a:pPr>
              <a:spcAft>
                <a:spcPts val="400"/>
              </a:spcAft>
            </a:pPr>
            <a:r>
              <a:rPr sz="1400" b="0" i="0">
                <a:solidFill>
                  <a:srgbClr val="FFFFFF"/>
                </a:solidFill>
                <a:latin typeface="Calibri"/>
              </a:rPr>
              <a:t>#                        |          | -&gt; revisar el indice de la consulta</a:t>
            </a:r>
          </a:p>
          <a:p>
            <a:pPr>
              <a:spcAft>
                <a:spcPts val="400"/>
              </a:spcAft>
            </a:pPr>
            <a:r>
              <a:rPr sz="1400" b="0" i="0">
                <a:solidFill>
                  <a:srgbClr val="FFFFFF"/>
                </a:solidFill>
                <a:latin typeface="Calibri"/>
              </a:rPr>
              <a:t># tasa de error 5xx      | &lt; 1%     | conteo por minuto</a:t>
            </a:r>
          </a:p>
          <a:p>
            <a:pPr>
              <a:spcAft>
                <a:spcPts val="400"/>
              </a:spcAft>
            </a:pPr>
            <a:r>
              <a:rPr sz="1400" b="0" i="0">
                <a:solidFill>
                  <a:srgbClr val="FFFFFF"/>
                </a:solidFill>
                <a:latin typeface="Calibri"/>
              </a:rPr>
              <a:t>#                        |          | -&gt; abrir el log del paso que falla</a:t>
            </a:r>
          </a:p>
          <a:p>
            <a:pPr>
              <a:spcAft>
                <a:spcPts val="400"/>
              </a:spcAft>
            </a:pPr>
            <a:r>
              <a:rPr sz="1400" b="0" i="0">
                <a:solidFill>
                  <a:srgbClr val="FFFFFF"/>
                </a:solidFill>
                <a:latin typeface="Calibri"/>
              </a:rPr>
              <a:t># uso de CPU de la API   | &lt; 70%    | metrica del proveedor</a:t>
            </a:r>
          </a:p>
          <a:p>
            <a:pPr>
              <a:spcAft>
                <a:spcPts val="400"/>
              </a:spcAft>
            </a:pPr>
            <a:r>
              <a:rPr sz="1400" b="0" i="0">
                <a:solidFill>
                  <a:srgbClr val="FFFFFF"/>
                </a:solidFill>
                <a:latin typeface="Calibri"/>
              </a:rPr>
              <a:t>#                        |          | -&gt; escalar horizontal (Clase 13)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PROMEDIO no sirve: con 99 respuestas de 10 ms y una de 5 s el promedio</a:t>
            </a:r>
          </a:p>
          <a:p>
            <a:pPr>
              <a:spcAft>
                <a:spcPts val="400"/>
              </a:spcAft>
            </a:pPr>
            <a:r>
              <a:rPr sz="1400" b="0" i="0">
                <a:solidFill>
                  <a:srgbClr val="FFFFFF"/>
                </a:solidFill>
                <a:latin typeface="Calibri"/>
              </a:rPr>
              <a:t># da 60 ms y el usuario que espero 5 s existe. Por eso p95.</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en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Navegador · editores de diagramas y de texto del curso</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