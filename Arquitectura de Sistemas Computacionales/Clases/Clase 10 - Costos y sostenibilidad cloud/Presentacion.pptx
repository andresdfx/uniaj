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10</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Costos y sostenibilidad cloud</a:t>
            </a:r>
          </a:p>
          <a:p>
            <a:pPr algn="ctr">
              <a:spcBef>
                <a:spcPts val="800"/>
              </a:spcBef>
            </a:pPr>
            <a:r>
              <a:rPr sz="1500" b="0" i="0">
                <a:solidFill>
                  <a:srgbClr val="269CCB"/>
                </a:solidFill>
                <a:latin typeface="Calibri"/>
              </a:rPr>
              <a:t>Actividad autónoma · sección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Estimación cualitativa de costos + notas de sostenibilidad</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0–10</a:t>
            </a:r>
            <a:r>
              <a:rPr sz="1600" b="0" i="0">
                <a:solidFill>
                  <a:srgbClr val="333333"/>
                </a:solidFill>
                <a:latin typeface="Calibri"/>
              </a:rPr>
              <a:t> Encuadre: hoy avanzamos el PI en… + entregable concreto.</a:t>
            </a:r>
          </a:p>
          <a:p>
            <a:pPr>
              <a:spcAft>
                <a:spcPts val="800"/>
              </a:spcAft>
            </a:pPr>
            <a:r>
              <a:rPr sz="1600" b="1" i="0">
                <a:solidFill>
                  <a:srgbClr val="333333"/>
                </a:solidFill>
                <a:latin typeface="Calibri"/>
              </a:rPr>
              <a:t>10–40</a:t>
            </a:r>
            <a:r>
              <a:rPr sz="1600" b="0" i="0">
                <a:solidFill>
                  <a:srgbClr val="333333"/>
                </a:solidFill>
                <a:latin typeface="Calibri"/>
              </a:rPr>
              <a:t> Teoría Core breve (solo lo necesario para el taller PI).</a:t>
            </a:r>
          </a:p>
          <a:p>
            <a:pPr>
              <a:spcAft>
                <a:spcPts val="800"/>
              </a:spcAft>
            </a:pPr>
            <a:r>
              <a:rPr sz="1600" b="0" i="0">
                <a:solidFill>
                  <a:srgbClr val="333333"/>
                </a:solidFill>
                <a:latin typeface="Calibri"/>
              </a:rPr>
              <a:t>–   </a:t>
            </a:r>
            <a:r>
              <a:rPr sz="1600" b="1" i="0">
                <a:solidFill>
                  <a:srgbClr val="333333"/>
                </a:solidFill>
                <a:latin typeface="Calibri"/>
              </a:rPr>
              <a:t>40–100</a:t>
            </a:r>
            <a:r>
              <a:rPr sz="1600" b="0" i="0">
                <a:solidFill>
                  <a:srgbClr val="333333"/>
                </a:solidFill>
                <a:latin typeface="Calibri"/>
              </a:rPr>
              <a:t> Taller guiado PI (demo en vivo + trabajo de equipo).</a:t>
            </a:r>
          </a:p>
          <a:p>
            <a:pPr>
              <a:spcAft>
                <a:spcPts val="800"/>
              </a:spcAft>
            </a:pPr>
            <a:r>
              <a:rPr sz="1600" b="1" i="0">
                <a:solidFill>
                  <a:srgbClr val="333333"/>
                </a:solidFill>
                <a:latin typeface="Calibri"/>
              </a:rPr>
              <a:t>100–115</a:t>
            </a:r>
            <a:r>
              <a:rPr sz="1600" b="0" i="0">
                <a:solidFill>
                  <a:srgbClr val="333333"/>
                </a:solidFill>
                <a:latin typeface="Calibri"/>
              </a:rPr>
              <a:t> Revisión de evidencias del PI.</a:t>
            </a:r>
          </a:p>
          <a:p>
            <a:pPr>
              <a:spcAft>
                <a:spcPts val="800"/>
              </a:spcAft>
            </a:pPr>
            <a:r>
              <a:rPr sz="1600" b="1" i="0">
                <a:solidFill>
                  <a:srgbClr val="333333"/>
                </a:solidFill>
                <a:latin typeface="Calibri"/>
              </a:rPr>
              <a:t>115–120</a:t>
            </a:r>
            <a:r>
              <a:rPr sz="1600" b="0" i="0">
                <a:solidFill>
                  <a:srgbClr val="333333"/>
                </a:solidFill>
                <a:latin typeface="Calibri"/>
              </a:rPr>
              <a:t> Cierre: criterio de éxito + plazo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Identificar drivers de costo (cómputo, datos, transferencia, idle).</a:t>
            </a:r>
          </a:p>
          <a:p>
            <a:pPr>
              <a:spcAft>
                <a:spcPts val="800"/>
              </a:spcAft>
            </a:pPr>
            <a:r>
              <a:rPr sz="1600" b="0" i="0">
                <a:solidFill>
                  <a:srgbClr val="333333"/>
                </a:solidFill>
                <a:latin typeface="Calibri"/>
              </a:rPr>
              <a:t>–   Proponer 3 apalancamientos de ahorro sin romper el diseño.</a:t>
            </a:r>
          </a:p>
          <a:p>
            <a:pPr>
              <a:spcAft>
                <a:spcPts val="800"/>
              </a:spcAft>
            </a:pPr>
            <a:r>
              <a:rPr sz="1600" b="0" i="0">
                <a:solidFill>
                  <a:srgbClr val="333333"/>
                </a:solidFill>
                <a:latin typeface="Calibri"/>
              </a:rPr>
              <a:t>–   Redactar sostenibilidad (apagado de labs, imágenes ligeras, sobredimensionamiento).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Sección Costos/Sostenibilidad del informe (bajo/medio + drivers)</a:t>
            </a:r>
          </a:p>
          <a:p>
            <a:pPr>
              <a:spcAft>
                <a:spcPts val="800"/>
              </a:spcAft>
            </a:pPr>
            <a:r>
              <a:rPr sz="1600" b="0" i="0">
                <a:solidFill>
                  <a:srgbClr val="333333"/>
                </a:solidFill>
                <a:latin typeface="Calibri"/>
              </a:rPr>
              <a:t>–   Herramienta: </a:t>
            </a:r>
            <a:r>
              <a:rPr sz="1600" b="1" i="0">
                <a:solidFill>
                  <a:srgbClr val="333333"/>
                </a:solidFill>
                <a:latin typeface="Calibri"/>
              </a:rPr>
              <a:t>Google Docs</a:t>
            </a:r>
          </a:p>
          <a:p>
            <a:pPr>
              <a:spcAft>
                <a:spcPts val="800"/>
              </a:spcAft>
            </a:pPr>
            <a:r>
              <a:rPr sz="1600" b="0" i="0">
                <a:solidFill>
                  <a:srgbClr val="333333"/>
                </a:solidFill>
                <a:latin typeface="Calibri"/>
              </a:rPr>
              <a:t>–   Todo lo que construyan hoy entra al </a:t>
            </a:r>
            <a:r>
              <a:rPr sz="1600" b="1" i="0">
                <a:solidFill>
                  <a:srgbClr val="333333"/>
                </a:solidFill>
                <a:latin typeface="Calibri"/>
              </a:rPr>
              <a:t>informe/repo del PI</a:t>
            </a:r>
            <a:r>
              <a:rPr sz="1600" b="0" i="0">
                <a:solidFill>
                  <a:srgbClr val="333333"/>
                </a:solidFill>
                <a:latin typeface="Calibri"/>
              </a:rPr>
              <a:t> (no es lab suelto).</a:t>
            </a:r>
          </a:p>
          <a:p>
            <a:pPr>
              <a:spcAft>
                <a:spcPts val="800"/>
              </a:spcAft>
            </a:pPr>
            <a:r>
              <a:rPr sz="1600" b="0" i="0">
                <a:solidFill>
                  <a:srgbClr val="333333"/>
                </a:solidFill>
                <a:latin typeface="Calibri"/>
              </a:rPr>
              <a:t>–   Equipos 2–3 · todos deben poder explicar el artefacto.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Costos sin factura real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Escala cualitativa: Bajo / Medio / Alto por componente.</a:t>
            </a:r>
          </a:p>
          <a:p>
            <a:pPr>
              <a:spcAft>
                <a:spcPts val="800"/>
              </a:spcAft>
            </a:pPr>
            <a:r>
              <a:rPr sz="1600" b="0" i="0">
                <a:solidFill>
                  <a:srgbClr val="333333"/>
                </a:solidFill>
                <a:latin typeface="Calibri"/>
              </a:rPr>
              <a:t>–   Drivers: siempre-on, egress, storage caliente, builds CI frecuentes.</a:t>
            </a:r>
          </a:p>
          <a:p>
            <a:pPr>
              <a:spcAft>
                <a:spcPts val="800"/>
              </a:spcAft>
            </a:pPr>
            <a:r>
              <a:rPr sz="1600" b="0" i="0">
                <a:solidFill>
                  <a:srgbClr val="333333"/>
                </a:solidFill>
                <a:latin typeface="Calibri"/>
              </a:rPr>
              <a:t>–   CloudLite: justifiquen por qué su diseño no es «siempre XL».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Sostenibilidad</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Menos capas innecesarias · imágenes slim · apagar labs · right-sizing.</a:t>
            </a:r>
          </a:p>
          <a:p>
            <a:pPr>
              <a:spcAft>
                <a:spcPts val="800"/>
              </a:spcAft>
            </a:pPr>
            <a:r>
              <a:rPr sz="1600" b="0" i="0">
                <a:solidFill>
                  <a:srgbClr val="333333"/>
                </a:solidFill>
                <a:latin typeface="Calibri"/>
              </a:rPr>
              <a:t>–   Relación con escalabilidad: escala cuando hay carga, no por vanidad.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liste los 6 elementos de costo de su diseno tomandolos del C4Deployment de la Clase 7 (edge, API, worker, base de datos, almacen de objetos y minutos de integracion continua), verificando que no aparezca ningun componente que no exista en su diagrama y que ninguno quede sin fila, porque al ser clase autonoma nadie va a completar la tabla por usted.</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complete la tabla de 5 columnas asignando a cada elemento su driver de costo, el nivel bajo, medio o alto, un apalancamiento y el riesgo de aplicarlo, verificando que ningun driver se repita entre filas y que la palabra caro no aparezca sola como explicacion.</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escriba en ExamLab el mindmap Mermaid con las 5 ramas de drivers (computo, datos, transferencia, ocioso e integracion continua) y 2 hojas concretas por rama, verificando al renderizar que las 10 hojas mencionen elementos reales de su despliegue y no categorias abstractas.</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desarrolle 3 apalancamientos de ahorro con su estado antes y despues y 3 acciones de sostenibilidad verificables, verificando que cada accion tenga una evidencia que un tercero pueda revisar (tamano de la imagen en megabytes, hora de apagado del lab, numero de replicas en la noche) y que ninguna rompa un requisito del PI.</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integre la tabla, el mindmap y las acciones en la seccion Costos y sostenibilidad del informe (1 pagina) y suba las 5 preguntas a ExamLab (modulo Talleres) antes del domingo 23:59, verificando que no haya inventado ninguna factura en dolares de un proveedor de pago.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Sección Costos/Sostenibilidad del informe (bajo/medio + drivers)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ExamLab (https://examlab.lovable.app/) domingo 23:59.</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10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Estimación cualitativa de costos + notas de sostenibilidad</a:t>
            </a:r>
          </a:p>
          <a:p>
            <a:pPr algn="ctr">
              <a:spcAft>
                <a:spcPts val="600"/>
              </a:spcAft>
            </a:pPr>
            <a:r>
              <a:rPr sz="1600" b="0" i="0">
                <a:solidFill>
                  <a:srgbClr val="333333"/>
                </a:solidFill>
                <a:latin typeface="Calibri"/>
              </a:rPr>
              <a:t>Evidencia: Sección Costos/Sostenibilidad del informe (bajo/medio + drivers)</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